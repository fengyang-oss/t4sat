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12192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101" d="100"/>
          <a:sy n="101" d="100"/>
        </p:scale>
        <p:origin x="876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AE4D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k object 17"/>
          <p:cNvSpPr/>
          <p:nvPr/>
        </p:nvSpPr>
        <p:spPr>
          <a:xfrm>
            <a:off x="685800" y="685800"/>
            <a:ext cx="10820400" cy="5486400"/>
          </a:xfrm>
          <a:custGeom>
            <a:avLst/>
            <a:gdLst/>
            <a:ahLst/>
            <a:cxnLst/>
            <a:rect l="l" t="t" r="r" b="b"/>
            <a:pathLst>
              <a:path w="10820400" h="5486400">
                <a:moveTo>
                  <a:pt x="0" y="0"/>
                </a:moveTo>
                <a:lnTo>
                  <a:pt x="10820400" y="0"/>
                </a:lnTo>
                <a:lnTo>
                  <a:pt x="10820400" y="5486400"/>
                </a:lnTo>
                <a:lnTo>
                  <a:pt x="0" y="5486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197100" y="1280159"/>
            <a:ext cx="7797800" cy="20726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 Light" panose="020F0302020204030204"/>
                <a:cs typeface="Calibri Light" panose="020F0302020204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 Light" panose="020F0302020204030204"/>
                <a:cs typeface="Calibri Light" panose="020F0302020204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Calibri Light" panose="020F0302020204030204"/>
                <a:cs typeface="Calibri Light" panose="020F0302020204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34694" y="446405"/>
            <a:ext cx="10722610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Calibri Light" panose="020F0302020204030204"/>
                <a:cs typeface="Calibri Light" panose="020F0302020204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72440" y="1735454"/>
            <a:ext cx="11247119" cy="40754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7" Type="http://schemas.openxmlformats.org/officeDocument/2006/relationships/slideLayout" Target="../slideLayouts/slideLayout2.xml"/><Relationship Id="rId36" Type="http://schemas.openxmlformats.org/officeDocument/2006/relationships/hyperlink" Target="https://www.ietf.org/privacy-policy/" TargetMode="External"/><Relationship Id="rId35" Type="http://schemas.openxmlformats.org/officeDocument/2006/relationships/hyperlink" Target="https://www.ietf.org/contact/ombudsteam/" TargetMode="External"/><Relationship Id="rId34" Type="http://schemas.openxmlformats.org/officeDocument/2006/relationships/image" Target="../media/image34.jpeg"/><Relationship Id="rId33" Type="http://schemas.openxmlformats.org/officeDocument/2006/relationships/image" Target="../media/image33.png"/><Relationship Id="rId32" Type="http://schemas.openxmlformats.org/officeDocument/2006/relationships/image" Target="../media/image32.png"/><Relationship Id="rId31" Type="http://schemas.openxmlformats.org/officeDocument/2006/relationships/image" Target="../media/image31.png"/><Relationship Id="rId30" Type="http://schemas.openxmlformats.org/officeDocument/2006/relationships/image" Target="../media/image30.pn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png"/><Relationship Id="rId27" Type="http://schemas.openxmlformats.org/officeDocument/2006/relationships/image" Target="../media/image27.png"/><Relationship Id="rId26" Type="http://schemas.openxmlformats.org/officeDocument/2006/relationships/image" Target="../media/image26.png"/><Relationship Id="rId25" Type="http://schemas.openxmlformats.org/officeDocument/2006/relationships/image" Target="../media/image25.png"/><Relationship Id="rId24" Type="http://schemas.openxmlformats.org/officeDocument/2006/relationships/image" Target="../media/image24.png"/><Relationship Id="rId23" Type="http://schemas.openxmlformats.org/officeDocument/2006/relationships/image" Target="../media/image23.png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311400" y="1280159"/>
            <a:ext cx="7683500" cy="2072639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 marR="5080" algn="ctr">
              <a:lnSpc>
                <a:spcPts val="5180"/>
              </a:lnSpc>
              <a:spcBef>
                <a:spcPts val="755"/>
              </a:spcBef>
              <a:tabLst>
                <a:tab pos="4452620" algn="l"/>
              </a:tabLst>
            </a:pPr>
            <a:r>
              <a:rPr sz="4800" b="0" spc="-5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Transport </a:t>
            </a:r>
            <a:r>
              <a:rPr sz="4800" b="0" spc="-35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Layer </a:t>
            </a:r>
            <a:r>
              <a:rPr sz="4800" b="0" spc="-3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Protocols  </a:t>
            </a:r>
            <a:r>
              <a:rPr sz="4800" b="0" spc="-2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Optimization </a:t>
            </a:r>
            <a:r>
              <a:rPr sz="4800" b="0" spc="-4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for </a:t>
            </a:r>
            <a:r>
              <a:rPr sz="4800" b="0" spc="-2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Satellite  </a:t>
            </a:r>
            <a:r>
              <a:rPr sz="4800" b="0" spc="-4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Networks(T4SAT)	</a:t>
            </a:r>
            <a:r>
              <a:rPr sz="4800" b="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Side</a:t>
            </a:r>
            <a:r>
              <a:rPr sz="4800" b="0" spc="-75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 </a:t>
            </a:r>
            <a:r>
              <a:rPr sz="4800" b="0" spc="-1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Meeting</a:t>
            </a:r>
            <a:endParaRPr sz="4800">
              <a:latin typeface="Calibri Light" panose="020F0302020204030204"/>
              <a:cs typeface="Calibri Light" panose="020F03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803140" y="4603750"/>
            <a:ext cx="3121660" cy="48923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536700" algn="l"/>
              </a:tabLst>
            </a:pPr>
            <a:r>
              <a:rPr sz="3100" b="0" spc="-1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I</a:t>
            </a:r>
            <a:r>
              <a:rPr sz="3100" b="0" spc="-5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ETF</a:t>
            </a:r>
            <a:r>
              <a:rPr sz="3100" b="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 </a:t>
            </a:r>
            <a:r>
              <a:rPr sz="3100" b="0" spc="-5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12</a:t>
            </a:r>
            <a:r>
              <a:rPr lang="en-US" sz="3100" b="0" spc="-5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5</a:t>
            </a:r>
            <a:r>
              <a:rPr sz="3100" b="0" dirty="0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	</a:t>
            </a:r>
            <a:r>
              <a:rPr lang="en-US" sz="3100" b="0" dirty="0" err="1">
                <a:solidFill>
                  <a:srgbClr val="585858"/>
                </a:solidFill>
                <a:latin typeface="Calibri Light" panose="020F0302020204030204"/>
                <a:cs typeface="Calibri Light" panose="020F0302020204030204"/>
              </a:rPr>
              <a:t>ShenZhen</a:t>
            </a:r>
            <a:endParaRPr sz="3100" dirty="0">
              <a:latin typeface="Calibri Light" panose="020F0302020204030204"/>
              <a:cs typeface="Calibri Light" panose="020F03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7456" y="61187"/>
            <a:ext cx="487457" cy="208043"/>
          </a:xfrm>
          <a:prstGeom prst="rect">
            <a:avLst/>
          </a:prstGeom>
          <a:blipFill>
            <a:blip r:embed="rId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/>
          <p:nvPr/>
        </p:nvSpPr>
        <p:spPr>
          <a:xfrm>
            <a:off x="618814" y="61187"/>
            <a:ext cx="1029258" cy="20804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2458" y="261429"/>
            <a:ext cx="529120" cy="24549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597979" y="261429"/>
            <a:ext cx="1066761" cy="24549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62458" y="478916"/>
            <a:ext cx="529120" cy="24549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597979" y="478916"/>
            <a:ext cx="1066761" cy="24549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62458" y="696404"/>
            <a:ext cx="529120" cy="24549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597979" y="696404"/>
            <a:ext cx="1066761" cy="245490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62458" y="910716"/>
            <a:ext cx="529120" cy="245490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597979" y="910716"/>
            <a:ext cx="1066761" cy="245490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62458" y="1128204"/>
            <a:ext cx="529120" cy="245490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597979" y="1128204"/>
            <a:ext cx="1066761" cy="245490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/>
          <p:nvPr/>
        </p:nvSpPr>
        <p:spPr>
          <a:xfrm>
            <a:off x="62458" y="1344104"/>
            <a:ext cx="529120" cy="245490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597979" y="1344104"/>
            <a:ext cx="1066761" cy="245490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62458" y="1561591"/>
            <a:ext cx="529120" cy="245490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597979" y="1561591"/>
            <a:ext cx="1066761" cy="245490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10564921" y="5085022"/>
            <a:ext cx="1285576" cy="208043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/>
          <p:nvPr/>
        </p:nvSpPr>
        <p:spPr>
          <a:xfrm>
            <a:off x="11877700" y="5068379"/>
            <a:ext cx="262420" cy="245490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/>
          <p:nvPr/>
        </p:nvSpPr>
        <p:spPr>
          <a:xfrm>
            <a:off x="10539958" y="5281104"/>
            <a:ext cx="1331341" cy="245490"/>
          </a:xfrm>
          <a:prstGeom prst="rect">
            <a:avLst/>
          </a:prstGeom>
          <a:blipFill>
            <a:blip r:embed="rId1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/>
          <p:nvPr/>
        </p:nvSpPr>
        <p:spPr>
          <a:xfrm>
            <a:off x="11877700" y="5281104"/>
            <a:ext cx="262420" cy="245490"/>
          </a:xfrm>
          <a:prstGeom prst="rect">
            <a:avLst/>
          </a:prstGeom>
          <a:blipFill>
            <a:blip r:embed="rId2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/>
          <p:nvPr/>
        </p:nvSpPr>
        <p:spPr>
          <a:xfrm>
            <a:off x="10539958" y="5498591"/>
            <a:ext cx="1331341" cy="245490"/>
          </a:xfrm>
          <a:prstGeom prst="rect">
            <a:avLst/>
          </a:prstGeom>
          <a:blipFill>
            <a:blip r:embed="rId2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11877700" y="5498591"/>
            <a:ext cx="262420" cy="245490"/>
          </a:xfrm>
          <a:prstGeom prst="rect">
            <a:avLst/>
          </a:prstGeom>
          <a:blipFill>
            <a:blip r:embed="rId2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/>
          <p:nvPr/>
        </p:nvSpPr>
        <p:spPr>
          <a:xfrm>
            <a:off x="10539958" y="5716079"/>
            <a:ext cx="1331341" cy="245490"/>
          </a:xfrm>
          <a:prstGeom prst="rect">
            <a:avLst/>
          </a:prstGeom>
          <a:blipFill>
            <a:blip r:embed="rId2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5" name="object 25"/>
          <p:cNvSpPr/>
          <p:nvPr/>
        </p:nvSpPr>
        <p:spPr>
          <a:xfrm>
            <a:off x="11877700" y="5716079"/>
            <a:ext cx="262420" cy="245490"/>
          </a:xfrm>
          <a:prstGeom prst="rect">
            <a:avLst/>
          </a:prstGeom>
          <a:blipFill>
            <a:blip r:embed="rId2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/>
          <p:nvPr/>
        </p:nvSpPr>
        <p:spPr>
          <a:xfrm>
            <a:off x="10539958" y="5930391"/>
            <a:ext cx="1331341" cy="245490"/>
          </a:xfrm>
          <a:prstGeom prst="rect">
            <a:avLst/>
          </a:prstGeom>
          <a:blipFill>
            <a:blip r:embed="rId25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/>
          <p:nvPr/>
        </p:nvSpPr>
        <p:spPr>
          <a:xfrm>
            <a:off x="11877700" y="5930391"/>
            <a:ext cx="262420" cy="245490"/>
          </a:xfrm>
          <a:prstGeom prst="rect">
            <a:avLst/>
          </a:prstGeom>
          <a:blipFill>
            <a:blip r:embed="rId26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8" name="object 28"/>
          <p:cNvSpPr/>
          <p:nvPr/>
        </p:nvSpPr>
        <p:spPr>
          <a:xfrm>
            <a:off x="10539958" y="6147879"/>
            <a:ext cx="1331341" cy="245490"/>
          </a:xfrm>
          <a:prstGeom prst="rect">
            <a:avLst/>
          </a:prstGeom>
          <a:blipFill>
            <a:blip r:embed="rId27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29" name="object 29"/>
          <p:cNvSpPr/>
          <p:nvPr/>
        </p:nvSpPr>
        <p:spPr>
          <a:xfrm>
            <a:off x="11877700" y="6147879"/>
            <a:ext cx="262420" cy="245490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0" name="object 30"/>
          <p:cNvSpPr/>
          <p:nvPr/>
        </p:nvSpPr>
        <p:spPr>
          <a:xfrm>
            <a:off x="10539958" y="6363779"/>
            <a:ext cx="1331341" cy="245490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1" name="object 31"/>
          <p:cNvSpPr/>
          <p:nvPr/>
        </p:nvSpPr>
        <p:spPr>
          <a:xfrm>
            <a:off x="11877700" y="6363779"/>
            <a:ext cx="262420" cy="245490"/>
          </a:xfrm>
          <a:prstGeom prst="rect">
            <a:avLst/>
          </a:prstGeom>
          <a:blipFill>
            <a:blip r:embed="rId30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2" name="object 32"/>
          <p:cNvSpPr/>
          <p:nvPr/>
        </p:nvSpPr>
        <p:spPr>
          <a:xfrm>
            <a:off x="10539958" y="6581267"/>
            <a:ext cx="1331341" cy="245490"/>
          </a:xfrm>
          <a:prstGeom prst="rect">
            <a:avLst/>
          </a:prstGeom>
          <a:blipFill>
            <a:blip r:embed="rId31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3" name="object 33"/>
          <p:cNvSpPr/>
          <p:nvPr/>
        </p:nvSpPr>
        <p:spPr>
          <a:xfrm>
            <a:off x="11877700" y="6581267"/>
            <a:ext cx="262420" cy="245490"/>
          </a:xfrm>
          <a:prstGeom prst="rect">
            <a:avLst/>
          </a:prstGeom>
          <a:blipFill>
            <a:blip r:embed="rId32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4" name="object 34"/>
          <p:cNvSpPr/>
          <p:nvPr/>
        </p:nvSpPr>
        <p:spPr>
          <a:xfrm>
            <a:off x="593750" y="458279"/>
            <a:ext cx="11106111" cy="6043041"/>
          </a:xfrm>
          <a:prstGeom prst="rect">
            <a:avLst/>
          </a:prstGeom>
          <a:blipFill>
            <a:blip r:embed="rId33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5" name="object 35"/>
          <p:cNvSpPr/>
          <p:nvPr/>
        </p:nvSpPr>
        <p:spPr>
          <a:xfrm>
            <a:off x="829055" y="5661659"/>
            <a:ext cx="1304544" cy="586740"/>
          </a:xfrm>
          <a:prstGeom prst="rect">
            <a:avLst/>
          </a:prstGeom>
          <a:blipFill>
            <a:blip r:embed="rId34" cstate="print"/>
            <a:stretch>
              <a:fillRect/>
            </a:stretch>
          </a:blipFill>
        </p:spPr>
        <p:txBody>
          <a:bodyPr wrap="square" lIns="0" tIns="0" rIns="0" bIns="0" rtlCol="0"/>
          <a:lstStyle/>
          <a:p/>
        </p:txBody>
      </p: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5177790" y="612775"/>
            <a:ext cx="1823085" cy="5321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300" b="1" spc="10" dirty="0">
                <a:latin typeface="Times New Roman" panose="02020603050405020304"/>
                <a:cs typeface="Times New Roman" panose="02020603050405020304"/>
              </a:rPr>
              <a:t>Note</a:t>
            </a:r>
            <a:r>
              <a:rPr sz="3300" b="1" spc="-6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3300" b="1" spc="10" dirty="0">
                <a:latin typeface="Times New Roman" panose="02020603050405020304"/>
                <a:cs typeface="Times New Roman" panose="02020603050405020304"/>
              </a:rPr>
              <a:t>Well</a:t>
            </a:r>
            <a:endParaRPr sz="33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981824" y="1252219"/>
            <a:ext cx="10335895" cy="506158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12700" marR="5080">
              <a:lnSpc>
                <a:spcPts val="1510"/>
              </a:lnSpc>
              <a:spcBef>
                <a:spcPts val="295"/>
              </a:spcBef>
            </a:pPr>
            <a:r>
              <a:rPr sz="1400" spc="-5" dirty="0">
                <a:latin typeface="Arial" panose="020B0604020202020204"/>
                <a:cs typeface="Arial" panose="020B0604020202020204"/>
              </a:rPr>
              <a:t>This is </a:t>
            </a:r>
            <a:r>
              <a:rPr sz="1400" dirty="0">
                <a:latin typeface="Arial" panose="020B0604020202020204"/>
                <a:cs typeface="Arial" panose="020B0604020202020204"/>
              </a:rPr>
              <a:t>a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reminder of IETF policies in effect </a:t>
            </a:r>
            <a:r>
              <a:rPr sz="1400" dirty="0">
                <a:latin typeface="Arial" panose="020B0604020202020204"/>
                <a:cs typeface="Arial" panose="020B0604020202020204"/>
              </a:rPr>
              <a:t>on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various topics such </a:t>
            </a:r>
            <a:r>
              <a:rPr sz="1400" dirty="0">
                <a:latin typeface="Arial" panose="020B0604020202020204"/>
                <a:cs typeface="Arial" panose="020B0604020202020204"/>
              </a:rPr>
              <a:t>as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patents or code of conduct. It is only meant to point you in the  right direction. Exceptions may apply. The IETF's patent policy and the definition of </a:t>
            </a:r>
            <a:r>
              <a:rPr sz="1400" dirty="0">
                <a:latin typeface="Arial" panose="020B0604020202020204"/>
                <a:cs typeface="Arial" panose="020B0604020202020204"/>
              </a:rPr>
              <a:t>an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IETF "contribution" and "participation" are  set forth in </a:t>
            </a:r>
            <a:r>
              <a:rPr sz="1400" dirty="0">
                <a:latin typeface="Arial" panose="020B0604020202020204"/>
                <a:cs typeface="Arial" panose="020B0604020202020204"/>
              </a:rPr>
              <a:t>BCP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79; please read it</a:t>
            </a:r>
            <a:r>
              <a:rPr sz="1400" spc="5" dirty="0">
                <a:latin typeface="Arial" panose="020B0604020202020204"/>
                <a:cs typeface="Arial" panose="020B0604020202020204"/>
              </a:rPr>
              <a:t>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carefully.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2000">
              <a:latin typeface="Times New Roman" panose="02020603050405020304"/>
              <a:cs typeface="Times New Roman" panose="02020603050405020304"/>
            </a:endParaRPr>
          </a:p>
          <a:p>
            <a:pPr marL="12700">
              <a:lnSpc>
                <a:spcPct val="100000"/>
              </a:lnSpc>
            </a:pPr>
            <a:r>
              <a:rPr sz="1400" dirty="0">
                <a:latin typeface="Arial" panose="020B0604020202020204"/>
                <a:cs typeface="Arial" panose="020B0604020202020204"/>
              </a:rPr>
              <a:t>As a</a:t>
            </a:r>
            <a:r>
              <a:rPr sz="1400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reminder: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000">
              <a:latin typeface="Times New Roman" panose="02020603050405020304"/>
              <a:cs typeface="Times New Roman" panose="02020603050405020304"/>
            </a:endParaRPr>
          </a:p>
          <a:p>
            <a:pPr marL="12700">
              <a:lnSpc>
                <a:spcPct val="100000"/>
              </a:lnSpc>
              <a:buSzPct val="93000"/>
              <a:buChar char="•"/>
              <a:tabLst>
                <a:tab pos="76200" algn="l"/>
              </a:tabLst>
            </a:pPr>
            <a:r>
              <a:rPr sz="1400" dirty="0">
                <a:latin typeface="Arial" panose="020B0604020202020204"/>
                <a:cs typeface="Arial" panose="020B0604020202020204"/>
              </a:rPr>
              <a:t>By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participating in the IETF, you agree to follow IETF processes and</a:t>
            </a:r>
            <a:r>
              <a:rPr sz="1400" spc="5" dirty="0">
                <a:latin typeface="Arial" panose="020B0604020202020204"/>
                <a:cs typeface="Arial" panose="020B0604020202020204"/>
              </a:rPr>
              <a:t>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policies.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376555">
              <a:lnSpc>
                <a:spcPts val="1510"/>
              </a:lnSpc>
              <a:spcBef>
                <a:spcPts val="520"/>
              </a:spcBef>
              <a:buSzPct val="93000"/>
              <a:buChar char="•"/>
              <a:tabLst>
                <a:tab pos="76200" algn="l"/>
              </a:tabLst>
            </a:pPr>
            <a:r>
              <a:rPr sz="1400" spc="-5" dirty="0">
                <a:latin typeface="Arial" panose="020B0604020202020204"/>
                <a:cs typeface="Arial" panose="020B0604020202020204"/>
              </a:rPr>
              <a:t>If you are aware that any IETF contribution is covered </a:t>
            </a:r>
            <a:r>
              <a:rPr sz="1400" dirty="0">
                <a:latin typeface="Arial" panose="020B0604020202020204"/>
                <a:cs typeface="Arial" panose="020B0604020202020204"/>
              </a:rPr>
              <a:t>by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patents or patent applications that are owned or controlled </a:t>
            </a:r>
            <a:r>
              <a:rPr sz="1400" dirty="0">
                <a:latin typeface="Arial" panose="020B0604020202020204"/>
                <a:cs typeface="Arial" panose="020B0604020202020204"/>
              </a:rPr>
              <a:t>by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you or  your sponsor, you must disclose that fact, or not participate in the</a:t>
            </a:r>
            <a:r>
              <a:rPr sz="1400" spc="30" dirty="0">
                <a:latin typeface="Arial" panose="020B0604020202020204"/>
                <a:cs typeface="Arial" panose="020B0604020202020204"/>
              </a:rPr>
              <a:t>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discussion.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604520">
              <a:lnSpc>
                <a:spcPts val="1510"/>
              </a:lnSpc>
              <a:spcBef>
                <a:spcPts val="500"/>
              </a:spcBef>
              <a:buSzPct val="93000"/>
              <a:buChar char="•"/>
              <a:tabLst>
                <a:tab pos="76200" algn="l"/>
              </a:tabLst>
            </a:pPr>
            <a:r>
              <a:rPr sz="1400" dirty="0">
                <a:latin typeface="Arial" panose="020B0604020202020204"/>
                <a:cs typeface="Arial" panose="020B0604020202020204"/>
              </a:rPr>
              <a:t>As a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participant in or attendee to any IETF activity you acknowledge that written, audio, video, and photographic records of  meetings may </a:t>
            </a:r>
            <a:r>
              <a:rPr sz="1400" dirty="0">
                <a:latin typeface="Arial" panose="020B0604020202020204"/>
                <a:cs typeface="Arial" panose="020B0604020202020204"/>
              </a:rPr>
              <a:t>be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made</a:t>
            </a:r>
            <a:r>
              <a:rPr sz="1400" spc="-15" dirty="0">
                <a:latin typeface="Arial" panose="020B0604020202020204"/>
                <a:cs typeface="Arial" panose="020B0604020202020204"/>
              </a:rPr>
              <a:t>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public.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75565" indent="-62865">
              <a:lnSpc>
                <a:spcPct val="100000"/>
              </a:lnSpc>
              <a:spcBef>
                <a:spcPts val="310"/>
              </a:spcBef>
              <a:buSzPct val="93000"/>
              <a:buChar char="•"/>
              <a:tabLst>
                <a:tab pos="76200" algn="l"/>
              </a:tabLst>
            </a:pPr>
            <a:r>
              <a:rPr sz="1400" spc="-5" dirty="0">
                <a:latin typeface="Arial" panose="020B0604020202020204"/>
                <a:cs typeface="Arial" panose="020B0604020202020204"/>
              </a:rPr>
              <a:t>Personal information that you provide to IETF will </a:t>
            </a:r>
            <a:r>
              <a:rPr sz="1400" dirty="0">
                <a:latin typeface="Arial" panose="020B0604020202020204"/>
                <a:cs typeface="Arial" panose="020B0604020202020204"/>
              </a:rPr>
              <a:t>be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handled in accordance with the IETF Privacy</a:t>
            </a:r>
            <a:r>
              <a:rPr sz="1400" spc="50" dirty="0">
                <a:latin typeface="Arial" panose="020B0604020202020204"/>
                <a:cs typeface="Arial" panose="020B0604020202020204"/>
              </a:rPr>
              <a:t>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Statement.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 marL="12700" marR="1208405">
              <a:lnSpc>
                <a:spcPts val="1510"/>
              </a:lnSpc>
              <a:spcBef>
                <a:spcPts val="520"/>
              </a:spcBef>
              <a:buSzPct val="93000"/>
              <a:buChar char="•"/>
              <a:tabLst>
                <a:tab pos="76200" algn="l"/>
              </a:tabLst>
            </a:pPr>
            <a:r>
              <a:rPr sz="1400" dirty="0">
                <a:latin typeface="Arial" panose="020B0604020202020204"/>
                <a:cs typeface="Arial" panose="020B0604020202020204"/>
              </a:rPr>
              <a:t>As a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participant or attendee, you agree to work respectfully with other participants; please contact the ombudsteam  (</a:t>
            </a:r>
            <a:r>
              <a:rPr sz="1400" u="sng" spc="-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  <a:hlinkClick r:id="rId35"/>
              </a:rPr>
              <a:t>https://www.ietf.org/contact/ombudsteam/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) if you have questions or concerns about</a:t>
            </a:r>
            <a:r>
              <a:rPr sz="1400" spc="20" dirty="0">
                <a:latin typeface="Arial" panose="020B0604020202020204"/>
                <a:cs typeface="Arial" panose="020B0604020202020204"/>
              </a:rPr>
              <a:t>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this.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Arial" panose="020B0604020202020204"/>
              <a:buChar char="•"/>
            </a:pPr>
            <a:endParaRPr sz="2000">
              <a:latin typeface="Times New Roman" panose="02020603050405020304"/>
              <a:cs typeface="Times New Roman" panose="02020603050405020304"/>
            </a:endParaRPr>
          </a:p>
          <a:p>
            <a:pPr marL="12700">
              <a:lnSpc>
                <a:spcPct val="100000"/>
              </a:lnSpc>
            </a:pPr>
            <a:r>
              <a:rPr sz="1400" spc="-5" dirty="0">
                <a:latin typeface="Arial" panose="020B0604020202020204"/>
                <a:cs typeface="Arial" panose="020B0604020202020204"/>
              </a:rPr>
              <a:t>Definitive information is in the documents listed below and other IETF BCPs. For advice, please talk to WG chairs or</a:t>
            </a:r>
            <a:r>
              <a:rPr sz="1400" spc="130" dirty="0">
                <a:latin typeface="Arial" panose="020B0604020202020204"/>
                <a:cs typeface="Arial" panose="020B0604020202020204"/>
              </a:rPr>
              <a:t> </a:t>
            </a:r>
            <a:r>
              <a:rPr sz="1400" spc="-5" dirty="0">
                <a:latin typeface="Arial" panose="020B0604020202020204"/>
                <a:cs typeface="Arial" panose="020B0604020202020204"/>
              </a:rPr>
              <a:t>ADs:</a:t>
            </a:r>
            <a:endParaRPr sz="1400">
              <a:latin typeface="Arial" panose="020B0604020202020204"/>
              <a:cs typeface="Arial" panose="020B0604020202020204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600">
              <a:latin typeface="Times New Roman" panose="02020603050405020304"/>
              <a:cs typeface="Times New Roman" panose="02020603050405020304"/>
            </a:endParaRPr>
          </a:p>
          <a:p>
            <a:pPr marL="4084955" lvl="1" indent="-49530">
              <a:lnSpc>
                <a:spcPts val="1250"/>
              </a:lnSpc>
              <a:buSzPct val="91000"/>
              <a:buChar char="•"/>
              <a:tabLst>
                <a:tab pos="4085590" algn="l"/>
              </a:tabLst>
            </a:pPr>
            <a:r>
              <a:rPr sz="1100" dirty="0">
                <a:latin typeface="Arial" panose="020B0604020202020204"/>
                <a:cs typeface="Arial" panose="020B0604020202020204"/>
              </a:rPr>
              <a:t>BCP 9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(Internet Standards</a:t>
            </a:r>
            <a:r>
              <a:rPr sz="1100" spc="-25" dirty="0">
                <a:latin typeface="Arial" panose="020B0604020202020204"/>
                <a:cs typeface="Arial" panose="020B0604020202020204"/>
              </a:rPr>
              <a:t>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Process)</a:t>
            </a:r>
            <a:endParaRPr sz="1100">
              <a:latin typeface="Arial" panose="020B0604020202020204"/>
              <a:cs typeface="Arial" panose="020B0604020202020204"/>
            </a:endParaRPr>
          </a:p>
          <a:p>
            <a:pPr marL="4084955" lvl="1" indent="-49530">
              <a:lnSpc>
                <a:spcPts val="1185"/>
              </a:lnSpc>
              <a:buSzPct val="91000"/>
              <a:buChar char="•"/>
              <a:tabLst>
                <a:tab pos="4085590" algn="l"/>
              </a:tabLst>
            </a:pPr>
            <a:r>
              <a:rPr sz="1100" dirty="0">
                <a:latin typeface="Arial" panose="020B0604020202020204"/>
                <a:cs typeface="Arial" panose="020B0604020202020204"/>
              </a:rPr>
              <a:t>BCP 25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(Working Group</a:t>
            </a:r>
            <a:r>
              <a:rPr sz="11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processes)</a:t>
            </a:r>
            <a:endParaRPr sz="1100">
              <a:latin typeface="Arial" panose="020B0604020202020204"/>
              <a:cs typeface="Arial" panose="020B0604020202020204"/>
            </a:endParaRPr>
          </a:p>
          <a:p>
            <a:pPr marL="3996055" indent="-49530">
              <a:lnSpc>
                <a:spcPts val="1185"/>
              </a:lnSpc>
              <a:buSzPct val="91000"/>
              <a:buChar char="•"/>
              <a:tabLst>
                <a:tab pos="3996690" algn="l"/>
              </a:tabLst>
            </a:pPr>
            <a:r>
              <a:rPr sz="1100" dirty="0">
                <a:latin typeface="Arial" panose="020B0604020202020204"/>
                <a:cs typeface="Arial" panose="020B0604020202020204"/>
              </a:rPr>
              <a:t>BCP 25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(Anti-Harassment</a:t>
            </a:r>
            <a:r>
              <a:rPr sz="1100" spc="-50" dirty="0">
                <a:latin typeface="Arial" panose="020B0604020202020204"/>
                <a:cs typeface="Arial" panose="020B0604020202020204"/>
              </a:rPr>
              <a:t>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Procedures)</a:t>
            </a:r>
            <a:endParaRPr sz="1100">
              <a:latin typeface="Arial" panose="020B0604020202020204"/>
              <a:cs typeface="Arial" panose="020B0604020202020204"/>
            </a:endParaRPr>
          </a:p>
          <a:p>
            <a:pPr marL="4368165" lvl="1" indent="-49530">
              <a:lnSpc>
                <a:spcPts val="1185"/>
              </a:lnSpc>
              <a:buSzPct val="91000"/>
              <a:buChar char="•"/>
              <a:tabLst>
                <a:tab pos="4368800" algn="l"/>
              </a:tabLst>
            </a:pPr>
            <a:r>
              <a:rPr sz="1100" dirty="0">
                <a:latin typeface="Arial" panose="020B0604020202020204"/>
                <a:cs typeface="Arial" panose="020B0604020202020204"/>
              </a:rPr>
              <a:t>BCP 54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(Code of</a:t>
            </a:r>
            <a:r>
              <a:rPr sz="1100" spc="-30" dirty="0">
                <a:latin typeface="Arial" panose="020B0604020202020204"/>
                <a:cs typeface="Arial" panose="020B0604020202020204"/>
              </a:rPr>
              <a:t>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Conduct)</a:t>
            </a:r>
            <a:endParaRPr sz="1100">
              <a:latin typeface="Arial" panose="020B0604020202020204"/>
              <a:cs typeface="Arial" panose="020B0604020202020204"/>
            </a:endParaRPr>
          </a:p>
          <a:p>
            <a:pPr marL="4592955" lvl="2" indent="-49530">
              <a:lnSpc>
                <a:spcPts val="1185"/>
              </a:lnSpc>
              <a:buSzPct val="91000"/>
              <a:buChar char="•"/>
              <a:tabLst>
                <a:tab pos="4593590" algn="l"/>
              </a:tabLst>
            </a:pPr>
            <a:r>
              <a:rPr sz="1100" dirty="0">
                <a:latin typeface="Arial" panose="020B0604020202020204"/>
                <a:cs typeface="Arial" panose="020B0604020202020204"/>
              </a:rPr>
              <a:t>BCP 78</a:t>
            </a:r>
            <a:r>
              <a:rPr sz="1100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(Copyright)</a:t>
            </a:r>
            <a:endParaRPr sz="1100">
              <a:latin typeface="Arial" panose="020B0604020202020204"/>
              <a:cs typeface="Arial" panose="020B0604020202020204"/>
            </a:endParaRPr>
          </a:p>
          <a:p>
            <a:pPr marL="4232275" indent="-49530">
              <a:lnSpc>
                <a:spcPts val="1185"/>
              </a:lnSpc>
              <a:buSzPct val="91000"/>
              <a:buChar char="•"/>
              <a:tabLst>
                <a:tab pos="4232910" algn="l"/>
              </a:tabLst>
            </a:pPr>
            <a:r>
              <a:rPr sz="1100" dirty="0">
                <a:latin typeface="Arial" panose="020B0604020202020204"/>
                <a:cs typeface="Arial" panose="020B0604020202020204"/>
              </a:rPr>
              <a:t>BCP 79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(Patents,</a:t>
            </a:r>
            <a:r>
              <a:rPr sz="1100" spc="-25" dirty="0">
                <a:latin typeface="Arial" panose="020B0604020202020204"/>
                <a:cs typeface="Arial" panose="020B0604020202020204"/>
              </a:rPr>
              <a:t>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Participation)</a:t>
            </a:r>
            <a:endParaRPr sz="1100">
              <a:latin typeface="Arial" panose="020B0604020202020204"/>
              <a:cs typeface="Arial" panose="020B0604020202020204"/>
            </a:endParaRPr>
          </a:p>
          <a:p>
            <a:pPr marL="3642995" indent="-49530">
              <a:lnSpc>
                <a:spcPts val="1255"/>
              </a:lnSpc>
              <a:buSzPct val="91000"/>
              <a:buChar char="•"/>
              <a:tabLst>
                <a:tab pos="3642995" algn="l"/>
              </a:tabLst>
            </a:pPr>
            <a:r>
              <a:rPr sz="1100" u="sng" spc="-5" dirty="0">
                <a:uFill>
                  <a:solidFill>
                    <a:srgbClr val="000000"/>
                  </a:solidFill>
                </a:uFill>
                <a:latin typeface="Arial" panose="020B0604020202020204"/>
                <a:cs typeface="Arial" panose="020B0604020202020204"/>
                <a:hlinkClick r:id="rId36"/>
              </a:rPr>
              <a:t>https://www.ietf.org/privacy-policy/</a:t>
            </a:r>
            <a:r>
              <a:rPr sz="1100" spc="-5" dirty="0">
                <a:latin typeface="Arial" panose="020B0604020202020204"/>
                <a:cs typeface="Arial" panose="020B0604020202020204"/>
                <a:hlinkClick r:id="rId36"/>
              </a:rPr>
              <a:t> </a:t>
            </a:r>
            <a:r>
              <a:rPr sz="1100" spc="-5" dirty="0">
                <a:latin typeface="Arial" panose="020B0604020202020204"/>
                <a:cs typeface="Arial" panose="020B0604020202020204"/>
              </a:rPr>
              <a:t>(Privacy Policy)</a:t>
            </a:r>
            <a:endParaRPr sz="110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39" y="594360"/>
            <a:ext cx="247904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10" dirty="0"/>
              <a:t>M</a:t>
            </a:r>
            <a:r>
              <a:rPr spc="-5" dirty="0"/>
              <a:t>oti</a:t>
            </a:r>
            <a:r>
              <a:rPr spc="-70" dirty="0"/>
              <a:t>v</a:t>
            </a:r>
            <a:r>
              <a:rPr spc="-50" dirty="0"/>
              <a:t>a</a:t>
            </a:r>
            <a:r>
              <a:rPr spc="-5" dirty="0"/>
              <a:t>tio</a:t>
            </a:r>
            <a:r>
              <a:rPr dirty="0"/>
              <a:t>n</a:t>
            </a:r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798410" y="1805939"/>
            <a:ext cx="10772775" cy="4264025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241300" marR="343535" indent="-228600">
              <a:lnSpc>
                <a:spcPts val="2800"/>
              </a:lnSpc>
              <a:spcBef>
                <a:spcPts val="465"/>
              </a:spcBef>
              <a:buFont typeface="Arial" panose="020B0604020202020204"/>
              <a:buChar char="•"/>
              <a:tabLst>
                <a:tab pos="241300" algn="l"/>
              </a:tabLst>
            </a:pPr>
            <a:r>
              <a:rPr sz="2600" spc="-15" dirty="0">
                <a:latin typeface="Calibri" panose="020F0502020204030204"/>
                <a:cs typeface="Calibri" panose="020F0502020204030204"/>
              </a:rPr>
              <a:t>LEO/MEO networks </a:t>
            </a:r>
            <a:r>
              <a:rPr sz="2600" dirty="0">
                <a:latin typeface="Calibri" panose="020F0502020204030204"/>
                <a:cs typeface="Calibri" panose="020F0502020204030204"/>
              </a:rPr>
              <a:t>(e.g.,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Starlink,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OneWeb)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are rapidly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developing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in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recent 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years,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providing new </a:t>
            </a:r>
            <a:r>
              <a:rPr sz="2600" spc="-30" dirty="0">
                <a:latin typeface="Calibri" panose="020F0502020204030204"/>
                <a:cs typeface="Calibri" panose="020F0502020204030204"/>
              </a:rPr>
              <a:t>ways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for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Internet</a:t>
            </a:r>
            <a:r>
              <a:rPr sz="2600" spc="75" dirty="0">
                <a:latin typeface="Calibri" panose="020F0502020204030204"/>
                <a:cs typeface="Calibri" panose="020F0502020204030204"/>
              </a:rPr>
              <a:t>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accessing.</a:t>
            </a:r>
            <a:endParaRPr sz="2600" dirty="0">
              <a:latin typeface="Calibri" panose="020F0502020204030204"/>
              <a:cs typeface="Calibri" panose="020F0502020204030204"/>
            </a:endParaRPr>
          </a:p>
          <a:p>
            <a:pPr marL="241300" marR="806450" indent="-228600">
              <a:lnSpc>
                <a:spcPts val="2800"/>
              </a:lnSpc>
              <a:spcBef>
                <a:spcPts val="1010"/>
              </a:spcBef>
              <a:buFont typeface="Arial" panose="020B0604020202020204"/>
              <a:buChar char="•"/>
              <a:tabLst>
                <a:tab pos="241300" algn="l"/>
              </a:tabLst>
            </a:pPr>
            <a:r>
              <a:rPr sz="2600" spc="-15" dirty="0">
                <a:latin typeface="Calibri" panose="020F0502020204030204"/>
                <a:cs typeface="Calibri" panose="020F0502020204030204"/>
              </a:rPr>
              <a:t>LEO/MEO networks </a:t>
            </a:r>
            <a:r>
              <a:rPr sz="2600" spc="-25" dirty="0">
                <a:latin typeface="Calibri" panose="020F0502020204030204"/>
                <a:cs typeface="Calibri" panose="020F0502020204030204"/>
              </a:rPr>
              <a:t>have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the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characteristic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of high dynamic, which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cause 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packet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disorder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or loss,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unlike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terrestrial</a:t>
            </a:r>
            <a:r>
              <a:rPr sz="2600" spc="40" dirty="0">
                <a:latin typeface="Calibri" panose="020F0502020204030204"/>
                <a:cs typeface="Calibri" panose="020F0502020204030204"/>
              </a:rPr>
              <a:t>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networks.</a:t>
            </a:r>
            <a:endParaRPr sz="2600" dirty="0">
              <a:latin typeface="Calibri" panose="020F0502020204030204"/>
              <a:cs typeface="Calibri" panose="020F0502020204030204"/>
            </a:endParaRPr>
          </a:p>
          <a:p>
            <a:pPr marL="241300" indent="-228600">
              <a:lnSpc>
                <a:spcPct val="100000"/>
              </a:lnSpc>
              <a:spcBef>
                <a:spcPts val="650"/>
              </a:spcBef>
              <a:buFont typeface="Arial" panose="020B0604020202020204"/>
              <a:buChar char="•"/>
              <a:tabLst>
                <a:tab pos="241300" algn="l"/>
              </a:tabLst>
            </a:pPr>
            <a:r>
              <a:rPr sz="2600" spc="-5" dirty="0">
                <a:latin typeface="Calibri" panose="020F0502020204030204"/>
                <a:cs typeface="Calibri" panose="020F0502020204030204"/>
              </a:rPr>
              <a:t>This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directly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impacts user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experience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if the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transport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layer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don’t handle it</a:t>
            </a:r>
            <a:r>
              <a:rPr sz="2600" spc="145" dirty="0">
                <a:latin typeface="Calibri" panose="020F0502020204030204"/>
                <a:cs typeface="Calibri" panose="020F0502020204030204"/>
              </a:rPr>
              <a:t>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well.</a:t>
            </a:r>
            <a:endParaRPr sz="2600" dirty="0">
              <a:latin typeface="Calibri" panose="020F0502020204030204"/>
              <a:cs typeface="Calibri" panose="020F0502020204030204"/>
            </a:endParaRPr>
          </a:p>
          <a:p>
            <a:pPr marL="241300" indent="-228600">
              <a:lnSpc>
                <a:spcPct val="100000"/>
              </a:lnSpc>
              <a:spcBef>
                <a:spcPts val="685"/>
              </a:spcBef>
              <a:buFont typeface="Arial" panose="020B0604020202020204"/>
              <a:buChar char="•"/>
              <a:tabLst>
                <a:tab pos="241300" algn="l"/>
              </a:tabLst>
            </a:pPr>
            <a:r>
              <a:rPr sz="2600" spc="-5" dirty="0">
                <a:latin typeface="Calibri" panose="020F0502020204030204"/>
                <a:cs typeface="Calibri" panose="020F0502020204030204"/>
              </a:rPr>
              <a:t>IETF has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related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work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to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satellite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network,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TVR,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DTN,</a:t>
            </a:r>
            <a:r>
              <a:rPr sz="2600" spc="80" dirty="0">
                <a:latin typeface="Calibri" panose="020F0502020204030204"/>
                <a:cs typeface="Calibri" panose="020F0502020204030204"/>
              </a:rPr>
              <a:t>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TIPTOP.</a:t>
            </a:r>
            <a:endParaRPr sz="2600" dirty="0">
              <a:latin typeface="Calibri" panose="020F0502020204030204"/>
              <a:cs typeface="Calibri" panose="020F0502020204030204"/>
            </a:endParaRPr>
          </a:p>
          <a:p>
            <a:pPr marL="241300" marR="1134745" indent="-228600">
              <a:lnSpc>
                <a:spcPts val="2810"/>
              </a:lnSpc>
              <a:spcBef>
                <a:spcPts val="1035"/>
              </a:spcBef>
              <a:buFont typeface="Arial" panose="020B0604020202020204"/>
              <a:buChar char="•"/>
              <a:tabLst>
                <a:tab pos="241300" algn="l"/>
              </a:tabLst>
            </a:pPr>
            <a:r>
              <a:rPr sz="2600" spc="-45" dirty="0">
                <a:latin typeface="Calibri" panose="020F0502020204030204"/>
                <a:cs typeface="Calibri" panose="020F0502020204030204"/>
              </a:rPr>
              <a:t>However,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systematic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optimization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of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core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transport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layer for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LEO/MEO 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specifics is not deeply discussed or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explored.</a:t>
            </a:r>
            <a:endParaRPr sz="2600" dirty="0">
              <a:latin typeface="Calibri" panose="020F0502020204030204"/>
              <a:cs typeface="Calibri" panose="020F0502020204030204"/>
            </a:endParaRPr>
          </a:p>
          <a:p>
            <a:pPr marL="241300" marR="694055" indent="-228600">
              <a:lnSpc>
                <a:spcPts val="2800"/>
              </a:lnSpc>
              <a:spcBef>
                <a:spcPts val="1000"/>
              </a:spcBef>
              <a:buFont typeface="Arial" panose="020B0604020202020204"/>
              <a:buChar char="•"/>
              <a:tabLst>
                <a:tab pos="241300" algn="l"/>
              </a:tabLst>
            </a:pPr>
            <a:r>
              <a:rPr sz="2600" spc="-5" dirty="0">
                <a:latin typeface="Calibri" panose="020F0502020204030204"/>
                <a:cs typeface="Calibri" panose="020F0502020204030204"/>
              </a:rPr>
              <a:t>This meeting is about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promoting broader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thinking of if the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transport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layer 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protocols </a:t>
            </a:r>
            <a:r>
              <a:rPr sz="2600" spc="-5" dirty="0">
                <a:latin typeface="Calibri" panose="020F0502020204030204"/>
                <a:cs typeface="Calibri" panose="020F0502020204030204"/>
              </a:rPr>
              <a:t>need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to </a:t>
            </a:r>
            <a:r>
              <a:rPr sz="2600" dirty="0">
                <a:latin typeface="Calibri" panose="020F0502020204030204"/>
                <a:cs typeface="Calibri" panose="020F0502020204030204"/>
              </a:rPr>
              <a:t>be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optimized </a:t>
            </a:r>
            <a:r>
              <a:rPr sz="2600" spc="-20" dirty="0">
                <a:latin typeface="Calibri" panose="020F0502020204030204"/>
                <a:cs typeface="Calibri" panose="020F0502020204030204"/>
              </a:rPr>
              <a:t>for </a:t>
            </a:r>
            <a:r>
              <a:rPr sz="2600" spc="-15" dirty="0">
                <a:latin typeface="Calibri" panose="020F0502020204030204"/>
                <a:cs typeface="Calibri" panose="020F0502020204030204"/>
              </a:rPr>
              <a:t>LEO/MEO</a:t>
            </a:r>
            <a:r>
              <a:rPr sz="2600" spc="40" dirty="0">
                <a:latin typeface="Calibri" panose="020F0502020204030204"/>
                <a:cs typeface="Calibri" panose="020F0502020204030204"/>
              </a:rPr>
              <a:t> </a:t>
            </a:r>
            <a:r>
              <a:rPr sz="2600" spc="-10" dirty="0">
                <a:latin typeface="Calibri" panose="020F0502020204030204"/>
                <a:cs typeface="Calibri" panose="020F0502020204030204"/>
              </a:rPr>
              <a:t>networks.</a:t>
            </a:r>
            <a:endParaRPr sz="2600" dirty="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29590" y="1447800"/>
            <a:ext cx="11052810" cy="424564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05"/>
              </a:spcBef>
              <a:tabLst>
                <a:tab pos="671195" algn="l"/>
              </a:tabLst>
            </a:pPr>
            <a:r>
              <a:rPr lang="en-US" sz="2400" b="1" spc="-15" dirty="0">
                <a:cs typeface="Calibri" panose="020F0502020204030204"/>
              </a:rPr>
              <a:t>Requirements:</a:t>
            </a:r>
            <a:endParaRPr lang="en-US" sz="2400" b="1" spc="-15" dirty="0">
              <a:cs typeface="Calibri" panose="020F0502020204030204"/>
            </a:endParaRPr>
          </a:p>
          <a:p>
            <a:pPr marL="298450" indent="-285750">
              <a:lnSpc>
                <a:spcPct val="15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671195" algn="l"/>
              </a:tabLst>
            </a:pPr>
            <a:r>
              <a:rPr lang="en-US" sz="1600" spc="-15" dirty="0" err="1">
                <a:cs typeface="Calibri" panose="020F0502020204030204"/>
              </a:rPr>
              <a:t>Tianji</a:t>
            </a:r>
            <a:r>
              <a:rPr lang="en-US" sz="1600" spc="-15" dirty="0">
                <a:cs typeface="Calibri" panose="020F0502020204030204"/>
              </a:rPr>
              <a:t> Jiang, China Mobile, Satellite Transmission Requirements Challenges </a:t>
            </a:r>
            <a:endParaRPr lang="en-US" sz="1600" spc="-15" dirty="0">
              <a:cs typeface="Calibri" panose="020F0502020204030204"/>
            </a:endParaRPr>
          </a:p>
          <a:p>
            <a:pPr marL="298450" indent="-285750">
              <a:lnSpc>
                <a:spcPct val="15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671195" algn="l"/>
              </a:tabLst>
            </a:pPr>
            <a:r>
              <a:rPr lang="en-US" sz="1600" spc="-15" dirty="0" err="1">
                <a:cs typeface="Calibri" panose="020F0502020204030204"/>
              </a:rPr>
              <a:t>Tianji</a:t>
            </a:r>
            <a:r>
              <a:rPr lang="en-US" sz="1600" spc="-15" dirty="0">
                <a:cs typeface="Calibri" panose="020F0502020204030204"/>
              </a:rPr>
              <a:t> Jiang, China Mobile, Transport Optimization in Satellite Networks: - 3GPP Use cases, Challenges &amp; Considerations</a:t>
            </a:r>
            <a:endParaRPr lang="en-US" sz="1600" spc="-15" dirty="0">
              <a:cs typeface="Calibri" panose="020F0502020204030204"/>
            </a:endParaRPr>
          </a:p>
          <a:p>
            <a:pPr marL="298450" indent="-285750">
              <a:lnSpc>
                <a:spcPct val="15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671195" algn="l"/>
              </a:tabLst>
            </a:pPr>
            <a:r>
              <a:rPr lang="en-US" sz="1600" spc="-15" dirty="0">
                <a:cs typeface="Calibri" panose="020F0502020204030204"/>
              </a:rPr>
              <a:t>Jie Liu, Geely, Thoughts on LEO scenarios and requirements</a:t>
            </a:r>
            <a:endParaRPr lang="en-US" sz="1600" spc="-15" dirty="0">
              <a:cs typeface="Calibri" panose="020F0502020204030204"/>
            </a:endParaRPr>
          </a:p>
          <a:p>
            <a:pPr marL="12700">
              <a:lnSpc>
                <a:spcPct val="150000"/>
              </a:lnSpc>
              <a:spcBef>
                <a:spcPts val="105"/>
              </a:spcBef>
              <a:tabLst>
                <a:tab pos="671195" algn="l"/>
              </a:tabLst>
            </a:pPr>
            <a:endParaRPr lang="en-US" sz="2000" b="1" spc="-15" dirty="0">
              <a:cs typeface="Calibri" panose="020F0502020204030204"/>
            </a:endParaRPr>
          </a:p>
          <a:p>
            <a:pPr marL="12700">
              <a:lnSpc>
                <a:spcPct val="150000"/>
              </a:lnSpc>
              <a:spcBef>
                <a:spcPts val="105"/>
              </a:spcBef>
              <a:tabLst>
                <a:tab pos="671195" algn="l"/>
              </a:tabLst>
            </a:pPr>
            <a:r>
              <a:rPr lang="en-US" sz="2400" b="1" spc="-15" dirty="0">
                <a:cs typeface="Calibri" panose="020F0502020204030204"/>
              </a:rPr>
              <a:t>Problem Analysis and Solutions:</a:t>
            </a:r>
            <a:endParaRPr lang="en-US" sz="2400" b="1" spc="-15" dirty="0">
              <a:cs typeface="Calibri" panose="020F0502020204030204"/>
            </a:endParaRPr>
          </a:p>
          <a:p>
            <a:pPr marL="298450" indent="-285750">
              <a:lnSpc>
                <a:spcPct val="15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671195" algn="l"/>
              </a:tabLst>
            </a:pPr>
            <a:r>
              <a:rPr lang="en-US" sz="1600" spc="-15" dirty="0">
                <a:cs typeface="Calibri" panose="020F0502020204030204"/>
              </a:rPr>
              <a:t>Feng Qian, TikTok, LEO Satellite vs. Cellular Networks: Exploring the Potential for Synergistic Integration</a:t>
            </a:r>
            <a:endParaRPr lang="en-US" sz="1600" spc="-15" dirty="0">
              <a:cs typeface="Calibri" panose="020F0502020204030204"/>
            </a:endParaRPr>
          </a:p>
          <a:p>
            <a:pPr marL="298450" indent="-285750">
              <a:lnSpc>
                <a:spcPct val="15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671195" algn="l"/>
              </a:tabLst>
            </a:pPr>
            <a:r>
              <a:rPr lang="en-US" sz="1600" spc="-15" dirty="0">
                <a:cs typeface="Calibri" panose="020F0502020204030204"/>
              </a:rPr>
              <a:t>Jianping Pan, UVIC Canada, Handover behaviors of LEO satellite networks and impacts on the transport-layer protocols of the Internet</a:t>
            </a:r>
            <a:endParaRPr lang="en-US" sz="1600" spc="-15" dirty="0">
              <a:cs typeface="Calibri" panose="020F0502020204030204"/>
            </a:endParaRPr>
          </a:p>
          <a:p>
            <a:pPr marL="298450" indent="-285750">
              <a:lnSpc>
                <a:spcPct val="15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671195" algn="l"/>
              </a:tabLst>
            </a:pPr>
            <a:r>
              <a:rPr lang="en-US" sz="1600" spc="-15" dirty="0">
                <a:cs typeface="Calibri" panose="020F0502020204030204"/>
              </a:rPr>
              <a:t>Liz </a:t>
            </a:r>
            <a:r>
              <a:rPr lang="en-US" sz="1600" spc="-15" dirty="0" err="1">
                <a:cs typeface="Calibri" panose="020F0502020204030204"/>
              </a:rPr>
              <a:t>lzhikevich</a:t>
            </a:r>
            <a:r>
              <a:rPr lang="en-US" sz="1600" spc="-15" dirty="0">
                <a:cs typeface="Calibri" panose="020F0502020204030204"/>
              </a:rPr>
              <a:t>, UCLA &amp; Netflix, Manipulating Congestion Control To Improve Video Streaming Over Starlink</a:t>
            </a:r>
            <a:endParaRPr lang="en-US" sz="1600" spc="-15" dirty="0">
              <a:cs typeface="Calibri" panose="020F0502020204030204"/>
            </a:endParaRPr>
          </a:p>
          <a:p>
            <a:pPr marL="298450" indent="-285750">
              <a:lnSpc>
                <a:spcPct val="15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671195" algn="l"/>
              </a:tabLst>
            </a:pPr>
            <a:r>
              <a:rPr lang="en-US" sz="1600" spc="-15" dirty="0">
                <a:cs typeface="Calibri" panose="020F0502020204030204"/>
              </a:rPr>
              <a:t>Quan Xiong, ZTE, Technical Considerations for T4SAT </a:t>
            </a:r>
            <a:endParaRPr sz="20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29590" y="115569"/>
            <a:ext cx="998601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25" dirty="0"/>
              <a:t>Recap. </a:t>
            </a:r>
            <a:r>
              <a:rPr spc="-5" dirty="0"/>
              <a:t>of the Sidemeeting in</a:t>
            </a:r>
            <a:r>
              <a:rPr spc="-20" dirty="0"/>
              <a:t> </a:t>
            </a:r>
            <a:r>
              <a:rPr spc="-5" dirty="0"/>
              <a:t>IETF-122</a:t>
            </a:r>
            <a:r>
              <a:rPr lang="en-US" spc="-5" dirty="0"/>
              <a:t>/123</a:t>
            </a:r>
            <a:endParaRPr spc="-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29590" y="115569"/>
            <a:ext cx="171831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5" dirty="0"/>
              <a:t>A</a:t>
            </a:r>
            <a:r>
              <a:rPr spc="-35" dirty="0"/>
              <a:t>g</a:t>
            </a:r>
            <a:r>
              <a:rPr spc="-5" dirty="0"/>
              <a:t>end</a:t>
            </a:r>
            <a:r>
              <a:rPr dirty="0"/>
              <a:t>a</a:t>
            </a:r>
            <a:endParaRPr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457200" y="1219200"/>
          <a:ext cx="10730863" cy="48852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7200"/>
                <a:gridCol w="5432836"/>
                <a:gridCol w="1517041"/>
                <a:gridCol w="1682120"/>
                <a:gridCol w="1641666"/>
              </a:tblGrid>
              <a:tr h="867887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26060" algn="ctr">
                        <a:lnSpc>
                          <a:spcPts val="1905"/>
                        </a:lnSpc>
                      </a:pPr>
                      <a:r>
                        <a:rPr sz="2000" b="1" spc="-40" dirty="0">
                          <a:latin typeface="Calibri" panose="020F0502020204030204"/>
                          <a:cs typeface="Calibri" panose="020F0502020204030204"/>
                        </a:rPr>
                        <a:t>Topic</a:t>
                      </a:r>
                      <a:endParaRPr sz="2000" b="1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8440" algn="ctr">
                        <a:lnSpc>
                          <a:spcPts val="1905"/>
                        </a:lnSpc>
                      </a:pPr>
                      <a:r>
                        <a:rPr sz="2000" b="1" spc="-5" dirty="0">
                          <a:latin typeface="Calibri" panose="020F0502020204030204"/>
                          <a:cs typeface="Calibri" panose="020F0502020204030204"/>
                        </a:rPr>
                        <a:t>Time(mins)</a:t>
                      </a:r>
                      <a:endParaRPr sz="2000" b="1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1270" algn="ctr">
                        <a:lnSpc>
                          <a:spcPts val="1905"/>
                        </a:lnSpc>
                      </a:pPr>
                      <a:r>
                        <a:rPr sz="2000" b="1" spc="-15" dirty="0">
                          <a:latin typeface="Calibri" panose="020F0502020204030204"/>
                          <a:cs typeface="Calibri" panose="020F0502020204030204"/>
                        </a:rPr>
                        <a:t>Presenter</a:t>
                      </a:r>
                      <a:endParaRPr sz="2000" b="1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30175" algn="ctr">
                        <a:lnSpc>
                          <a:spcPts val="1905"/>
                        </a:lnSpc>
                      </a:pPr>
                      <a:r>
                        <a:rPr sz="2000" b="1" spc="-10" dirty="0">
                          <a:latin typeface="Calibri" panose="020F0502020204030204"/>
                          <a:cs typeface="Calibri" panose="020F0502020204030204"/>
                        </a:rPr>
                        <a:t>Company</a:t>
                      </a:r>
                      <a:endParaRPr sz="2000" b="1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0" marB="0"/>
                </a:tc>
              </a:tr>
              <a:tr h="847567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000" dirty="0">
                          <a:latin typeface="Calibri" panose="020F0502020204030204"/>
                          <a:cs typeface="Calibri" panose="020F0502020204030204"/>
                        </a:rPr>
                        <a:t>0</a:t>
                      </a:r>
                      <a:endParaRPr sz="20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L="116840" algn="l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000" spc="-20" dirty="0">
                          <a:latin typeface="Calibri" panose="020F0502020204030204"/>
                          <a:cs typeface="Calibri" panose="020F0502020204030204"/>
                        </a:rPr>
                        <a:t>Welcome </a:t>
                      </a:r>
                      <a:r>
                        <a:rPr sz="2000" dirty="0">
                          <a:latin typeface="Calibri" panose="020F0502020204030204"/>
                          <a:cs typeface="Calibri" panose="020F0502020204030204"/>
                        </a:rPr>
                        <a:t>&amp;</a:t>
                      </a:r>
                      <a:r>
                        <a:rPr sz="2000" spc="5" dirty="0"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2000" spc="-15" dirty="0">
                          <a:latin typeface="Calibri" panose="020F0502020204030204"/>
                          <a:cs typeface="Calibri" panose="020F0502020204030204"/>
                        </a:rPr>
                        <a:t>Review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L="217805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5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  <a:sym typeface="+mn-ea"/>
                        </a:rPr>
                        <a:t>Feng Yang</a:t>
                      </a:r>
                      <a:endParaRPr lang="en-US" sz="2000" dirty="0">
                        <a:latin typeface="Calibri" panose="020F0502020204030204"/>
                        <a:cs typeface="Calibri" panose="020F0502020204030204"/>
                      </a:endParaRPr>
                    </a:p>
                    <a:p>
                      <a:pPr marR="1270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Yanbiao, Li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L="130175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000" spc="-5" dirty="0">
                          <a:latin typeface="Calibri" panose="020F0502020204030204"/>
                          <a:cs typeface="Calibri" panose="020F0502020204030204"/>
                          <a:sym typeface="+mn-ea"/>
                        </a:rPr>
                        <a:t>China</a:t>
                      </a:r>
                      <a:r>
                        <a:rPr sz="2000" spc="-40" dirty="0">
                          <a:latin typeface="Calibri" panose="020F0502020204030204"/>
                          <a:cs typeface="Calibri" panose="020F0502020204030204"/>
                          <a:sym typeface="+mn-ea"/>
                        </a:rPr>
                        <a:t> </a:t>
                      </a:r>
                      <a:r>
                        <a:rPr sz="2000" spc="-5" dirty="0">
                          <a:latin typeface="Calibri" panose="020F0502020204030204"/>
                          <a:cs typeface="Calibri" panose="020F0502020204030204"/>
                          <a:sym typeface="+mn-ea"/>
                        </a:rPr>
                        <a:t>Mobile</a:t>
                      </a:r>
                      <a:endParaRPr lang="en-US" altLang="zh-CN" sz="2000" dirty="0">
                        <a:latin typeface="Calibri" panose="020F0502020204030204"/>
                        <a:cs typeface="Calibri" panose="020F0502020204030204"/>
                        <a:sym typeface="+mn-ea"/>
                      </a:endParaRPr>
                    </a:p>
                    <a:p>
                      <a:pPr marL="130175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altLang="zh-CN" sz="2000" dirty="0">
                          <a:latin typeface="Calibri" panose="020F0502020204030204"/>
                          <a:cs typeface="Calibri" panose="020F0502020204030204"/>
                          <a:sym typeface="+mn-ea"/>
                        </a:rPr>
                        <a:t>CNIC CAS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</a:tr>
              <a:tr h="9144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1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L="116840" marR="514350" algn="l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altLang="zh-CN" sz="2000" dirty="0">
                          <a:latin typeface="Calibri" panose="020F0502020204030204"/>
                          <a:cs typeface="Calibri" panose="020F0502020204030204"/>
                        </a:rPr>
                        <a:t>Maintaining Stable Connections in Highly Dynamic LEO Satellite Networks</a:t>
                      </a:r>
                      <a:endParaRPr lang="en-US" altLang="zh-CN"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L="218440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000" dirty="0">
                          <a:latin typeface="Calibri" panose="020F0502020204030204"/>
                          <a:cs typeface="Calibri" panose="020F0502020204030204"/>
                        </a:rPr>
                        <a:t>1</a:t>
                      </a: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5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altLang="zh-CN" sz="2000" dirty="0">
                          <a:latin typeface="Calibri" panose="020F0502020204030204"/>
                          <a:cs typeface="Calibri" panose="020F0502020204030204"/>
                          <a:sym typeface="+mn-ea"/>
                        </a:rPr>
                        <a:t>Xian Yu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L="130175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altLang="zh-CN" sz="2000" dirty="0">
                          <a:latin typeface="Calibri" panose="020F0502020204030204"/>
                          <a:cs typeface="Calibri" panose="020F0502020204030204"/>
                          <a:sym typeface="+mn-ea"/>
                        </a:rPr>
                        <a:t>CNIC CAS</a:t>
                      </a:r>
                      <a:endParaRPr lang="en-US" altLang="zh-CN" sz="2000" dirty="0">
                        <a:latin typeface="Calibri" panose="020F0502020204030204"/>
                        <a:cs typeface="Calibri" panose="020F0502020204030204"/>
                      </a:endParaRPr>
                    </a:p>
                    <a:p>
                      <a:pPr marL="130175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</a:tr>
              <a:tr h="970122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2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2000" spc="-10" dirty="0">
                          <a:solidFill>
                            <a:schemeClr val="tx1"/>
                          </a:solidFill>
                          <a:latin typeface="Calibri" panose="020F0502020204030204"/>
                          <a:ea typeface="+mn-ea"/>
                          <a:cs typeface="Calibri" panose="020F0502020204030204"/>
                          <a:sym typeface="+mn-ea"/>
                        </a:rPr>
                        <a:t>  High Performance Transport Protocol Optimization</a:t>
                      </a:r>
                      <a:endParaRPr lang="en-US" altLang="zh-CN" sz="2000" spc="-10" dirty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Calibri" panose="020F0502020204030204"/>
                        <a:sym typeface="+mn-ea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L="218440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000" dirty="0">
                          <a:latin typeface="Calibri" panose="020F0502020204030204"/>
                          <a:cs typeface="Calibri" panose="020F0502020204030204"/>
                        </a:rPr>
                        <a:t>1</a:t>
                      </a: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5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Daniel Huang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  <a:tc>
                  <a:txBody>
                    <a:bodyPr/>
                    <a:lstStyle/>
                    <a:p>
                      <a:pPr marL="130175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sz="2000" spc="-5" dirty="0">
                          <a:latin typeface="Calibri" panose="020F0502020204030204"/>
                          <a:cs typeface="Calibri" panose="020F0502020204030204"/>
                        </a:rPr>
                        <a:t>ZTE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620" marB="0"/>
                </a:tc>
              </a:tr>
              <a:tr h="80772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</a:pP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3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381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</a:pPr>
                      <a:r>
                        <a:rPr lang="en-US" altLang="zh-CN" sz="2000" spc="-10" dirty="0">
                          <a:solidFill>
                            <a:schemeClr val="tx1"/>
                          </a:solidFill>
                          <a:latin typeface="Calibri" panose="020F0502020204030204"/>
                          <a:ea typeface="+mn-ea"/>
                          <a:cs typeface="Calibri" panose="020F0502020204030204"/>
                        </a:rPr>
                        <a:t>  Transport Layer OAM Protocol Consideration</a:t>
                      </a:r>
                      <a:endParaRPr lang="en-US" altLang="zh-CN" sz="2000" spc="-10" dirty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Calibri" panose="020F0502020204030204"/>
                      </a:endParaRPr>
                    </a:p>
                  </a:txBody>
                  <a:tcPr marL="0" marR="0" marT="3810" marB="0"/>
                </a:tc>
                <a:tc>
                  <a:txBody>
                    <a:bodyPr/>
                    <a:lstStyle/>
                    <a:p>
                      <a:pPr marL="218440" algn="ctr">
                        <a:lnSpc>
                          <a:spcPct val="100000"/>
                        </a:lnSpc>
                      </a:pPr>
                      <a:r>
                        <a:rPr sz="2000" dirty="0">
                          <a:latin typeface="Calibri" panose="020F0502020204030204"/>
                          <a:cs typeface="Calibri" panose="020F0502020204030204"/>
                        </a:rPr>
                        <a:t>1</a:t>
                      </a: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5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3810" marB="0"/>
                </a:tc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lang="en-US" altLang="zh-CN" sz="2000" dirty="0">
                          <a:latin typeface="+mn-lt"/>
                          <a:cs typeface="Calibri" panose="020F0502020204030204"/>
                        </a:rPr>
                        <a:t>Feng Yang</a:t>
                      </a:r>
                      <a:endParaRPr lang="en-US" altLang="zh-CN" sz="2000" dirty="0">
                        <a:latin typeface="+mn-lt"/>
                        <a:cs typeface="Calibri" panose="020F0502020204030204"/>
                      </a:endParaRPr>
                    </a:p>
                  </a:txBody>
                  <a:tcPr marL="0" marR="0" marT="3810" marB="0"/>
                </a:tc>
                <a:tc>
                  <a:txBody>
                    <a:bodyPr/>
                    <a:lstStyle/>
                    <a:p>
                      <a:pPr marL="13017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2000" spc="-5" dirty="0">
                          <a:latin typeface="+mn-lt"/>
                          <a:cs typeface="Calibri" panose="020F0502020204030204"/>
                        </a:rPr>
                        <a:t>China</a:t>
                      </a:r>
                      <a:r>
                        <a:rPr lang="en-US" altLang="zh-CN" sz="2000" spc="-40" dirty="0">
                          <a:latin typeface="+mn-lt"/>
                          <a:cs typeface="Calibri" panose="020F0502020204030204"/>
                        </a:rPr>
                        <a:t> </a:t>
                      </a:r>
                      <a:r>
                        <a:rPr lang="en-US" altLang="zh-CN" sz="2000" spc="-5" dirty="0">
                          <a:latin typeface="+mn-lt"/>
                          <a:cs typeface="Calibri" panose="020F0502020204030204"/>
                        </a:rPr>
                        <a:t>Mobile</a:t>
                      </a:r>
                      <a:endParaRPr lang="en-US" altLang="zh-CN" sz="2000" dirty="0">
                        <a:latin typeface="+mn-lt"/>
                        <a:cs typeface="Calibri" panose="020F0502020204030204"/>
                      </a:endParaRPr>
                    </a:p>
                  </a:txBody>
                  <a:tcPr marL="0" marR="0" marT="3810" marB="0"/>
                </a:tc>
              </a:tr>
              <a:tr h="47752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260"/>
                        </a:spcBef>
                      </a:pP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4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160020" marB="0"/>
                </a:tc>
                <a:tc>
                  <a:txBody>
                    <a:bodyPr/>
                    <a:lstStyle/>
                    <a:p>
                      <a:pPr marL="116840" algn="l">
                        <a:lnSpc>
                          <a:spcPct val="100000"/>
                        </a:lnSpc>
                        <a:spcBef>
                          <a:spcPts val="1260"/>
                        </a:spcBef>
                      </a:pPr>
                      <a:r>
                        <a:rPr sz="2000" spc="-5" dirty="0">
                          <a:latin typeface="Calibri" panose="020F0502020204030204"/>
                          <a:cs typeface="Calibri" panose="020F0502020204030204"/>
                        </a:rPr>
                        <a:t>Open</a:t>
                      </a:r>
                      <a:r>
                        <a:rPr sz="2000" spc="-15" dirty="0"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2000" spc="-5" dirty="0">
                          <a:latin typeface="Calibri" panose="020F0502020204030204"/>
                          <a:cs typeface="Calibri" panose="020F0502020204030204"/>
                        </a:rPr>
                        <a:t>Discussion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160020" marB="0"/>
                </a:tc>
                <a:tc>
                  <a:txBody>
                    <a:bodyPr/>
                    <a:lstStyle/>
                    <a:p>
                      <a:pPr marL="218440" algn="ctr">
                        <a:lnSpc>
                          <a:spcPct val="100000"/>
                        </a:lnSpc>
                        <a:spcBef>
                          <a:spcPts val="1260"/>
                        </a:spcBef>
                      </a:pPr>
                      <a:r>
                        <a:rPr lang="en-US" sz="2000" dirty="0">
                          <a:latin typeface="Calibri" panose="020F0502020204030204"/>
                          <a:cs typeface="Calibri" panose="020F0502020204030204"/>
                        </a:rPr>
                        <a:t>10</a:t>
                      </a:r>
                      <a:endParaRPr sz="2000" dirty="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160020" marB="0"/>
                </a:tc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1260"/>
                        </a:spcBef>
                      </a:pPr>
                      <a:r>
                        <a:rPr sz="2000" spc="-5" dirty="0">
                          <a:latin typeface="Calibri" panose="020F0502020204030204"/>
                          <a:cs typeface="Calibri" panose="020F0502020204030204"/>
                        </a:rPr>
                        <a:t>All</a:t>
                      </a:r>
                      <a:endParaRPr sz="20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16002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 panose="02020603050405020304"/>
                        <a:cs typeface="Times New Roman" panose="02020603050405020304"/>
                      </a:endParaRPr>
                    </a:p>
                  </a:txBody>
                  <a:tcPr marL="0" marR="0" marT="0" marB="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34694" y="446405"/>
            <a:ext cx="315404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-10" dirty="0"/>
              <a:t>Questions</a:t>
            </a:r>
            <a:r>
              <a:rPr spc="-65" dirty="0"/>
              <a:t> </a:t>
            </a:r>
            <a:r>
              <a:rPr spc="-20" dirty="0"/>
              <a:t>List</a:t>
            </a:r>
            <a:endParaRPr spc="-20" dirty="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472440" y="1735454"/>
            <a:ext cx="11247119" cy="30499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4795" marR="5080" indent="-228600">
              <a:lnSpc>
                <a:spcPct val="100000"/>
              </a:lnSpc>
              <a:spcBef>
                <a:spcPts val="100"/>
              </a:spcBef>
              <a:buFont typeface="Arial" panose="020B0604020202020204"/>
              <a:buChar char="•"/>
              <a:tabLst>
                <a:tab pos="333375" algn="l"/>
                <a:tab pos="334010" algn="l"/>
              </a:tabLst>
            </a:pPr>
            <a:r>
              <a:rPr dirty="0"/>
              <a:t>	</a:t>
            </a:r>
            <a:r>
              <a:rPr spc="-10" dirty="0"/>
              <a:t>Questions </a:t>
            </a:r>
            <a:r>
              <a:rPr spc="-15" dirty="0"/>
              <a:t>to </a:t>
            </a:r>
            <a:r>
              <a:rPr spc="-20" dirty="0"/>
              <a:t>Have </a:t>
            </a:r>
            <a:r>
              <a:rPr spc="-5" dirty="0"/>
              <a:t>in Mind </a:t>
            </a:r>
            <a:r>
              <a:rPr spc="-65" dirty="0"/>
              <a:t>You </a:t>
            </a:r>
            <a:r>
              <a:rPr spc="-5" dirty="0"/>
              <a:t>don’t </a:t>
            </a:r>
            <a:r>
              <a:rPr spc="-20" dirty="0"/>
              <a:t>have </a:t>
            </a:r>
            <a:r>
              <a:rPr spc="-15" dirty="0"/>
              <a:t>to </a:t>
            </a:r>
            <a:r>
              <a:rPr spc="-10" dirty="0"/>
              <a:t>answer </a:t>
            </a:r>
            <a:r>
              <a:rPr spc="-5" dirty="0"/>
              <a:t>these </a:t>
            </a:r>
            <a:r>
              <a:rPr spc="-10" dirty="0"/>
              <a:t>questions, </a:t>
            </a:r>
            <a:r>
              <a:rPr spc="-5" dirty="0"/>
              <a:t>but please think  about them </a:t>
            </a:r>
            <a:r>
              <a:rPr spc="-25" dirty="0"/>
              <a:t>for </a:t>
            </a:r>
            <a:r>
              <a:rPr spc="-5" dirty="0"/>
              <a:t>the discussion </a:t>
            </a:r>
            <a:r>
              <a:rPr spc="-15" dirty="0"/>
              <a:t>at </a:t>
            </a:r>
            <a:r>
              <a:rPr spc="-5" dirty="0"/>
              <a:t>the end of the meeting. (not </a:t>
            </a:r>
            <a:r>
              <a:rPr spc="-10" dirty="0"/>
              <a:t>limited </a:t>
            </a:r>
            <a:r>
              <a:rPr spc="-15" dirty="0"/>
              <a:t>to </a:t>
            </a:r>
            <a:r>
              <a:rPr spc="-5" dirty="0"/>
              <a:t>these</a:t>
            </a:r>
            <a:r>
              <a:rPr spc="229" dirty="0"/>
              <a:t> </a:t>
            </a:r>
            <a:r>
              <a:rPr spc="-10" dirty="0"/>
              <a:t>questions)</a:t>
            </a:r>
            <a:endParaRPr spc="-10" dirty="0"/>
          </a:p>
          <a:p>
            <a:pPr marL="950595" lvl="1" indent="-457200">
              <a:lnSpc>
                <a:spcPct val="100000"/>
              </a:lnSpc>
              <a:spcBef>
                <a:spcPts val="1525"/>
              </a:spcBef>
              <a:buAutoNum type="arabicPeriod"/>
              <a:tabLst>
                <a:tab pos="949960" algn="l"/>
                <a:tab pos="949960" algn="l"/>
              </a:tabLst>
            </a:pPr>
            <a:r>
              <a:rPr lang="en-US" sz="2000" spc="-5" dirty="0">
                <a:latin typeface="Calibri" panose="020F0502020204030204"/>
                <a:cs typeface="Calibri" panose="020F0502020204030204"/>
              </a:rPr>
              <a:t>I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s the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problem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to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optimize transport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layer protocols 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for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LEO/MEO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well</a:t>
            </a:r>
            <a:r>
              <a:rPr sz="2000" spc="6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understood?</a:t>
            </a:r>
            <a:endParaRPr sz="2000" dirty="0">
              <a:latin typeface="Calibri" panose="020F0502020204030204"/>
              <a:cs typeface="Calibri" panose="020F0502020204030204"/>
            </a:endParaRPr>
          </a:p>
          <a:p>
            <a:pPr marL="950595" marR="1485265">
              <a:lnSpc>
                <a:spcPct val="121000"/>
              </a:lnSpc>
            </a:pPr>
            <a:r>
              <a:rPr sz="2000" spc="-5" dirty="0"/>
              <a:t>Is </a:t>
            </a:r>
            <a:r>
              <a:rPr sz="2000" spc="-10" dirty="0"/>
              <a:t>there </a:t>
            </a:r>
            <a:r>
              <a:rPr sz="2000" dirty="0"/>
              <a:t>a </a:t>
            </a:r>
            <a:r>
              <a:rPr sz="2000" spc="-5" dirty="0"/>
              <a:t>need </a:t>
            </a:r>
            <a:r>
              <a:rPr sz="2000" spc="-15" dirty="0"/>
              <a:t>to </a:t>
            </a:r>
            <a:r>
              <a:rPr sz="2000" spc="-10" dirty="0"/>
              <a:t>optimize transport </a:t>
            </a:r>
            <a:r>
              <a:rPr sz="2000" spc="-15" dirty="0"/>
              <a:t>layer protocols </a:t>
            </a:r>
            <a:r>
              <a:rPr sz="2000" spc="-20" dirty="0"/>
              <a:t>for</a:t>
            </a:r>
            <a:r>
              <a:rPr sz="2000" spc="20" dirty="0"/>
              <a:t> </a:t>
            </a:r>
            <a:r>
              <a:rPr sz="2000" spc="-15" dirty="0"/>
              <a:t>LEO/MEO?</a:t>
            </a:r>
            <a:endParaRPr sz="2000" dirty="0"/>
          </a:p>
          <a:p>
            <a:pPr marL="950595" marR="467360" lvl="1" indent="-457200">
              <a:lnSpc>
                <a:spcPct val="100000"/>
              </a:lnSpc>
              <a:spcBef>
                <a:spcPts val="500"/>
              </a:spcBef>
              <a:buAutoNum type="arabicPeriod" startAt="2"/>
              <a:tabLst>
                <a:tab pos="949960" algn="l"/>
                <a:tab pos="949960" algn="l"/>
              </a:tabLst>
            </a:pPr>
            <a:r>
              <a:rPr sz="2000" spc="-15" dirty="0">
                <a:latin typeface="Calibri" panose="020F0502020204030204"/>
                <a:cs typeface="Calibri" panose="020F0502020204030204"/>
              </a:rPr>
              <a:t>For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the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LEO/MEO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based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problem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space, </a:t>
            </a:r>
            <a:r>
              <a:rPr lang="en-US" sz="2000" spc="-5" dirty="0">
                <a:latin typeface="Calibri" panose="020F0502020204030204"/>
                <a:cs typeface="Calibri" panose="020F0502020204030204"/>
              </a:rPr>
              <a:t> transportation layer OAM be necessary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?</a:t>
            </a:r>
            <a:endParaRPr sz="2000" dirty="0">
              <a:latin typeface="Calibri" panose="020F0502020204030204"/>
              <a:cs typeface="Calibri" panose="020F0502020204030204"/>
            </a:endParaRPr>
          </a:p>
          <a:p>
            <a:pPr marL="950595" marR="313690" lvl="1" indent="-457200">
              <a:lnSpc>
                <a:spcPct val="100000"/>
              </a:lnSpc>
              <a:spcBef>
                <a:spcPts val="500"/>
              </a:spcBef>
              <a:buAutoNum type="arabicPeriod" startAt="2"/>
              <a:tabLst>
                <a:tab pos="949960" algn="l"/>
                <a:tab pos="949960" algn="l"/>
              </a:tabLst>
            </a:pPr>
            <a:r>
              <a:rPr sz="2000" spc="-5" dirty="0">
                <a:latin typeface="Calibri" panose="020F0502020204030204"/>
                <a:cs typeface="Calibri" panose="020F0502020204030204"/>
              </a:rPr>
              <a:t>The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relationship between what we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are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discussing now (i.e.,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LEO/MEO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based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transport)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and those 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exiting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IETF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WGs </a:t>
            </a:r>
            <a:r>
              <a:rPr sz="2000" spc="-10">
                <a:latin typeface="Calibri" panose="020F0502020204030204"/>
                <a:cs typeface="Calibri" panose="020F0502020204030204"/>
              </a:rPr>
              <a:t>(</a:t>
            </a:r>
            <a:r>
              <a:rPr lang="en-US" altLang="zh-CN" sz="2000" spc="-10">
                <a:latin typeface="Calibri" panose="020F0502020204030204"/>
                <a:cs typeface="Calibri" panose="020F0502020204030204"/>
              </a:rPr>
              <a:t>TVR,</a:t>
            </a:r>
            <a:r>
              <a:rPr lang="zh-CN" altLang="en-US" sz="20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DTN, CCWG, 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TIPTOP)? </a:t>
            </a:r>
            <a:r>
              <a:rPr sz="2000" dirty="0">
                <a:latin typeface="Calibri" panose="020F0502020204030204"/>
                <a:cs typeface="Calibri" panose="020F0502020204030204"/>
              </a:rPr>
              <a:t>–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adjacency</a:t>
            </a:r>
            <a:r>
              <a:rPr sz="2000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relationship</a:t>
            </a:r>
            <a:endParaRPr sz="2000" dirty="0">
              <a:latin typeface="Calibri" panose="020F0502020204030204"/>
              <a:cs typeface="Calibri" panose="020F0502020204030204"/>
            </a:endParaRPr>
          </a:p>
          <a:p>
            <a:pPr marL="950595" lvl="1" indent="-457200">
              <a:lnSpc>
                <a:spcPct val="100000"/>
              </a:lnSpc>
              <a:spcBef>
                <a:spcPts val="500"/>
              </a:spcBef>
              <a:buAutoNum type="arabicPeriod" startAt="2"/>
              <a:tabLst>
                <a:tab pos="949960" algn="l"/>
                <a:tab pos="949960" algn="l"/>
              </a:tabLst>
            </a:pPr>
            <a:r>
              <a:rPr sz="2000" spc="-5" dirty="0">
                <a:latin typeface="Calibri" panose="020F0502020204030204"/>
                <a:cs typeface="Calibri" panose="020F0502020204030204"/>
              </a:rPr>
              <a:t>Further</a:t>
            </a:r>
            <a:r>
              <a:rPr sz="20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5" dirty="0">
                <a:latin typeface="Calibri" panose="020F0502020204030204"/>
                <a:cs typeface="Calibri" panose="020F0502020204030204"/>
              </a:rPr>
              <a:t>actions?</a:t>
            </a:r>
            <a:endParaRPr sz="2000" dirty="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3853</Words>
  <Application>WPS 演示</Application>
  <PresentationFormat>宽屏</PresentationFormat>
  <Paragraphs>118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6" baseType="lpstr">
      <vt:lpstr>Arial</vt:lpstr>
      <vt:lpstr>宋体</vt:lpstr>
      <vt:lpstr>Wingdings</vt:lpstr>
      <vt:lpstr>Calibri Light</vt:lpstr>
      <vt:lpstr>Calibri</vt:lpstr>
      <vt:lpstr>Times New Roman</vt:lpstr>
      <vt:lpstr>Arial</vt:lpstr>
      <vt:lpstr>微软雅黑</vt:lpstr>
      <vt:lpstr>Arial Unicode MS</vt:lpstr>
      <vt:lpstr>Office Theme</vt:lpstr>
      <vt:lpstr>PowerPoint 演示文稿</vt:lpstr>
      <vt:lpstr>Note Well</vt:lpstr>
      <vt:lpstr>Motivation</vt:lpstr>
      <vt:lpstr>Recap. of the Sidemeeting in IETF-122/123</vt:lpstr>
      <vt:lpstr>Agenda</vt:lpstr>
      <vt:lpstr>Questions List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fy</cp:lastModifiedBy>
  <cp:revision>12</cp:revision>
  <dcterms:created xsi:type="dcterms:W3CDTF">2026-03-13T02:30:00Z</dcterms:created>
  <dcterms:modified xsi:type="dcterms:W3CDTF">2026-03-18T06:24:22Z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2025-07-21T00:00:00Z</vt:filetime>
  </property>
  <property fmtid="{D5CDD505-2E9C-101B-9397-08002B2CF9AE}" pid="3" name="Creator">
    <vt:lpwstr>WPS 演示</vt:lpwstr>
  </property>
  <property fmtid="{D5CDD505-2E9C-101B-9397-08002B2CF9AE}" pid="4" name="LastSaved">
    <vt:filetime>2026-03-14T00:00:00Z</vt:filetime>
  </property>
  <property fmtid="{D5CDD505-2E9C-101B-9397-08002B2CF9AE}" pid="5" name="ICV">
    <vt:lpwstr>8408134A1871410C92B86BBE934DB205_12</vt:lpwstr>
  </property>
  <property fmtid="{D5CDD505-2E9C-101B-9397-08002B2CF9AE}" pid="6" name="KSOProductBuildVer">
    <vt:lpwstr>2052-12.8.2.21555</vt:lpwstr>
  </property>
</Properties>
</file>