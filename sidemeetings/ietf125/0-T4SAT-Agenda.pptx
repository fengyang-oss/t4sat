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87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685800" y="685800"/>
            <a:ext cx="10820400" cy="5486400"/>
          </a:xfrm>
          <a:custGeom>
            <a:avLst/>
            <a:gdLst/>
            <a:ahLst/>
            <a:cxnLst/>
            <a:rect l="l" t="t" r="r" b="b"/>
            <a:pathLst>
              <a:path w="10820400" h="5486400">
                <a:moveTo>
                  <a:pt x="0" y="0"/>
                </a:moveTo>
                <a:lnTo>
                  <a:pt x="10820400" y="0"/>
                </a:lnTo>
                <a:lnTo>
                  <a:pt x="10820400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7100" y="1280159"/>
            <a:ext cx="7797800" cy="2072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4694" y="446405"/>
            <a:ext cx="107226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cs typeface="Calibri Light" panose="020F03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440" y="1735454"/>
            <a:ext cx="11247119" cy="4075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7" Type="http://schemas.openxmlformats.org/officeDocument/2006/relationships/slideLayout" Target="../slideLayouts/slideLayout2.xml"/><Relationship Id="rId36" Type="http://schemas.openxmlformats.org/officeDocument/2006/relationships/hyperlink" Target="https://www.ietf.org/privacy-policy/" TargetMode="External"/><Relationship Id="rId35" Type="http://schemas.openxmlformats.org/officeDocument/2006/relationships/hyperlink" Target="https://www.ietf.org/contact/ombudsteam/" TargetMode="External"/><Relationship Id="rId34" Type="http://schemas.openxmlformats.org/officeDocument/2006/relationships/image" Target="../media/image34.jpe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0" y="1280159"/>
            <a:ext cx="7683500" cy="2072639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 algn="ctr">
              <a:lnSpc>
                <a:spcPts val="5180"/>
              </a:lnSpc>
              <a:spcBef>
                <a:spcPts val="755"/>
              </a:spcBef>
              <a:tabLst>
                <a:tab pos="4452620" algn="l"/>
              </a:tabLst>
            </a:pPr>
            <a:r>
              <a:rPr sz="4800" b="0" spc="-5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Transport </a:t>
            </a:r>
            <a:r>
              <a:rPr sz="4800" b="0" spc="-35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Layer </a:t>
            </a:r>
            <a:r>
              <a:rPr sz="4800" b="0" spc="-3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Protocols  </a:t>
            </a:r>
            <a:r>
              <a:rPr sz="4800" b="0" spc="-2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Optimization </a:t>
            </a:r>
            <a:r>
              <a:rPr sz="4800" b="0" spc="-4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for </a:t>
            </a:r>
            <a:r>
              <a:rPr sz="4800" b="0" spc="-2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Satellite  </a:t>
            </a:r>
            <a:r>
              <a:rPr sz="4800" b="0" spc="-4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Networks(T4SAT)	</a:t>
            </a:r>
            <a:r>
              <a:rPr sz="4800" b="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Side</a:t>
            </a:r>
            <a:r>
              <a:rPr sz="4800" b="0" spc="-75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4800" b="0" spc="-1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Meeting</a:t>
            </a:r>
            <a:endParaRPr sz="48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03140" y="4603750"/>
            <a:ext cx="3121660" cy="4892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36700" algn="l"/>
              </a:tabLst>
            </a:pPr>
            <a:r>
              <a:rPr sz="3100" b="0" spc="-1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I</a:t>
            </a:r>
            <a:r>
              <a:rPr sz="3100" b="0" spc="-5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ETF</a:t>
            </a:r>
            <a:r>
              <a:rPr sz="3100" b="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3100" b="0" spc="-5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12</a:t>
            </a:r>
            <a:r>
              <a:rPr lang="en-US" sz="3100" b="0" spc="-5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5</a:t>
            </a:r>
            <a:r>
              <a:rPr sz="3100" b="0" dirty="0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	</a:t>
            </a:r>
            <a:r>
              <a:rPr lang="en-US" sz="3100" b="0" dirty="0" err="1">
                <a:solidFill>
                  <a:srgbClr val="585858"/>
                </a:solidFill>
                <a:latin typeface="Calibri Light" panose="020F0302020204030204"/>
                <a:cs typeface="Calibri Light" panose="020F0302020204030204"/>
              </a:rPr>
              <a:t>ShenZhen</a:t>
            </a:r>
            <a:endParaRPr sz="3100" dirty="0">
              <a:latin typeface="Calibri Light" panose="020F0302020204030204"/>
              <a:cs typeface="Calibri Light" panose="020F03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456" y="61187"/>
            <a:ext cx="487457" cy="20804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8814" y="61187"/>
            <a:ext cx="1029258" cy="20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458" y="261429"/>
            <a:ext cx="529120" cy="245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7979" y="261429"/>
            <a:ext cx="1066761" cy="245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458" y="478916"/>
            <a:ext cx="529120" cy="2454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7979" y="478916"/>
            <a:ext cx="1066761" cy="2454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458" y="696404"/>
            <a:ext cx="529120" cy="2454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7979" y="696404"/>
            <a:ext cx="1066761" cy="2454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458" y="910716"/>
            <a:ext cx="529120" cy="24549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7979" y="910716"/>
            <a:ext cx="1066761" cy="2454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458" y="1128204"/>
            <a:ext cx="529120" cy="2454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7979" y="1128204"/>
            <a:ext cx="1066761" cy="24549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458" y="1344104"/>
            <a:ext cx="529120" cy="24549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7979" y="1344104"/>
            <a:ext cx="1066761" cy="2454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458" y="1561591"/>
            <a:ext cx="529120" cy="24549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7979" y="1561591"/>
            <a:ext cx="1066761" cy="24549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564921" y="5085022"/>
            <a:ext cx="1285576" cy="20804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877700" y="5068379"/>
            <a:ext cx="262420" cy="24549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539958" y="5281104"/>
            <a:ext cx="1331341" cy="24549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877700" y="5281104"/>
            <a:ext cx="262420" cy="24549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539958" y="5498591"/>
            <a:ext cx="1331341" cy="24549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877700" y="5498591"/>
            <a:ext cx="262420" cy="24549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539958" y="5716079"/>
            <a:ext cx="1331341" cy="24549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877700" y="5716079"/>
            <a:ext cx="262420" cy="24549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539958" y="5930391"/>
            <a:ext cx="1331341" cy="24549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877700" y="5930391"/>
            <a:ext cx="262420" cy="24549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539958" y="6147879"/>
            <a:ext cx="1331341" cy="24549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877700" y="6147879"/>
            <a:ext cx="262420" cy="24549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539958" y="6363779"/>
            <a:ext cx="1331341" cy="24549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877700" y="6363779"/>
            <a:ext cx="262420" cy="24549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539958" y="6581267"/>
            <a:ext cx="1331341" cy="24549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877700" y="6581267"/>
            <a:ext cx="262420" cy="24549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93750" y="458279"/>
            <a:ext cx="11106111" cy="604304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29055" y="5661659"/>
            <a:ext cx="1304544" cy="58674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5177790" y="612775"/>
            <a:ext cx="1823085" cy="532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00" b="1" spc="10" dirty="0">
                <a:latin typeface="Times New Roman" panose="02020603050405020304"/>
                <a:cs typeface="Times New Roman" panose="02020603050405020304"/>
              </a:rPr>
              <a:t>Note</a:t>
            </a:r>
            <a:r>
              <a:rPr sz="33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10" dirty="0">
                <a:latin typeface="Times New Roman" panose="02020603050405020304"/>
                <a:cs typeface="Times New Roman" panose="02020603050405020304"/>
              </a:rPr>
              <a:t>Well</a:t>
            </a:r>
            <a:endParaRPr sz="33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81824" y="1252219"/>
            <a:ext cx="10335895" cy="50615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5"/>
              </a:spcBef>
            </a:pPr>
            <a:r>
              <a:rPr sz="1400" spc="-5" dirty="0">
                <a:latin typeface="Arial" panose="020B0604020202020204"/>
                <a:cs typeface="Arial" panose="020B0604020202020204"/>
              </a:rPr>
              <a:t>This is </a:t>
            </a:r>
            <a:r>
              <a:rPr sz="1400" dirty="0">
                <a:latin typeface="Arial" panose="020B0604020202020204"/>
                <a:cs typeface="Arial" panose="020B0604020202020204"/>
              </a:rPr>
              <a:t>a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reminder of IETF policies in effect </a:t>
            </a:r>
            <a:r>
              <a:rPr sz="1400" dirty="0">
                <a:latin typeface="Arial" panose="020B0604020202020204"/>
                <a:cs typeface="Arial" panose="020B0604020202020204"/>
              </a:rPr>
              <a:t>on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various topics such </a:t>
            </a:r>
            <a:r>
              <a:rPr sz="1400" dirty="0">
                <a:latin typeface="Arial" panose="020B0604020202020204"/>
                <a:cs typeface="Arial" panose="020B0604020202020204"/>
              </a:rPr>
              <a:t>as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patents or code of conduct. It is only meant to point you in the  right direction. Exceptions may apply. The IETF's patent policy and the definition of </a:t>
            </a:r>
            <a:r>
              <a:rPr sz="1400" dirty="0">
                <a:latin typeface="Arial" panose="020B0604020202020204"/>
                <a:cs typeface="Arial" panose="020B0604020202020204"/>
              </a:rPr>
              <a:t>an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IETF "contribution" and "participation" are  set forth in </a:t>
            </a:r>
            <a:r>
              <a:rPr sz="1400" dirty="0">
                <a:latin typeface="Arial" panose="020B0604020202020204"/>
                <a:cs typeface="Arial" panose="020B0604020202020204"/>
              </a:rPr>
              <a:t>BCP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79; please read it</a:t>
            </a:r>
            <a:r>
              <a:rPr sz="14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carefully.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 panose="020B0604020202020204"/>
                <a:cs typeface="Arial" panose="020B0604020202020204"/>
              </a:rPr>
              <a:t>As a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reminder: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buSzPct val="93000"/>
              <a:buChar char="•"/>
              <a:tabLst>
                <a:tab pos="7620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By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participating in the IETF, you agree to follow IETF processes and</a:t>
            </a:r>
            <a:r>
              <a:rPr sz="14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policies.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376555">
              <a:lnSpc>
                <a:spcPts val="1510"/>
              </a:lnSpc>
              <a:spcBef>
                <a:spcPts val="520"/>
              </a:spcBef>
              <a:buSzPct val="93000"/>
              <a:buChar char="•"/>
              <a:tabLst>
                <a:tab pos="76200" algn="l"/>
              </a:tabLst>
            </a:pPr>
            <a:r>
              <a:rPr sz="1400" spc="-5" dirty="0">
                <a:latin typeface="Arial" panose="020B0604020202020204"/>
                <a:cs typeface="Arial" panose="020B0604020202020204"/>
              </a:rPr>
              <a:t>If you are aware that any IETF contribution is covered </a:t>
            </a:r>
            <a:r>
              <a:rPr sz="1400" dirty="0">
                <a:latin typeface="Arial" panose="020B0604020202020204"/>
                <a:cs typeface="Arial" panose="020B0604020202020204"/>
              </a:rPr>
              <a:t>by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patents or patent applications that are owned or controlled </a:t>
            </a:r>
            <a:r>
              <a:rPr sz="1400" dirty="0">
                <a:latin typeface="Arial" panose="020B0604020202020204"/>
                <a:cs typeface="Arial" panose="020B0604020202020204"/>
              </a:rPr>
              <a:t>by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you or  your sponsor, you must disclose that fact, or not participate in the</a:t>
            </a:r>
            <a:r>
              <a:rPr sz="1400" spc="3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discussion.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604520">
              <a:lnSpc>
                <a:spcPts val="1510"/>
              </a:lnSpc>
              <a:spcBef>
                <a:spcPts val="500"/>
              </a:spcBef>
              <a:buSzPct val="93000"/>
              <a:buChar char="•"/>
              <a:tabLst>
                <a:tab pos="7620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As a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participant in or attendee to any IETF activity you acknowledge that written, audio, video, and photographic records of  meetings may </a:t>
            </a:r>
            <a:r>
              <a:rPr sz="1400" dirty="0">
                <a:latin typeface="Arial" panose="020B0604020202020204"/>
                <a:cs typeface="Arial" panose="020B0604020202020204"/>
              </a:rPr>
              <a:t>be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made</a:t>
            </a:r>
            <a:r>
              <a:rPr sz="1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public.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75565" indent="-62865">
              <a:lnSpc>
                <a:spcPct val="100000"/>
              </a:lnSpc>
              <a:spcBef>
                <a:spcPts val="310"/>
              </a:spcBef>
              <a:buSzPct val="93000"/>
              <a:buChar char="•"/>
              <a:tabLst>
                <a:tab pos="76200" algn="l"/>
              </a:tabLst>
            </a:pPr>
            <a:r>
              <a:rPr sz="1400" spc="-5" dirty="0">
                <a:latin typeface="Arial" panose="020B0604020202020204"/>
                <a:cs typeface="Arial" panose="020B0604020202020204"/>
              </a:rPr>
              <a:t>Personal information that you provide to IETF will </a:t>
            </a:r>
            <a:r>
              <a:rPr sz="1400" dirty="0">
                <a:latin typeface="Arial" panose="020B0604020202020204"/>
                <a:cs typeface="Arial" panose="020B0604020202020204"/>
              </a:rPr>
              <a:t>be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handled in accordance with the IETF Privacy</a:t>
            </a:r>
            <a:r>
              <a:rPr sz="1400" spc="5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Statement.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 marR="1208405">
              <a:lnSpc>
                <a:spcPts val="1510"/>
              </a:lnSpc>
              <a:spcBef>
                <a:spcPts val="520"/>
              </a:spcBef>
              <a:buSzPct val="93000"/>
              <a:buChar char="•"/>
              <a:tabLst>
                <a:tab pos="76200" algn="l"/>
              </a:tabLst>
            </a:pPr>
            <a:r>
              <a:rPr sz="1400" dirty="0">
                <a:latin typeface="Arial" panose="020B0604020202020204"/>
                <a:cs typeface="Arial" panose="020B0604020202020204"/>
              </a:rPr>
              <a:t>As a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participant or attendee, you agree to work respectfully with other participants; please contact the ombudsteam  (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  <a:hlinkClick r:id="rId35"/>
              </a:rPr>
              <a:t>https://www.ietf.org/contact/ombudsteam/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) if you have questions or concerns about</a:t>
            </a:r>
            <a:r>
              <a:rPr sz="14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this.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 panose="020B0604020202020204"/>
              <a:buChar char="•"/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Arial" panose="020B0604020202020204"/>
                <a:cs typeface="Arial" panose="020B0604020202020204"/>
              </a:rPr>
              <a:t>Definitive information is in the documents listed below and other IETF BCPs. For advice, please talk to WG chairs or</a:t>
            </a:r>
            <a:r>
              <a:rPr sz="1400" spc="13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ADs: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084955" lvl="1" indent="-49530">
              <a:lnSpc>
                <a:spcPts val="1250"/>
              </a:lnSpc>
              <a:buSzPct val="91000"/>
              <a:buChar char="•"/>
              <a:tabLst>
                <a:tab pos="408559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BCP 9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(Internet Standards</a:t>
            </a:r>
            <a:r>
              <a:rPr sz="11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Process)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4084955" lvl="1" indent="-49530">
              <a:lnSpc>
                <a:spcPts val="1185"/>
              </a:lnSpc>
              <a:buSzPct val="91000"/>
              <a:buChar char="•"/>
              <a:tabLst>
                <a:tab pos="408559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BCP 25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(Working Group</a:t>
            </a:r>
            <a:r>
              <a:rPr sz="11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processes)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996055" indent="-49530">
              <a:lnSpc>
                <a:spcPts val="1185"/>
              </a:lnSpc>
              <a:buSzPct val="91000"/>
              <a:buChar char="•"/>
              <a:tabLst>
                <a:tab pos="399669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BCP 25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(Anti-Harassment</a:t>
            </a:r>
            <a:r>
              <a:rPr sz="11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Procedures)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4368165" lvl="1" indent="-49530">
              <a:lnSpc>
                <a:spcPts val="1185"/>
              </a:lnSpc>
              <a:buSzPct val="91000"/>
              <a:buChar char="•"/>
              <a:tabLst>
                <a:tab pos="436880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BCP 54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(Code of</a:t>
            </a:r>
            <a:r>
              <a:rPr sz="11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Conduct)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4592955" lvl="2" indent="-49530">
              <a:lnSpc>
                <a:spcPts val="1185"/>
              </a:lnSpc>
              <a:buSzPct val="91000"/>
              <a:buChar char="•"/>
              <a:tabLst>
                <a:tab pos="459359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BCP 78</a:t>
            </a:r>
            <a:r>
              <a:rPr sz="11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(Copyright)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4232275" indent="-49530">
              <a:lnSpc>
                <a:spcPts val="1185"/>
              </a:lnSpc>
              <a:buSzPct val="91000"/>
              <a:buChar char="•"/>
              <a:tabLst>
                <a:tab pos="4232910" algn="l"/>
              </a:tabLst>
            </a:pPr>
            <a:r>
              <a:rPr sz="1100" dirty="0">
                <a:latin typeface="Arial" panose="020B0604020202020204"/>
                <a:cs typeface="Arial" panose="020B0604020202020204"/>
              </a:rPr>
              <a:t>BCP 79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(Patents,</a:t>
            </a:r>
            <a:r>
              <a:rPr sz="11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Participation)</a:t>
            </a:r>
            <a:endParaRPr sz="1100">
              <a:latin typeface="Arial" panose="020B0604020202020204"/>
              <a:cs typeface="Arial" panose="020B0604020202020204"/>
            </a:endParaRPr>
          </a:p>
          <a:p>
            <a:pPr marL="3642995" indent="-49530">
              <a:lnSpc>
                <a:spcPts val="1255"/>
              </a:lnSpc>
              <a:buSzPct val="91000"/>
              <a:buChar char="•"/>
              <a:tabLst>
                <a:tab pos="3642995" algn="l"/>
              </a:tabLst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  <a:hlinkClick r:id="rId36"/>
              </a:rPr>
              <a:t>https://www.ietf.org/privacy-policy/</a:t>
            </a:r>
            <a:r>
              <a:rPr sz="1100" spc="-5" dirty="0">
                <a:latin typeface="Arial" panose="020B0604020202020204"/>
                <a:cs typeface="Arial" panose="020B0604020202020204"/>
                <a:hlinkClick r:id="rId36"/>
              </a:rPr>
              <a:t> </a:t>
            </a:r>
            <a:r>
              <a:rPr sz="1100" spc="-5" dirty="0">
                <a:latin typeface="Arial" panose="020B0604020202020204"/>
                <a:cs typeface="Arial" panose="020B0604020202020204"/>
              </a:rPr>
              <a:t>(Privacy Policy)</a:t>
            </a:r>
            <a:endParaRPr sz="1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94360"/>
            <a:ext cx="2479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</a:t>
            </a:r>
            <a:r>
              <a:rPr spc="-5" dirty="0"/>
              <a:t>oti</a:t>
            </a:r>
            <a:r>
              <a:rPr spc="-70" dirty="0"/>
              <a:t>v</a:t>
            </a:r>
            <a:r>
              <a:rPr spc="-50" dirty="0"/>
              <a:t>a</a:t>
            </a:r>
            <a:r>
              <a:rPr spc="-5" dirty="0"/>
              <a:t>tio</a:t>
            </a:r>
            <a:r>
              <a:rPr dirty="0"/>
              <a:t>n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98410" y="1805939"/>
            <a:ext cx="10772775" cy="426402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marR="343535" indent="-228600">
              <a:lnSpc>
                <a:spcPts val="2800"/>
              </a:lnSpc>
              <a:spcBef>
                <a:spcPts val="46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600" spc="-15" dirty="0">
                <a:latin typeface="Calibri" panose="020F0502020204030204"/>
                <a:cs typeface="Calibri" panose="020F0502020204030204"/>
              </a:rPr>
              <a:t>LEO/MEO networks </a:t>
            </a:r>
            <a:r>
              <a:rPr sz="2600" dirty="0">
                <a:latin typeface="Calibri" panose="020F0502020204030204"/>
                <a:cs typeface="Calibri" panose="020F0502020204030204"/>
              </a:rPr>
              <a:t>(e.g.,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Starlink,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OneWeb)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are rapidly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developing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in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recent 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years,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providing new </a:t>
            </a:r>
            <a:r>
              <a:rPr sz="2600" spc="-30" dirty="0">
                <a:latin typeface="Calibri" panose="020F0502020204030204"/>
                <a:cs typeface="Calibri" panose="020F0502020204030204"/>
              </a:rPr>
              <a:t>ways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Internet</a:t>
            </a:r>
            <a:r>
              <a:rPr sz="26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accessing.</a:t>
            </a:r>
            <a:endParaRPr sz="2600" dirty="0">
              <a:latin typeface="Calibri" panose="020F0502020204030204"/>
              <a:cs typeface="Calibri" panose="020F0502020204030204"/>
            </a:endParaRPr>
          </a:p>
          <a:p>
            <a:pPr marL="241300" marR="806450" indent="-228600">
              <a:lnSpc>
                <a:spcPts val="2800"/>
              </a:lnSpc>
              <a:spcBef>
                <a:spcPts val="101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600" spc="-15" dirty="0">
                <a:latin typeface="Calibri" panose="020F0502020204030204"/>
                <a:cs typeface="Calibri" panose="020F0502020204030204"/>
              </a:rPr>
              <a:t>LEO/MEO networks </a:t>
            </a:r>
            <a:r>
              <a:rPr sz="2600" spc="-25" dirty="0">
                <a:latin typeface="Calibri" panose="020F0502020204030204"/>
                <a:cs typeface="Calibri" panose="020F0502020204030204"/>
              </a:rPr>
              <a:t>have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characteristic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of high dynamic, which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cause 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packet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disorder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or loss,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unlike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terrestrial</a:t>
            </a:r>
            <a:r>
              <a:rPr sz="26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networks.</a:t>
            </a:r>
            <a:endParaRPr sz="2600" dirty="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600" spc="-5" dirty="0">
                <a:latin typeface="Calibri" panose="020F0502020204030204"/>
                <a:cs typeface="Calibri" panose="020F0502020204030204"/>
              </a:rPr>
              <a:t>This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directly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impacts user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experience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if the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transport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layer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don’t handle it</a:t>
            </a:r>
            <a:r>
              <a:rPr sz="2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well.</a:t>
            </a:r>
            <a:endParaRPr sz="2600" dirty="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600" spc="-5" dirty="0">
                <a:latin typeface="Calibri" panose="020F0502020204030204"/>
                <a:cs typeface="Calibri" panose="020F0502020204030204"/>
              </a:rPr>
              <a:t>IETF has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related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work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to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satellite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network,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TVR,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DTN,</a:t>
            </a:r>
            <a:r>
              <a:rPr sz="26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TIPTOP.</a:t>
            </a:r>
            <a:endParaRPr sz="2600" dirty="0">
              <a:latin typeface="Calibri" panose="020F0502020204030204"/>
              <a:cs typeface="Calibri" panose="020F0502020204030204"/>
            </a:endParaRPr>
          </a:p>
          <a:p>
            <a:pPr marL="241300" marR="1134745" indent="-228600">
              <a:lnSpc>
                <a:spcPts val="2810"/>
              </a:lnSpc>
              <a:spcBef>
                <a:spcPts val="103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600" spc="-45" dirty="0">
                <a:latin typeface="Calibri" panose="020F0502020204030204"/>
                <a:cs typeface="Calibri" panose="020F0502020204030204"/>
              </a:rPr>
              <a:t>However,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systematic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optimization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core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transport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layer for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LEO/MEO 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specifics is not deeply discussed or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explored.</a:t>
            </a:r>
            <a:endParaRPr sz="2600" dirty="0">
              <a:latin typeface="Calibri" panose="020F0502020204030204"/>
              <a:cs typeface="Calibri" panose="020F0502020204030204"/>
            </a:endParaRPr>
          </a:p>
          <a:p>
            <a:pPr marL="241300" marR="694055" indent="-228600">
              <a:lnSpc>
                <a:spcPts val="2800"/>
              </a:lnSpc>
              <a:spcBef>
                <a:spcPts val="10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600" spc="-5" dirty="0">
                <a:latin typeface="Calibri" panose="020F0502020204030204"/>
                <a:cs typeface="Calibri" panose="020F0502020204030204"/>
              </a:rPr>
              <a:t>This meeting is about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promoting broader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thinking of if the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transport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layer 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protocols </a:t>
            </a:r>
            <a:r>
              <a:rPr sz="2600" spc="-5" dirty="0">
                <a:latin typeface="Calibri" panose="020F0502020204030204"/>
                <a:cs typeface="Calibri" panose="020F0502020204030204"/>
              </a:rPr>
              <a:t>need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to </a:t>
            </a:r>
            <a:r>
              <a:rPr sz="2600" dirty="0">
                <a:latin typeface="Calibri" panose="020F0502020204030204"/>
                <a:cs typeface="Calibri" panose="020F0502020204030204"/>
              </a:rPr>
              <a:t>be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optimized </a:t>
            </a:r>
            <a:r>
              <a:rPr sz="26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600" spc="-15" dirty="0">
                <a:latin typeface="Calibri" panose="020F0502020204030204"/>
                <a:cs typeface="Calibri" panose="020F0502020204030204"/>
              </a:rPr>
              <a:t>LEO/MEO</a:t>
            </a:r>
            <a:r>
              <a:rPr sz="26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600" spc="-10" dirty="0">
                <a:latin typeface="Calibri" panose="020F0502020204030204"/>
                <a:cs typeface="Calibri" panose="020F0502020204030204"/>
              </a:rPr>
              <a:t>networks.</a:t>
            </a:r>
            <a:endParaRPr sz="26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9590" y="1447800"/>
            <a:ext cx="11052810" cy="42456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671195" algn="l"/>
              </a:tabLst>
            </a:pPr>
            <a:r>
              <a:rPr lang="en-US" sz="2400" b="1" spc="-15" dirty="0">
                <a:cs typeface="Calibri" panose="020F0502020204030204"/>
              </a:rPr>
              <a:t>Requirements:</a:t>
            </a:r>
            <a:endParaRPr lang="en-US" sz="2400" b="1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 err="1">
                <a:cs typeface="Calibri" panose="020F0502020204030204"/>
              </a:rPr>
              <a:t>Tianji</a:t>
            </a:r>
            <a:r>
              <a:rPr lang="en-US" sz="1600" spc="-15" dirty="0">
                <a:cs typeface="Calibri" panose="020F0502020204030204"/>
              </a:rPr>
              <a:t> Jiang, China Mobile, Satellite Transmission Requirements Challenges </a:t>
            </a:r>
            <a:endParaRPr lang="en-US" sz="1600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 err="1">
                <a:cs typeface="Calibri" panose="020F0502020204030204"/>
              </a:rPr>
              <a:t>Tianji</a:t>
            </a:r>
            <a:r>
              <a:rPr lang="en-US" sz="1600" spc="-15" dirty="0">
                <a:cs typeface="Calibri" panose="020F0502020204030204"/>
              </a:rPr>
              <a:t> Jiang, China Mobile, Transport Optimization in Satellite Networks: - 3GPP Use cases, Challenges &amp; Considerations</a:t>
            </a:r>
            <a:endParaRPr lang="en-US" sz="1600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>
                <a:cs typeface="Calibri" panose="020F0502020204030204"/>
              </a:rPr>
              <a:t>Jie Liu, Geely, Thoughts on LEO scenarios and requirements</a:t>
            </a:r>
            <a:endParaRPr lang="en-US" sz="1600" spc="-15" dirty="0"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671195" algn="l"/>
              </a:tabLst>
            </a:pPr>
            <a:endParaRPr lang="en-US" sz="2000" b="1" spc="-15" dirty="0"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671195" algn="l"/>
              </a:tabLst>
            </a:pPr>
            <a:r>
              <a:rPr lang="en-US" sz="2400" b="1" spc="-15" dirty="0">
                <a:cs typeface="Calibri" panose="020F0502020204030204"/>
              </a:rPr>
              <a:t>Problem Analysis and Solutions:</a:t>
            </a:r>
            <a:endParaRPr lang="en-US" sz="2400" b="1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>
                <a:cs typeface="Calibri" panose="020F0502020204030204"/>
              </a:rPr>
              <a:t>Feng Qian, TikTok, LEO Satellite vs. Cellular Networks: Exploring the Potential for Synergistic Integration</a:t>
            </a:r>
            <a:endParaRPr lang="en-US" sz="1600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>
                <a:cs typeface="Calibri" panose="020F0502020204030204"/>
              </a:rPr>
              <a:t>Jianping Pan, UVIC Canada, Handover behaviors of LEO satellite networks and impacts on the transport-layer protocols of the Internet</a:t>
            </a:r>
            <a:endParaRPr lang="en-US" sz="1600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>
                <a:cs typeface="Calibri" panose="020F0502020204030204"/>
              </a:rPr>
              <a:t>Liz </a:t>
            </a:r>
            <a:r>
              <a:rPr lang="en-US" sz="1600" spc="-15" dirty="0" err="1">
                <a:cs typeface="Calibri" panose="020F0502020204030204"/>
              </a:rPr>
              <a:t>lzhikevich</a:t>
            </a:r>
            <a:r>
              <a:rPr lang="en-US" sz="1600" spc="-15" dirty="0">
                <a:cs typeface="Calibri" panose="020F0502020204030204"/>
              </a:rPr>
              <a:t>, UCLA &amp; Netflix, Manipulating Congestion Control To Improve Video Streaming Over Starlink</a:t>
            </a:r>
            <a:endParaRPr lang="en-US" sz="1600" spc="-15" dirty="0">
              <a:cs typeface="Calibri" panose="020F0502020204030204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671195" algn="l"/>
              </a:tabLst>
            </a:pPr>
            <a:r>
              <a:rPr lang="en-US" sz="1600" spc="-15" dirty="0">
                <a:cs typeface="Calibri" panose="020F0502020204030204"/>
              </a:rPr>
              <a:t>Quan Xiong, ZTE, Technical Considerations for T4SAT 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29590" y="115569"/>
            <a:ext cx="9986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Recap. </a:t>
            </a:r>
            <a:r>
              <a:rPr spc="-5" dirty="0"/>
              <a:t>of the Sidemeeting in</a:t>
            </a:r>
            <a:r>
              <a:rPr spc="-20" dirty="0"/>
              <a:t> </a:t>
            </a:r>
            <a:r>
              <a:rPr spc="-5" dirty="0"/>
              <a:t>IETF-122</a:t>
            </a:r>
            <a:r>
              <a:rPr lang="en-US" spc="-5" dirty="0"/>
              <a:t>/123</a:t>
            </a:r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590" y="115569"/>
            <a:ext cx="1718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</a:t>
            </a:r>
            <a:r>
              <a:rPr spc="-35" dirty="0"/>
              <a:t>g</a:t>
            </a:r>
            <a:r>
              <a:rPr spc="-5" dirty="0"/>
              <a:t>end</a:t>
            </a:r>
            <a:r>
              <a:rPr dirty="0"/>
              <a:t>a</a:t>
            </a:r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219200"/>
          <a:ext cx="10730863" cy="48852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5432836"/>
                <a:gridCol w="1517041"/>
                <a:gridCol w="1682120"/>
                <a:gridCol w="1641666"/>
              </a:tblGrid>
              <a:tr h="867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6060" algn="ctr">
                        <a:lnSpc>
                          <a:spcPts val="1905"/>
                        </a:lnSpc>
                      </a:pPr>
                      <a:r>
                        <a:rPr sz="2000" b="1" spc="-40" dirty="0">
                          <a:latin typeface="Calibri" panose="020F0502020204030204"/>
                          <a:cs typeface="Calibri" panose="020F0502020204030204"/>
                        </a:rPr>
                        <a:t>Topic</a:t>
                      </a:r>
                      <a:endParaRPr sz="2000" b="1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 algn="ctr">
                        <a:lnSpc>
                          <a:spcPts val="1905"/>
                        </a:lnSpc>
                      </a:pPr>
                      <a:r>
                        <a:rPr sz="2000" b="1" spc="-5" dirty="0">
                          <a:latin typeface="Calibri" panose="020F0502020204030204"/>
                          <a:cs typeface="Calibri" panose="020F0502020204030204"/>
                        </a:rPr>
                        <a:t>Time(mins)</a:t>
                      </a:r>
                      <a:endParaRPr sz="2000" b="1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905"/>
                        </a:lnSpc>
                      </a:pPr>
                      <a:r>
                        <a:rPr sz="2000" b="1" spc="-15" dirty="0">
                          <a:latin typeface="Calibri" panose="020F0502020204030204"/>
                          <a:cs typeface="Calibri" panose="020F0502020204030204"/>
                        </a:rPr>
                        <a:t>Presenter</a:t>
                      </a:r>
                      <a:endParaRPr sz="2000" b="1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 algn="ctr">
                        <a:lnSpc>
                          <a:spcPts val="1905"/>
                        </a:lnSpc>
                      </a:pPr>
                      <a:r>
                        <a:rPr sz="2000" b="1" spc="-10" dirty="0">
                          <a:latin typeface="Calibri" panose="020F0502020204030204"/>
                          <a:cs typeface="Calibri" panose="020F0502020204030204"/>
                        </a:rPr>
                        <a:t>Company</a:t>
                      </a:r>
                      <a:endParaRPr sz="2000" b="1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84756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16840" algn="l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spc="-20" dirty="0">
                          <a:latin typeface="Calibri" panose="020F0502020204030204"/>
                          <a:cs typeface="Calibri" panose="020F0502020204030204"/>
                        </a:rPr>
                        <a:t>Welcome </a:t>
                      </a: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&amp;</a:t>
                      </a:r>
                      <a:r>
                        <a:rPr sz="20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Review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178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Feng Yang</a:t>
                      </a:r>
                      <a:endParaRPr lang="en-US" sz="2000" dirty="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R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Yanbiao, Li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30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China</a:t>
                      </a:r>
                      <a:r>
                        <a:rPr sz="2000" spc="-40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 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Mobile</a:t>
                      </a:r>
                      <a:endParaRPr lang="en-US" altLang="zh-CN" sz="2000" dirty="0">
                        <a:latin typeface="Calibri" panose="020F0502020204030204"/>
                        <a:cs typeface="Calibri" panose="020F0502020204030204"/>
                        <a:sym typeface="+mn-ea"/>
                      </a:endParaRPr>
                    </a:p>
                    <a:p>
                      <a:pPr marL="130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altLang="zh-CN" sz="2000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CNIC CAS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</a:tr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16840" marR="514350" algn="l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altLang="zh-CN" sz="2000" dirty="0">
                          <a:latin typeface="Calibri" panose="020F0502020204030204"/>
                          <a:cs typeface="Calibri" panose="020F0502020204030204"/>
                        </a:rPr>
                        <a:t>Maintaining Stable Connections in Highly Dynamic LEO Satellite Networks</a:t>
                      </a:r>
                      <a:endParaRPr lang="en-US" altLang="zh-CN"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184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altLang="zh-CN" sz="2000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Xian Yu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30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altLang="zh-CN" sz="2000" dirty="0">
                          <a:latin typeface="Calibri" panose="020F0502020204030204"/>
                          <a:cs typeface="Calibri" panose="020F0502020204030204"/>
                          <a:sym typeface="+mn-ea"/>
                        </a:rPr>
                        <a:t>CNIC CAS</a:t>
                      </a:r>
                      <a:endParaRPr lang="en-US" altLang="zh-CN" sz="2000" dirty="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130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</a:tr>
              <a:tr h="97012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spc="-10" dirty="0">
                          <a:solidFill>
                            <a:schemeClr val="tx1"/>
                          </a:solidFill>
                          <a:latin typeface="Calibri" panose="020F0502020204030204"/>
                          <a:ea typeface="+mn-ea"/>
                          <a:cs typeface="Calibri" panose="020F0502020204030204"/>
                          <a:sym typeface="+mn-ea"/>
                        </a:rPr>
                        <a:t>  High Performance Transport Protocol Optimization</a:t>
                      </a:r>
                      <a:endParaRPr lang="en-US" altLang="zh-CN" sz="2000" spc="-10" dirty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Calibri" panose="020F0502020204030204"/>
                        <a:sym typeface="+mn-ea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184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Daniel Huang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3017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spc="-5" dirty="0">
                          <a:latin typeface="Calibri" panose="020F0502020204030204"/>
                          <a:cs typeface="Calibri" panose="020F0502020204030204"/>
                        </a:rPr>
                        <a:t>ZTE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/>
                </a:tc>
              </a:tr>
              <a:tr h="8077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4000"/>
                        </a:lnSpc>
                      </a:pPr>
                      <a:r>
                        <a:rPr lang="en-US" altLang="zh-CN" sz="2000" spc="-10" dirty="0">
                          <a:solidFill>
                            <a:schemeClr val="tx1"/>
                          </a:solidFill>
                          <a:latin typeface="Calibri" panose="020F0502020204030204"/>
                          <a:ea typeface="+mn-ea"/>
                          <a:cs typeface="Calibri" panose="020F0502020204030204"/>
                        </a:rPr>
                        <a:t>  Transport Layer OAM Protocol Consideration</a:t>
                      </a:r>
                      <a:endParaRPr lang="en-US" altLang="zh-CN" sz="2000" spc="-10" dirty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Calibri" panose="020F0502020204030204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18440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altLang="zh-CN" sz="2000" dirty="0">
                          <a:latin typeface="+mn-lt"/>
                          <a:cs typeface="Calibri" panose="020F0502020204030204"/>
                        </a:rPr>
                        <a:t>Feng Yang</a:t>
                      </a:r>
                      <a:endParaRPr lang="en-US" altLang="zh-CN" sz="2000" dirty="0">
                        <a:latin typeface="+mn-lt"/>
                        <a:cs typeface="Calibri" panose="020F0502020204030204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13017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spc="-5" dirty="0">
                          <a:latin typeface="+mn-lt"/>
                          <a:cs typeface="Calibri" panose="020F0502020204030204"/>
                        </a:rPr>
                        <a:t>China</a:t>
                      </a:r>
                      <a:r>
                        <a:rPr lang="en-US" altLang="zh-CN" sz="2000" spc="-40" dirty="0">
                          <a:latin typeface="+mn-lt"/>
                          <a:cs typeface="Calibri" panose="020F0502020204030204"/>
                        </a:rPr>
                        <a:t> </a:t>
                      </a:r>
                      <a:r>
                        <a:rPr lang="en-US" altLang="zh-CN" sz="2000" spc="-5" dirty="0">
                          <a:latin typeface="+mn-lt"/>
                          <a:cs typeface="Calibri" panose="020F0502020204030204"/>
                        </a:rPr>
                        <a:t>Mobile</a:t>
                      </a:r>
                      <a:endParaRPr lang="en-US" altLang="zh-CN" sz="2000" dirty="0">
                        <a:latin typeface="+mn-lt"/>
                        <a:cs typeface="Calibri" panose="020F0502020204030204"/>
                      </a:endParaRPr>
                    </a:p>
                  </a:txBody>
                  <a:tcPr marL="0" marR="0" marT="3810" marB="0"/>
                </a:tc>
              </a:tr>
              <a:tr h="4775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60020" marB="0"/>
                </a:tc>
                <a:tc>
                  <a:txBody>
                    <a:bodyPr/>
                    <a:lstStyle/>
                    <a:p>
                      <a:pPr marL="116840" algn="l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Open</a:t>
                      </a:r>
                      <a:r>
                        <a:rPr sz="20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Discussion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60020" marB="0"/>
                </a:tc>
                <a:tc>
                  <a:txBody>
                    <a:bodyPr/>
                    <a:lstStyle/>
                    <a:p>
                      <a:pPr marL="218440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lang="en-US" sz="2000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6002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2000" spc="-5" dirty="0">
                          <a:latin typeface="Calibri" panose="020F0502020204030204"/>
                          <a:cs typeface="Calibri" panose="020F0502020204030204"/>
                        </a:rPr>
                        <a:t>All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60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694" y="446405"/>
            <a:ext cx="31540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Questions</a:t>
            </a:r>
            <a:r>
              <a:rPr spc="-65" dirty="0"/>
              <a:t> </a:t>
            </a:r>
            <a:r>
              <a:rPr spc="-20" dirty="0"/>
              <a:t>List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2440" y="1735454"/>
            <a:ext cx="11247119" cy="3355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2860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333375" algn="l"/>
                <a:tab pos="334010" algn="l"/>
              </a:tabLst>
            </a:pPr>
            <a:r>
              <a:rPr dirty="0"/>
              <a:t>	</a:t>
            </a:r>
            <a:r>
              <a:rPr spc="-10" dirty="0"/>
              <a:t>Questions </a:t>
            </a:r>
            <a:r>
              <a:rPr spc="-15" dirty="0"/>
              <a:t>to </a:t>
            </a:r>
            <a:r>
              <a:rPr spc="-20" dirty="0"/>
              <a:t>Have </a:t>
            </a:r>
            <a:r>
              <a:rPr spc="-5" dirty="0"/>
              <a:t>in Mind </a:t>
            </a:r>
            <a:r>
              <a:rPr spc="-65" dirty="0"/>
              <a:t>You </a:t>
            </a:r>
            <a:r>
              <a:rPr spc="-5" dirty="0"/>
              <a:t>don’t </a:t>
            </a:r>
            <a:r>
              <a:rPr spc="-20" dirty="0"/>
              <a:t>have </a:t>
            </a:r>
            <a:r>
              <a:rPr spc="-15" dirty="0"/>
              <a:t>to </a:t>
            </a:r>
            <a:r>
              <a:rPr spc="-10" dirty="0"/>
              <a:t>answer </a:t>
            </a:r>
            <a:r>
              <a:rPr spc="-5" dirty="0"/>
              <a:t>these </a:t>
            </a:r>
            <a:r>
              <a:rPr spc="-10" dirty="0"/>
              <a:t>questions, </a:t>
            </a:r>
            <a:r>
              <a:rPr spc="-5" dirty="0"/>
              <a:t>but please think  about them </a:t>
            </a:r>
            <a:r>
              <a:rPr spc="-25" dirty="0"/>
              <a:t>for </a:t>
            </a:r>
            <a:r>
              <a:rPr spc="-5" dirty="0"/>
              <a:t>the discussion </a:t>
            </a:r>
            <a:r>
              <a:rPr spc="-15" dirty="0"/>
              <a:t>at </a:t>
            </a:r>
            <a:r>
              <a:rPr spc="-5" dirty="0"/>
              <a:t>the end of the meeting. (not </a:t>
            </a:r>
            <a:r>
              <a:rPr spc="-10" dirty="0"/>
              <a:t>limited </a:t>
            </a:r>
            <a:r>
              <a:rPr spc="-15" dirty="0"/>
              <a:t>to </a:t>
            </a:r>
            <a:r>
              <a:rPr spc="-5" dirty="0"/>
              <a:t>these</a:t>
            </a:r>
            <a:r>
              <a:rPr spc="229" dirty="0"/>
              <a:t> </a:t>
            </a:r>
            <a:r>
              <a:rPr spc="-10" dirty="0"/>
              <a:t>questions)</a:t>
            </a:r>
            <a:endParaRPr spc="-10" dirty="0"/>
          </a:p>
          <a:p>
            <a:pPr marL="950595" lvl="1" indent="-457200">
              <a:lnSpc>
                <a:spcPct val="100000"/>
              </a:lnSpc>
              <a:spcBef>
                <a:spcPts val="1525"/>
              </a:spcBef>
              <a:buAutoNum type="arabicPeriod"/>
              <a:tabLst>
                <a:tab pos="949960" algn="l"/>
                <a:tab pos="949960" algn="l"/>
              </a:tabLst>
            </a:pPr>
            <a:r>
              <a:rPr lang="en-US" sz="200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 the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problem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to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optimize transport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layer protocols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LEO/MEO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well</a:t>
            </a:r>
            <a:r>
              <a:rPr sz="20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understood?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950595" marR="1485265">
              <a:lnSpc>
                <a:spcPct val="121000"/>
              </a:lnSpc>
            </a:pPr>
            <a:r>
              <a:rPr sz="2000" spc="-5" dirty="0"/>
              <a:t>Is </a:t>
            </a:r>
            <a:r>
              <a:rPr sz="2000" spc="-10" dirty="0"/>
              <a:t>there </a:t>
            </a:r>
            <a:r>
              <a:rPr sz="2000" dirty="0"/>
              <a:t>a </a:t>
            </a:r>
            <a:r>
              <a:rPr sz="2000" spc="-5" dirty="0"/>
              <a:t>need </a:t>
            </a:r>
            <a:r>
              <a:rPr sz="2000" spc="-15" dirty="0"/>
              <a:t>to </a:t>
            </a:r>
            <a:r>
              <a:rPr sz="2000" spc="-10" dirty="0"/>
              <a:t>optimize transport </a:t>
            </a:r>
            <a:r>
              <a:rPr sz="2000" spc="-15" dirty="0"/>
              <a:t>layer protocols </a:t>
            </a:r>
            <a:r>
              <a:rPr sz="2000" spc="-20" dirty="0"/>
              <a:t>for</a:t>
            </a:r>
            <a:r>
              <a:rPr sz="2000" spc="20" dirty="0"/>
              <a:t> </a:t>
            </a:r>
            <a:r>
              <a:rPr sz="2000" spc="-15" dirty="0"/>
              <a:t>LEO/MEO?</a:t>
            </a:r>
            <a:endParaRPr sz="2000" dirty="0"/>
          </a:p>
          <a:p>
            <a:pPr marL="950595" marR="467360" lvl="1" indent="-457200">
              <a:lnSpc>
                <a:spcPct val="100000"/>
              </a:lnSpc>
              <a:spcBef>
                <a:spcPts val="500"/>
              </a:spcBef>
              <a:buAutoNum type="arabicPeriod" startAt="2"/>
              <a:tabLst>
                <a:tab pos="949960" algn="l"/>
                <a:tab pos="949960" algn="l"/>
              </a:tabLst>
            </a:pPr>
            <a:r>
              <a:rPr sz="2000" spc="-15" dirty="0">
                <a:latin typeface="Calibri" panose="020F0502020204030204"/>
                <a:cs typeface="Calibri" panose="020F0502020204030204"/>
              </a:rPr>
              <a:t>For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LEO/MEO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based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problem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space,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there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any </a:t>
            </a:r>
            <a:r>
              <a:rPr lang="en-US" sz="2000" spc="-15" dirty="0">
                <a:latin typeface="Calibri" panose="020F0502020204030204"/>
                <a:cs typeface="Calibri" panose="020F0502020204030204"/>
              </a:rPr>
              <a:t>transportation layer optimizations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not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yet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considered by</a:t>
            </a:r>
            <a:r>
              <a:rPr sz="2000" spc="10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TCP/QUIC?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950595" marR="313690" lvl="1" indent="-457200">
              <a:lnSpc>
                <a:spcPct val="100000"/>
              </a:lnSpc>
              <a:spcBef>
                <a:spcPts val="500"/>
              </a:spcBef>
              <a:buAutoNum type="arabicPeriod" startAt="2"/>
              <a:tabLst>
                <a:tab pos="949960" algn="l"/>
                <a:tab pos="94996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The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relationship between what we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are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discussing now (i.e.,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LEO/MEO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based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transport)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and those 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exiting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IETF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WGs </a:t>
            </a:r>
            <a:r>
              <a:rPr sz="2000" spc="-10">
                <a:latin typeface="Calibri" panose="020F0502020204030204"/>
                <a:cs typeface="Calibri" panose="020F0502020204030204"/>
              </a:rPr>
              <a:t>(</a:t>
            </a:r>
            <a:r>
              <a:rPr lang="en-US" altLang="zh-CN" sz="2000" spc="-10">
                <a:latin typeface="Calibri" panose="020F0502020204030204"/>
                <a:cs typeface="Calibri" panose="020F0502020204030204"/>
              </a:rPr>
              <a:t>TVR,</a:t>
            </a:r>
            <a:r>
              <a:rPr lang="zh-CN" altLang="en-US" sz="20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DTN, CCWG, 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TIPTOP)? </a:t>
            </a:r>
            <a:r>
              <a:rPr sz="2000" dirty="0">
                <a:latin typeface="Calibri" panose="020F0502020204030204"/>
                <a:cs typeface="Calibri" panose="020F0502020204030204"/>
              </a:rPr>
              <a:t>–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adjacency</a:t>
            </a:r>
            <a:r>
              <a:rPr sz="20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relationship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950595" lvl="1" indent="-457200">
              <a:lnSpc>
                <a:spcPct val="100000"/>
              </a:lnSpc>
              <a:spcBef>
                <a:spcPts val="500"/>
              </a:spcBef>
              <a:buAutoNum type="arabicPeriod" startAt="2"/>
              <a:tabLst>
                <a:tab pos="949960" algn="l"/>
                <a:tab pos="949960" algn="l"/>
              </a:tabLst>
            </a:pPr>
            <a:r>
              <a:rPr sz="2000" spc="-5" dirty="0">
                <a:latin typeface="Calibri" panose="020F0502020204030204"/>
                <a:cs typeface="Calibri" panose="020F0502020204030204"/>
              </a:rPr>
              <a:t>Further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5" dirty="0">
                <a:latin typeface="Calibri" panose="020F0502020204030204"/>
                <a:cs typeface="Calibri" panose="020F0502020204030204"/>
              </a:rPr>
              <a:t>actions?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3894</Words>
  <Application>WPS 演示</Application>
  <PresentationFormat>宽屏</PresentationFormat>
  <Paragraphs>118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Calibri Light</vt:lpstr>
      <vt:lpstr>Calibri</vt:lpstr>
      <vt:lpstr>Times New Roman</vt:lpstr>
      <vt:lpstr>Arial</vt:lpstr>
      <vt:lpstr>微软雅黑</vt:lpstr>
      <vt:lpstr>Arial Unicode MS</vt:lpstr>
      <vt:lpstr>Office Theme</vt:lpstr>
      <vt:lpstr>PowerPoint 演示文稿</vt:lpstr>
      <vt:lpstr>Note Well</vt:lpstr>
      <vt:lpstr>Motivation</vt:lpstr>
      <vt:lpstr>Recap. of the Sidemeeting in IETF-122/123</vt:lpstr>
      <vt:lpstr>Agenda</vt:lpstr>
      <vt:lpstr>Questions List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fy</cp:lastModifiedBy>
  <cp:revision>11</cp:revision>
  <dcterms:created xsi:type="dcterms:W3CDTF">2026-03-13T02:30:00Z</dcterms:created>
  <dcterms:modified xsi:type="dcterms:W3CDTF">2026-03-15T07:59:48Z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2025-07-20T16:00:00Z</vt:filetime>
  </property>
  <property fmtid="{D5CDD505-2E9C-101B-9397-08002B2CF9AE}" pid="3" name="Creator">
    <vt:lpwstr>WPS 演示</vt:lpwstr>
  </property>
  <property fmtid="{D5CDD505-2E9C-101B-9397-08002B2CF9AE}" pid="4" name="LastSaved">
    <vt:filetime>2026-03-13T16:00:00Z</vt:filetime>
  </property>
  <property fmtid="{D5CDD505-2E9C-101B-9397-08002B2CF9AE}" pid="5" name="ICV">
    <vt:lpwstr>8408134A1871410C92B86BBE934DB205_12</vt:lpwstr>
  </property>
  <property fmtid="{D5CDD505-2E9C-101B-9397-08002B2CF9AE}" pid="6" name="KSOProductBuildVer">
    <vt:lpwstr>2052-12.8.2.21555</vt:lpwstr>
  </property>
</Properties>
</file>