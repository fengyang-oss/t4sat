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56" r:id="rId2"/>
    <p:sldId id="270" r:id="rId3"/>
    <p:sldId id="272" r:id="rId4"/>
    <p:sldId id="258" r:id="rId5"/>
    <p:sldId id="271" r:id="rId6"/>
    <p:sldId id="260"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nielle Claude" initials="DC" lastIdx="6" clrIdx="0"/>
  <p:cmAuthor id="7" name="184206967" initials="1" lastIdx="1" clrIdx="6"/>
  <p:cmAuthor id="1" name="Rob Hemmerich" initials="rh" lastIdx="50" clrIdx="1"/>
  <p:cmAuthor id="2" name="nhill" initials="n" lastIdx="20" clrIdx="2"/>
  <p:cmAuthor id="3" name="fafa" initials="f" lastIdx="2" clrIdx="1"/>
  <p:cmAuthor id="4" name="maoheng" initials="mh" lastIdx="13" clrIdx="3"/>
  <p:cmAuthor id="5" name="树明 聂" initials="树明" lastIdx="1" clrIdx="4"/>
  <p:cmAuthor id="6" name="administrator" initials="admin"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26" autoAdjust="0"/>
  </p:normalViewPr>
  <p:slideViewPr>
    <p:cSldViewPr snapToGrid="0" snapToObjects="1" showGuides="1">
      <p:cViewPr varScale="1">
        <p:scale>
          <a:sx n="107" d="100"/>
          <a:sy n="107" d="100"/>
        </p:scale>
        <p:origin x="63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770FE8-58DE-4A1E-BD78-344F750F6B4C}" type="datetimeFigureOut">
              <a:rPr lang="zh-CN" altLang="en-US" smtClean="0"/>
              <a:t>2026/3/13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84D0E0-B946-42B8-9D7A-E1EB52C368B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B84D0E0-B946-42B8-9D7A-E1EB52C368BF}"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文本框 3"/>
          <p:cNvSpPr txBox="1"/>
          <p:nvPr/>
        </p:nvSpPr>
        <p:spPr>
          <a:xfrm>
            <a:off x="555625" y="1520190"/>
            <a:ext cx="11268075" cy="1932965"/>
          </a:xfrm>
          <a:prstGeom prst="rect">
            <a:avLst/>
          </a:prstGeom>
          <a:noFill/>
        </p:spPr>
        <p:txBody>
          <a:bodyPr wrap="square" rtlCol="0" anchor="t">
            <a:spAutoFit/>
          </a:bodyPr>
          <a:lstStyle/>
          <a:p>
            <a:pPr algn="ctr">
              <a:lnSpc>
                <a:spcPct val="114000"/>
              </a:lnSpc>
            </a:pPr>
            <a:r>
              <a:rPr lang="en-US" altLang="zh-CN" sz="5400" spc="-10" dirty="0">
                <a:cs typeface="Calibri"/>
              </a:rPr>
              <a:t>Transport Layer OAM </a:t>
            </a:r>
            <a:r>
              <a:rPr lang="en-US" altLang="zh-CN" sz="5400" spc="-10">
                <a:cs typeface="Calibri"/>
              </a:rPr>
              <a:t>Protocol Considerations</a:t>
            </a:r>
            <a:endParaRPr lang="en-US" altLang="zh-CN" sz="5400" spc="-10" dirty="0">
              <a:cs typeface="Calibri"/>
            </a:endParaRPr>
          </a:p>
        </p:txBody>
      </p:sp>
      <p:sp>
        <p:nvSpPr>
          <p:cNvPr id="2" name="文本框 1"/>
          <p:cNvSpPr txBox="1"/>
          <p:nvPr/>
        </p:nvSpPr>
        <p:spPr>
          <a:xfrm>
            <a:off x="4286885" y="5343525"/>
            <a:ext cx="4163695" cy="460375"/>
          </a:xfrm>
          <a:prstGeom prst="rect">
            <a:avLst/>
          </a:prstGeom>
          <a:noFill/>
        </p:spPr>
        <p:txBody>
          <a:bodyPr wrap="square" rtlCol="0" anchor="t">
            <a:spAutoFit/>
          </a:bodyPr>
          <a:lstStyle/>
          <a:p>
            <a:pPr>
              <a:spcBef>
                <a:spcPts val="400"/>
              </a:spcBef>
            </a:pPr>
            <a:r>
              <a:rPr lang="en-US" altLang="zh-CN" sz="2400" dirty="0">
                <a:solidFill>
                  <a:schemeClr val="tx1"/>
                </a:solidFill>
                <a:latin typeface="Arial" panose="020B0604020202020204" pitchFamily="34" charset="0"/>
                <a:cs typeface="Arial" panose="020B0604020202020204" pitchFamily="34" charset="0"/>
                <a:sym typeface="+mn-ea"/>
              </a:rPr>
              <a:t>Feng Yang (China Mobile)</a:t>
            </a:r>
          </a:p>
        </p:txBody>
      </p:sp>
      <p:sp>
        <p:nvSpPr>
          <p:cNvPr id="7" name="矩形 6"/>
          <p:cNvSpPr/>
          <p:nvPr/>
        </p:nvSpPr>
        <p:spPr>
          <a:xfrm>
            <a:off x="4854834" y="6085230"/>
            <a:ext cx="2972552" cy="368300"/>
          </a:xfrm>
          <a:prstGeom prst="rect">
            <a:avLst/>
          </a:prstGeom>
        </p:spPr>
        <p:txBody>
          <a:bodyPr wrap="square">
            <a:spAutoFit/>
          </a:bodyPr>
          <a:lstStyle/>
          <a:p>
            <a:pPr algn="ctr"/>
            <a:r>
              <a:rPr lang="en-US" altLang="zh-CN" dirty="0">
                <a:latin typeface="Arial Unicode MS" panose="020B0604020202020204" charset="-122"/>
                <a:ea typeface="Arial Unicode MS" panose="020B0604020202020204" charset="-122"/>
                <a:cs typeface="Arial Unicode MS" panose="020B0604020202020204" charset="-122"/>
              </a:rPr>
              <a:t>IETF-125, March 2026</a:t>
            </a:r>
            <a:endParaRPr lang="zh-CN" altLang="en-US" dirty="0">
              <a:latin typeface="Arial Unicode MS" panose="020B0604020202020204" charset="-122"/>
              <a:ea typeface="Arial Unicode MS" panose="020B0604020202020204" charset="-122"/>
              <a:cs typeface="Arial Unicode MS" panose="020B0604020202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07AD41F5-9DA7-B4A8-4C59-9D311462BC07}"/>
              </a:ext>
            </a:extLst>
          </p:cNvPr>
          <p:cNvSpPr txBox="1"/>
          <p:nvPr/>
        </p:nvSpPr>
        <p:spPr>
          <a:xfrm>
            <a:off x="780288" y="692658"/>
            <a:ext cx="6136078" cy="482155"/>
          </a:xfrm>
          <a:prstGeom prst="rect">
            <a:avLst/>
          </a:prstGeom>
          <a:noFill/>
        </p:spPr>
        <p:txBody>
          <a:bodyPr wrap="none" lIns="0" tIns="0" rIns="0" bIns="0"/>
          <a:lstStyle/>
          <a:p>
            <a:pPr algn="just">
              <a:lnSpc>
                <a:spcPct val="112000"/>
              </a:lnSpc>
              <a:spcBef>
                <a:spcPts val="0"/>
              </a:spcBef>
              <a:spcAft>
                <a:spcPts val="0"/>
              </a:spcAft>
            </a:pPr>
            <a:r>
              <a:rPr lang="en-US" altLang="zh-CN" sz="4000" b="1" dirty="0">
                <a:solidFill>
                  <a:srgbClr val="071449"/>
                </a:solidFill>
                <a:latin typeface="Noto Sans SC" panose="020B0200000000000000" charset="-122"/>
                <a:ea typeface="Noto Sans SC" panose="020B0200000000000000" charset="-122"/>
              </a:rPr>
              <a:t>Background</a:t>
            </a:r>
            <a:endParaRPr sz="4000" b="1" i="0" dirty="0">
              <a:solidFill>
                <a:srgbClr val="071449"/>
              </a:solidFill>
              <a:latin typeface="Noto Sans SC" panose="020B0200000000000000" charset="-122"/>
              <a:ea typeface="Noto Sans SC" panose="020B0200000000000000" charset="-122"/>
            </a:endParaRPr>
          </a:p>
        </p:txBody>
      </p:sp>
      <p:sp>
        <p:nvSpPr>
          <p:cNvPr id="4" name="文本框 3">
            <a:extLst>
              <a:ext uri="{FF2B5EF4-FFF2-40B4-BE49-F238E27FC236}">
                <a16:creationId xmlns:a16="http://schemas.microsoft.com/office/drawing/2014/main" id="{59A66A0F-55E1-4D5A-F9AA-B428F24B77F6}"/>
              </a:ext>
            </a:extLst>
          </p:cNvPr>
          <p:cNvSpPr txBox="1"/>
          <p:nvPr/>
        </p:nvSpPr>
        <p:spPr>
          <a:xfrm>
            <a:off x="780288" y="1840126"/>
            <a:ext cx="10389140" cy="3820726"/>
          </a:xfrm>
          <a:prstGeom prst="rect">
            <a:avLst/>
          </a:prstGeom>
          <a:noFill/>
        </p:spPr>
        <p:txBody>
          <a:bodyPr wrap="square">
            <a:spAutoFit/>
          </a:bodyPr>
          <a:lstStyle/>
          <a:p>
            <a:pPr>
              <a:spcAft>
                <a:spcPts val="600"/>
              </a:spcAft>
            </a:pPr>
            <a:r>
              <a:rPr lang="en-US" altLang="zh-CN" sz="2400" b="1" dirty="0"/>
              <a:t>LEO satellite transport:</a:t>
            </a:r>
          </a:p>
          <a:p>
            <a:pPr marL="342900" indent="-342900">
              <a:spcAft>
                <a:spcPts val="600"/>
              </a:spcAft>
              <a:buFont typeface="Arial" panose="020B0604020202020204" pitchFamily="34" charset="0"/>
              <a:buChar char="•"/>
            </a:pPr>
            <a:r>
              <a:rPr lang="en-US" altLang="zh-CN" sz="2400" dirty="0"/>
              <a:t>Non-congestive latency variation and loss </a:t>
            </a:r>
          </a:p>
          <a:p>
            <a:pPr marL="342900" indent="-342900">
              <a:spcAft>
                <a:spcPts val="600"/>
              </a:spcAft>
              <a:buFont typeface="Arial" panose="020B0604020202020204" pitchFamily="34" charset="0"/>
              <a:buChar char="•"/>
            </a:pPr>
            <a:r>
              <a:rPr lang="en-US" altLang="zh-CN" sz="2400" dirty="0"/>
              <a:t>Time‑varying capacity</a:t>
            </a:r>
          </a:p>
          <a:p>
            <a:pPr marL="342900" indent="-342900">
              <a:spcAft>
                <a:spcPts val="600"/>
              </a:spcAft>
              <a:buFont typeface="Arial" panose="020B0604020202020204" pitchFamily="34" charset="0"/>
              <a:buChar char="•"/>
            </a:pPr>
            <a:r>
              <a:rPr lang="en-US" altLang="zh-CN" sz="2400" dirty="0"/>
              <a:t>Frequent route/beam handover</a:t>
            </a:r>
          </a:p>
          <a:p>
            <a:pPr>
              <a:spcAft>
                <a:spcPts val="600"/>
              </a:spcAft>
            </a:pPr>
            <a:endParaRPr lang="en-US" altLang="zh-CN" sz="2400" dirty="0"/>
          </a:p>
          <a:p>
            <a:pPr>
              <a:spcAft>
                <a:spcPts val="600"/>
              </a:spcAft>
            </a:pPr>
            <a:r>
              <a:rPr lang="en-US" altLang="zh-CN" sz="2400" b="1" dirty="0"/>
              <a:t>HTTP/3 transfers test over Starlink</a:t>
            </a:r>
            <a:r>
              <a:rPr lang="en-US" altLang="zh-CN" sz="2400" b="1" baseline="30000" dirty="0"/>
              <a:t>[1]</a:t>
            </a:r>
          </a:p>
          <a:p>
            <a:pPr marL="342900" indent="-342900">
              <a:lnSpc>
                <a:spcPct val="150000"/>
              </a:lnSpc>
              <a:buFont typeface="Arial" panose="020B0604020202020204" pitchFamily="34" charset="0"/>
              <a:buChar char="•"/>
            </a:pPr>
            <a:r>
              <a:rPr lang="en-US" altLang="zh-CN" sz="2400" dirty="0"/>
              <a:t>High packet loss:  </a:t>
            </a:r>
            <a:r>
              <a:rPr lang="en-US" altLang="zh-CN" sz="2400" b="1" dirty="0"/>
              <a:t>1.56%</a:t>
            </a:r>
            <a:r>
              <a:rPr lang="en-US" altLang="zh-CN" sz="2400" dirty="0"/>
              <a:t> for downloads and </a:t>
            </a:r>
            <a:r>
              <a:rPr lang="en-US" altLang="zh-CN" sz="2400" b="1" dirty="0"/>
              <a:t>1.96%</a:t>
            </a:r>
            <a:r>
              <a:rPr lang="en-US" altLang="zh-CN" sz="2400" dirty="0"/>
              <a:t> for uploads</a:t>
            </a:r>
          </a:p>
          <a:p>
            <a:pPr marL="342900" indent="-342900">
              <a:lnSpc>
                <a:spcPct val="150000"/>
              </a:lnSpc>
              <a:buFont typeface="Arial" panose="020B0604020202020204" pitchFamily="34" charset="0"/>
              <a:buChar char="•"/>
            </a:pPr>
            <a:r>
              <a:rPr lang="en-US" altLang="zh-CN" sz="2400" dirty="0"/>
              <a:t>High queuing delay:</a:t>
            </a:r>
            <a:r>
              <a:rPr lang="zh-CN" altLang="en-US" sz="2400" dirty="0"/>
              <a:t> </a:t>
            </a:r>
            <a:r>
              <a:rPr lang="en-US" altLang="zh-CN" sz="2400" dirty="0"/>
              <a:t>95</a:t>
            </a:r>
            <a:r>
              <a:rPr lang="en-US" altLang="zh-CN" sz="2400" baseline="30000" dirty="0"/>
              <a:t>th</a:t>
            </a:r>
            <a:r>
              <a:rPr lang="en-US" altLang="zh-CN" sz="2400" dirty="0"/>
              <a:t> RTT is </a:t>
            </a:r>
            <a:r>
              <a:rPr lang="en-US" altLang="zh-CN" sz="2400" b="1" dirty="0"/>
              <a:t>175ms</a:t>
            </a:r>
            <a:r>
              <a:rPr lang="en-US" altLang="zh-CN" sz="2400" dirty="0"/>
              <a:t> when propagation delay is only </a:t>
            </a:r>
            <a:r>
              <a:rPr lang="en-US" altLang="zh-CN" sz="2400" b="1" dirty="0"/>
              <a:t>20ms</a:t>
            </a:r>
          </a:p>
        </p:txBody>
      </p:sp>
      <p:sp>
        <p:nvSpPr>
          <p:cNvPr id="5" name="文本框 4">
            <a:extLst>
              <a:ext uri="{FF2B5EF4-FFF2-40B4-BE49-F238E27FC236}">
                <a16:creationId xmlns:a16="http://schemas.microsoft.com/office/drawing/2014/main" id="{9D7C9414-7771-9441-FB80-6774A9DDFD6D}"/>
              </a:ext>
            </a:extLst>
          </p:cNvPr>
          <p:cNvSpPr txBox="1"/>
          <p:nvPr/>
        </p:nvSpPr>
        <p:spPr>
          <a:xfrm>
            <a:off x="654184" y="6193410"/>
            <a:ext cx="11116283" cy="584775"/>
          </a:xfrm>
          <a:prstGeom prst="rect">
            <a:avLst/>
          </a:prstGeom>
          <a:noFill/>
        </p:spPr>
        <p:txBody>
          <a:bodyPr wrap="square">
            <a:spAutoFit/>
          </a:bodyPr>
          <a:lstStyle/>
          <a:p>
            <a:r>
              <a:rPr lang="en-US" altLang="zh-CN" sz="1600" dirty="0">
                <a:solidFill>
                  <a:srgbClr val="0E0E0E"/>
                </a:solidFill>
                <a:latin typeface="??"/>
              </a:rPr>
              <a:t>[1]MICHEL F, TREVISAN M, GIORDANO D, 2022. A first look at </a:t>
            </a:r>
            <a:r>
              <a:rPr lang="en-US" altLang="zh-CN" sz="1600" dirty="0" err="1">
                <a:solidFill>
                  <a:srgbClr val="0E0E0E"/>
                </a:solidFill>
                <a:latin typeface="??"/>
              </a:rPr>
              <a:t>starlink</a:t>
            </a:r>
            <a:r>
              <a:rPr lang="en-US" altLang="zh-CN" sz="1600" dirty="0">
                <a:solidFill>
                  <a:srgbClr val="0E0E0E"/>
                </a:solidFill>
                <a:latin typeface="??"/>
              </a:rPr>
              <a:t> performance. Proceedings of the 22nd ACM Internet Measurement Conference. ACM: 130-136.</a:t>
            </a:r>
            <a:endParaRPr lang="zh-CN" altLang="en-US" sz="1600" dirty="0"/>
          </a:p>
        </p:txBody>
      </p:sp>
    </p:spTree>
    <p:extLst>
      <p:ext uri="{BB962C8B-B14F-4D97-AF65-F5344CB8AC3E}">
        <p14:creationId xmlns:p14="http://schemas.microsoft.com/office/powerpoint/2010/main" val="3426415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4810911-4786-BAED-DA84-B4F518C6418B}"/>
              </a:ext>
            </a:extLst>
          </p:cNvPr>
          <p:cNvSpPr txBox="1"/>
          <p:nvPr/>
        </p:nvSpPr>
        <p:spPr>
          <a:xfrm>
            <a:off x="768486" y="1793791"/>
            <a:ext cx="9377464" cy="3339376"/>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2400" b="1" dirty="0">
                <a:solidFill>
                  <a:srgbClr val="18181B"/>
                </a:solidFill>
                <a:latin typeface="CircularXXWeb"/>
              </a:rPr>
              <a:t>TCP variations</a:t>
            </a:r>
            <a:r>
              <a:rPr lang="en-US" altLang="zh-CN" sz="2000" dirty="0">
                <a:solidFill>
                  <a:srgbClr val="18181B"/>
                </a:solidFill>
                <a:latin typeface="CircularXXWeb"/>
              </a:rPr>
              <a:t>: </a:t>
            </a:r>
            <a:r>
              <a:rPr lang="en-US" altLang="zh-CN" sz="2000" dirty="0" err="1">
                <a:solidFill>
                  <a:srgbClr val="18181B"/>
                </a:solidFill>
                <a:latin typeface="CircularXXWeb"/>
              </a:rPr>
              <a:t>Hybla</a:t>
            </a:r>
            <a:r>
              <a:rPr lang="en-US" altLang="zh-CN" sz="2000" dirty="0">
                <a:solidFill>
                  <a:srgbClr val="18181B"/>
                </a:solidFill>
                <a:latin typeface="CircularXXWeb"/>
              </a:rPr>
              <a:t>/CUBIC/BBR, etc.</a:t>
            </a:r>
          </a:p>
          <a:p>
            <a:pPr marL="742950" lvl="1" indent="-285750">
              <a:spcAft>
                <a:spcPts val="600"/>
              </a:spcAft>
              <a:buFont typeface="Arial" panose="020B0604020202020204" pitchFamily="34" charset="0"/>
              <a:buChar char="•"/>
            </a:pPr>
            <a:r>
              <a:rPr lang="en-US" altLang="zh-CN" sz="2000" dirty="0">
                <a:solidFill>
                  <a:srgbClr val="18181B"/>
                </a:solidFill>
                <a:latin typeface="CircularXXWeb"/>
              </a:rPr>
              <a:t>Bottleneck probe based on loss/delay/bandwidth</a:t>
            </a:r>
          </a:p>
          <a:p>
            <a:pPr marL="285750" indent="-285750" algn="l">
              <a:spcAft>
                <a:spcPts val="600"/>
              </a:spcAft>
              <a:buFont typeface="Arial" panose="020B0604020202020204" pitchFamily="34" charset="0"/>
              <a:buChar char="•"/>
            </a:pPr>
            <a:r>
              <a:rPr lang="en-US" altLang="zh-CN" sz="2400" b="1" dirty="0">
                <a:solidFill>
                  <a:srgbClr val="18181B"/>
                </a:solidFill>
                <a:latin typeface="CircularXXWeb"/>
              </a:rPr>
              <a:t>PEP / split connections</a:t>
            </a:r>
            <a:r>
              <a:rPr lang="en-US" altLang="zh-CN" sz="2000" b="0" i="0" dirty="0">
                <a:solidFill>
                  <a:srgbClr val="18181B"/>
                </a:solidFill>
                <a:effectLst/>
                <a:latin typeface="CircularXXWeb"/>
              </a:rPr>
              <a:t>:</a:t>
            </a:r>
          </a:p>
          <a:p>
            <a:pPr marL="742950" lvl="1" indent="-285750">
              <a:spcAft>
                <a:spcPts val="600"/>
              </a:spcAft>
              <a:buFont typeface="Arial" panose="020B0604020202020204" pitchFamily="34" charset="0"/>
              <a:buChar char="•"/>
            </a:pPr>
            <a:r>
              <a:rPr lang="en-US" altLang="zh-CN" sz="2000" dirty="0"/>
              <a:t>Splits TCP at satellite edges to hide long RTT</a:t>
            </a:r>
            <a:endParaRPr lang="en-US" altLang="zh-CN" sz="2000" b="0" i="0" dirty="0">
              <a:solidFill>
                <a:srgbClr val="18181B"/>
              </a:solidFill>
              <a:effectLst/>
              <a:latin typeface="CircularXXWeb"/>
            </a:endParaRPr>
          </a:p>
          <a:p>
            <a:pPr marL="285750" indent="-285750" algn="l">
              <a:spcAft>
                <a:spcPts val="600"/>
              </a:spcAft>
              <a:buFont typeface="Arial" panose="020B0604020202020204" pitchFamily="34" charset="0"/>
              <a:buChar char="•"/>
            </a:pPr>
            <a:r>
              <a:rPr lang="en-US" altLang="zh-CN" sz="2400" b="1" dirty="0">
                <a:solidFill>
                  <a:srgbClr val="18181B"/>
                </a:solidFill>
                <a:latin typeface="CircularXXWeb"/>
              </a:rPr>
              <a:t>Explicit signal</a:t>
            </a:r>
            <a:r>
              <a:rPr lang="en-US" altLang="zh-CN" sz="2000" b="0" i="0" dirty="0">
                <a:solidFill>
                  <a:srgbClr val="18181B"/>
                </a:solidFill>
                <a:effectLst/>
                <a:latin typeface="CircularXXWeb"/>
              </a:rPr>
              <a:t>: </a:t>
            </a:r>
          </a:p>
          <a:p>
            <a:pPr marL="742950" lvl="1" indent="-285750">
              <a:spcAft>
                <a:spcPts val="600"/>
              </a:spcAft>
              <a:buFont typeface="Arial" panose="020B0604020202020204" pitchFamily="34" charset="0"/>
              <a:buChar char="•"/>
            </a:pPr>
            <a:r>
              <a:rPr lang="en-US" altLang="zh-CN" sz="2000" dirty="0"/>
              <a:t>link‑layer/physical info (fade, resource allocation, handover schedule) notification</a:t>
            </a:r>
            <a:endParaRPr lang="en-US" altLang="zh-CN" sz="2000" b="0" i="0" dirty="0">
              <a:solidFill>
                <a:srgbClr val="18181B"/>
              </a:solidFill>
              <a:effectLst/>
              <a:latin typeface="CircularXXWeb"/>
            </a:endParaRPr>
          </a:p>
          <a:p>
            <a:pPr marL="285750" indent="-285750">
              <a:spcAft>
                <a:spcPts val="600"/>
              </a:spcAft>
              <a:buFont typeface="Arial" panose="020B0604020202020204" pitchFamily="34" charset="0"/>
              <a:buChar char="•"/>
            </a:pPr>
            <a:r>
              <a:rPr lang="en-US" altLang="zh-CN" sz="2400" b="1" dirty="0">
                <a:solidFill>
                  <a:srgbClr val="18181B"/>
                </a:solidFill>
                <a:latin typeface="CircularXXWeb"/>
              </a:rPr>
              <a:t>Multi-Session</a:t>
            </a:r>
            <a:r>
              <a:rPr lang="en-US" altLang="zh-CN" sz="2000" dirty="0">
                <a:solidFill>
                  <a:srgbClr val="18181B"/>
                </a:solidFill>
                <a:latin typeface="CircularXXWeb"/>
              </a:rPr>
              <a:t>:</a:t>
            </a:r>
          </a:p>
          <a:p>
            <a:pPr marL="742950" lvl="1" indent="-285750">
              <a:spcAft>
                <a:spcPts val="600"/>
              </a:spcAft>
              <a:buFont typeface="Arial" panose="020B0604020202020204" pitchFamily="34" charset="0"/>
              <a:buChar char="•"/>
            </a:pPr>
            <a:r>
              <a:rPr lang="en-US" altLang="zh-CN" sz="2000" dirty="0"/>
              <a:t>Uses several session concurrently to</a:t>
            </a:r>
            <a:r>
              <a:rPr lang="zh-CN" altLang="en-US" sz="2000" dirty="0"/>
              <a:t> </a:t>
            </a:r>
            <a:r>
              <a:rPr lang="en-US" altLang="zh-CN" sz="2000" dirty="0"/>
              <a:t>f</a:t>
            </a:r>
            <a:r>
              <a:rPr lang="en-US" altLang="zh-CN" sz="2000" dirty="0">
                <a:solidFill>
                  <a:srgbClr val="18181B"/>
                </a:solidFill>
                <a:latin typeface="CircularXXWeb"/>
              </a:rPr>
              <a:t>ill up bandwidth</a:t>
            </a:r>
          </a:p>
        </p:txBody>
      </p:sp>
      <p:sp>
        <p:nvSpPr>
          <p:cNvPr id="4" name="TextBox 5">
            <a:extLst>
              <a:ext uri="{FF2B5EF4-FFF2-40B4-BE49-F238E27FC236}">
                <a16:creationId xmlns:a16="http://schemas.microsoft.com/office/drawing/2014/main" id="{F8F5E643-6164-515D-1EC1-3B314B379576}"/>
              </a:ext>
            </a:extLst>
          </p:cNvPr>
          <p:cNvSpPr txBox="1"/>
          <p:nvPr/>
        </p:nvSpPr>
        <p:spPr>
          <a:xfrm>
            <a:off x="780288" y="692658"/>
            <a:ext cx="6136078" cy="482155"/>
          </a:xfrm>
          <a:prstGeom prst="rect">
            <a:avLst/>
          </a:prstGeom>
          <a:noFill/>
        </p:spPr>
        <p:txBody>
          <a:bodyPr wrap="none" lIns="0" tIns="0" rIns="0" bIns="0"/>
          <a:lstStyle/>
          <a:p>
            <a:pPr algn="just">
              <a:lnSpc>
                <a:spcPct val="112000"/>
              </a:lnSpc>
              <a:spcBef>
                <a:spcPts val="0"/>
              </a:spcBef>
              <a:spcAft>
                <a:spcPts val="0"/>
              </a:spcAft>
            </a:pPr>
            <a:r>
              <a:rPr lang="en-US" altLang="zh-CN" sz="4000" b="1" dirty="0">
                <a:solidFill>
                  <a:srgbClr val="071449"/>
                </a:solidFill>
                <a:latin typeface="Noto Sans SC" panose="020B0200000000000000" charset="-122"/>
                <a:ea typeface="Noto Sans SC" panose="020B0200000000000000" charset="-122"/>
              </a:rPr>
              <a:t>Existing Work</a:t>
            </a:r>
            <a:endParaRPr sz="4000" b="1" dirty="0">
              <a:solidFill>
                <a:srgbClr val="071449"/>
              </a:solidFill>
              <a:latin typeface="Noto Sans SC" panose="020B0200000000000000" charset="-122"/>
              <a:ea typeface="Noto Sans SC" panose="020B0200000000000000" charset="-122"/>
            </a:endParaRPr>
          </a:p>
        </p:txBody>
      </p:sp>
    </p:spTree>
    <p:extLst>
      <p:ext uri="{BB962C8B-B14F-4D97-AF65-F5344CB8AC3E}">
        <p14:creationId xmlns:p14="http://schemas.microsoft.com/office/powerpoint/2010/main" val="2331503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TextBox 5"/>
          <p:cNvSpPr txBox="1"/>
          <p:nvPr/>
        </p:nvSpPr>
        <p:spPr>
          <a:xfrm>
            <a:off x="660844" y="782288"/>
            <a:ext cx="6138790" cy="578643"/>
          </a:xfrm>
          <a:prstGeom prst="rect">
            <a:avLst/>
          </a:prstGeom>
          <a:noFill/>
        </p:spPr>
        <p:txBody>
          <a:bodyPr wrap="none" lIns="0" tIns="0" rIns="0" bIns="0"/>
          <a:lstStyle/>
          <a:p>
            <a:pPr algn="just">
              <a:lnSpc>
                <a:spcPct val="110000"/>
              </a:lnSpc>
            </a:pPr>
            <a:r>
              <a:rPr lang="en-US" altLang="zh-CN" sz="4000" b="1" dirty="0">
                <a:solidFill>
                  <a:srgbClr val="05174D"/>
                </a:solidFill>
                <a:latin typeface="Noto Sans SC" panose="020B0200000000000000" charset="-122"/>
                <a:ea typeface="Noto Sans SC" panose="020B0200000000000000" charset="-122"/>
              </a:rPr>
              <a:t>Problem Statement</a:t>
            </a:r>
          </a:p>
          <a:p>
            <a:pPr algn="just">
              <a:lnSpc>
                <a:spcPct val="110000"/>
              </a:lnSpc>
              <a:spcBef>
                <a:spcPts val="0"/>
              </a:spcBef>
              <a:spcAft>
                <a:spcPts val="0"/>
              </a:spcAft>
            </a:pPr>
            <a:endParaRPr sz="4000" b="1" i="0" dirty="0">
              <a:solidFill>
                <a:srgbClr val="05174D"/>
              </a:solidFill>
              <a:latin typeface="Noto Sans SC" panose="020B0200000000000000" charset="-122"/>
              <a:ea typeface="Noto Sans SC" panose="020B0200000000000000" charset="-122"/>
            </a:endParaRPr>
          </a:p>
        </p:txBody>
      </p:sp>
      <p:sp>
        <p:nvSpPr>
          <p:cNvPr id="13" name="灯片编号占位符 12"/>
          <p:cNvSpPr>
            <a:spLocks noGrp="1"/>
          </p:cNvSpPr>
          <p:nvPr>
            <p:ph type="sldNum" sz="quarter" idx="12"/>
          </p:nvPr>
        </p:nvSpPr>
        <p:spPr>
          <a:xfrm>
            <a:off x="10058400" y="6492875"/>
            <a:ext cx="2133600" cy="365125"/>
          </a:xfrm>
        </p:spPr>
        <p:txBody>
          <a:bodyPr/>
          <a:lstStyle/>
          <a:p>
            <a:fld id="{C1FF6DA9-008F-8B48-92A6-B652298478BF}" type="slidenum">
              <a:rPr lang="en-US" smtClean="0"/>
              <a:t>4</a:t>
            </a:fld>
            <a:endParaRPr lang="en-US"/>
          </a:p>
        </p:txBody>
      </p:sp>
      <p:sp>
        <p:nvSpPr>
          <p:cNvPr id="3" name="TextBox 9"/>
          <p:cNvSpPr txBox="1"/>
          <p:nvPr/>
        </p:nvSpPr>
        <p:spPr>
          <a:xfrm>
            <a:off x="874015" y="1963271"/>
            <a:ext cx="10458708" cy="4365811"/>
          </a:xfrm>
          <a:prstGeom prst="rect">
            <a:avLst/>
          </a:prstGeom>
          <a:noFill/>
        </p:spPr>
        <p:txBody>
          <a:bodyPr wrap="square" lIns="0" tIns="0" rIns="0" bIns="0"/>
          <a:lstStyle>
            <a:defPPr>
              <a:defRPr lang="en-US"/>
            </a:defPPr>
            <a:lvl1pPr algn="just">
              <a:spcBef>
                <a:spcPts val="0"/>
              </a:spcBef>
              <a:spcAft>
                <a:spcPts val="0"/>
              </a:spcAft>
              <a:defRPr/>
            </a:lvl1pPr>
          </a:lstStyle>
          <a:p>
            <a:r>
              <a:rPr lang="en-US" altLang="zh-CN" dirty="0"/>
              <a:t>In satellite networks, handovers between satellites and beams occur very frequently—Starlink, for instance, performs a handover approximately every 15 seconds. </a:t>
            </a:r>
          </a:p>
          <a:p>
            <a:endParaRPr lang="en-US" altLang="zh-CN" dirty="0"/>
          </a:p>
          <a:p>
            <a:r>
              <a:rPr lang="en-US" altLang="zh-CN" dirty="0"/>
              <a:t>Consequence is it will greatly impact transport protocol performance,</a:t>
            </a:r>
            <a:r>
              <a:rPr lang="zh-CN" altLang="en-US" dirty="0"/>
              <a:t> </a:t>
            </a:r>
            <a:r>
              <a:rPr lang="en-US" altLang="zh-CN" dirty="0"/>
              <a:t>and</a:t>
            </a:r>
            <a:r>
              <a:rPr lang="zh-CN" altLang="en-US" dirty="0"/>
              <a:t> </a:t>
            </a:r>
            <a:r>
              <a:rPr lang="en-US" altLang="zh-CN" dirty="0"/>
              <a:t>also waste</a:t>
            </a:r>
            <a:r>
              <a:rPr lang="zh-CN" altLang="en-US" dirty="0"/>
              <a:t> </a:t>
            </a:r>
            <a:r>
              <a:rPr lang="en-US" altLang="zh-CN" dirty="0"/>
              <a:t>of</a:t>
            </a:r>
            <a:r>
              <a:rPr lang="zh-CN" altLang="en-US" dirty="0"/>
              <a:t> </a:t>
            </a:r>
            <a:r>
              <a:rPr lang="en-US" altLang="zh-CN" dirty="0"/>
              <a:t>bandwidth.</a:t>
            </a:r>
          </a:p>
          <a:p>
            <a:pPr marL="285750" indent="-285750">
              <a:buFont typeface="Arial" panose="020B0604020202020204" pitchFamily="34" charset="0"/>
              <a:buChar char="•"/>
            </a:pPr>
            <a:r>
              <a:rPr lang="en-US" altLang="zh-CN" dirty="0"/>
              <a:t>If a handover causes a burst of packet losses, TCP would mistakenly interpret this as network congestion and revert from Congestion Avoidance back to Slow Start, then to ramp up again through Slow Start into Congestion Avoidance. </a:t>
            </a:r>
          </a:p>
          <a:p>
            <a:endParaRPr lang="en-US" altLang="zh-CN" dirty="0"/>
          </a:p>
          <a:p>
            <a:r>
              <a:rPr lang="en-US" altLang="zh-CN" dirty="0"/>
              <a:t>Transport protocol performance can be enhanced with kind of OAM capability:</a:t>
            </a:r>
          </a:p>
          <a:p>
            <a:pPr marL="285750" indent="-285750">
              <a:buFont typeface="Arial" panose="020B0604020202020204" pitchFamily="34" charset="0"/>
              <a:buChar char="•"/>
            </a:pPr>
            <a:r>
              <a:rPr lang="en-US" altLang="zh-CN" dirty="0"/>
              <a:t>Detect changes in delay, packet loss, </a:t>
            </a:r>
            <a:r>
              <a:rPr lang="en-US" altLang="zh-CN" dirty="0" err="1"/>
              <a:t>etc</a:t>
            </a:r>
            <a:r>
              <a:rPr lang="en-US" altLang="zh-CN" dirty="0"/>
              <a:t>; </a:t>
            </a:r>
          </a:p>
          <a:p>
            <a:pPr marL="742950" lvl="1" indent="-285750">
              <a:buFont typeface="Arial" panose="020B0604020202020204" pitchFamily="34" charset="0"/>
              <a:buChar char="•"/>
            </a:pPr>
            <a:r>
              <a:rPr lang="en-US" altLang="zh-CN" dirty="0"/>
              <a:t>Rationale: cumulative/delayed ACK introduces more latency in the control loop. </a:t>
            </a:r>
          </a:p>
          <a:p>
            <a:pPr marL="285750" indent="-285750">
              <a:buFont typeface="Arial" panose="020B0604020202020204" pitchFamily="34" charset="0"/>
              <a:buChar char="•"/>
            </a:pPr>
            <a:r>
              <a:rPr lang="en-US" altLang="zh-CN" dirty="0"/>
              <a:t>Detect connectivity break/recovery time;</a:t>
            </a:r>
          </a:p>
          <a:p>
            <a:pPr marL="742950" lvl="1" indent="-285750">
              <a:buFont typeface="Arial" panose="020B0604020202020204" pitchFamily="34" charset="0"/>
              <a:buChar char="•"/>
            </a:pPr>
            <a:r>
              <a:rPr lang="en-US" altLang="zh-CN" dirty="0"/>
              <a:t>Rationale: differentiate loss reason either by congestion or by handover.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117298F5-3EEE-E007-2D67-3679758D987C}"/>
              </a:ext>
            </a:extLst>
          </p:cNvPr>
          <p:cNvSpPr txBox="1"/>
          <p:nvPr/>
        </p:nvSpPr>
        <p:spPr>
          <a:xfrm>
            <a:off x="660844" y="782288"/>
            <a:ext cx="9272050" cy="578643"/>
          </a:xfrm>
          <a:prstGeom prst="rect">
            <a:avLst/>
          </a:prstGeom>
          <a:noFill/>
        </p:spPr>
        <p:txBody>
          <a:bodyPr wrap="none" lIns="0" tIns="0" rIns="0" bIns="0"/>
          <a:lstStyle/>
          <a:p>
            <a:pPr algn="just">
              <a:lnSpc>
                <a:spcPct val="110000"/>
              </a:lnSpc>
              <a:spcBef>
                <a:spcPts val="0"/>
              </a:spcBef>
              <a:spcAft>
                <a:spcPts val="0"/>
              </a:spcAft>
            </a:pPr>
            <a:r>
              <a:rPr lang="en-US" sz="4000" b="1" i="0">
                <a:solidFill>
                  <a:srgbClr val="05174D"/>
                </a:solidFill>
                <a:latin typeface="Noto Sans SC" panose="020B0200000000000000" charset="-122"/>
                <a:ea typeface="Noto Sans SC" panose="020B0200000000000000" charset="-122"/>
              </a:rPr>
              <a:t>Transport </a:t>
            </a:r>
            <a:r>
              <a:rPr lang="en-US" sz="4000" b="1" i="0" dirty="0">
                <a:solidFill>
                  <a:srgbClr val="05174D"/>
                </a:solidFill>
                <a:latin typeface="Noto Sans SC" panose="020B0200000000000000" charset="-122"/>
                <a:ea typeface="Noto Sans SC" panose="020B0200000000000000" charset="-122"/>
              </a:rPr>
              <a:t>Protocol OAM</a:t>
            </a:r>
            <a:endParaRPr sz="4000" b="1" i="0" dirty="0">
              <a:solidFill>
                <a:srgbClr val="05174D"/>
              </a:solidFill>
              <a:latin typeface="Noto Sans SC" panose="020B0200000000000000" charset="-122"/>
              <a:ea typeface="Noto Sans SC" panose="020B0200000000000000" charset="-122"/>
            </a:endParaRPr>
          </a:p>
        </p:txBody>
      </p:sp>
      <p:sp>
        <p:nvSpPr>
          <p:cNvPr id="35" name="文本框 34">
            <a:extLst>
              <a:ext uri="{FF2B5EF4-FFF2-40B4-BE49-F238E27FC236}">
                <a16:creationId xmlns:a16="http://schemas.microsoft.com/office/drawing/2014/main" id="{36A1C4EA-54F1-59C5-E316-6A5885C1B78F}"/>
              </a:ext>
            </a:extLst>
          </p:cNvPr>
          <p:cNvSpPr txBox="1"/>
          <p:nvPr/>
        </p:nvSpPr>
        <p:spPr>
          <a:xfrm>
            <a:off x="660844" y="1980753"/>
            <a:ext cx="10892981" cy="3508653"/>
          </a:xfrm>
          <a:prstGeom prst="rect">
            <a:avLst/>
          </a:prstGeom>
          <a:noFill/>
        </p:spPr>
        <p:txBody>
          <a:bodyPr wrap="square">
            <a:spAutoFit/>
          </a:bodyPr>
          <a:lstStyle/>
          <a:p>
            <a:pPr>
              <a:spcAft>
                <a:spcPts val="600"/>
              </a:spcAft>
            </a:pPr>
            <a:r>
              <a:rPr lang="en-US" altLang="zh-CN" sz="2400" b="1" dirty="0"/>
              <a:t>Some options:</a:t>
            </a:r>
          </a:p>
          <a:p>
            <a:pPr marL="457200" indent="-457200">
              <a:spcAft>
                <a:spcPts val="600"/>
              </a:spcAft>
              <a:buAutoNum type="arabicPeriod"/>
            </a:pPr>
            <a:r>
              <a:rPr lang="en-US" altLang="zh-CN" sz="2400" b="1" dirty="0"/>
              <a:t>Per-session OAM: </a:t>
            </a:r>
          </a:p>
          <a:p>
            <a:pPr marL="914400" lvl="1" indent="-457200">
              <a:spcAft>
                <a:spcPts val="600"/>
              </a:spcAft>
              <a:buFont typeface="Arial" panose="020B0604020202020204" pitchFamily="34" charset="0"/>
              <a:buChar char="•"/>
            </a:pPr>
            <a:r>
              <a:rPr lang="en-US" altLang="zh-CN" sz="2400" dirty="0"/>
              <a:t>new message/flag/option for TCP/QUIC</a:t>
            </a:r>
          </a:p>
          <a:p>
            <a:pPr marL="914400" lvl="1" indent="-457200">
              <a:spcAft>
                <a:spcPts val="600"/>
              </a:spcAft>
              <a:buFont typeface="Arial" panose="020B0604020202020204" pitchFamily="34" charset="0"/>
              <a:buChar char="•"/>
            </a:pPr>
            <a:r>
              <a:rPr lang="en-US" altLang="zh-CN" sz="2400" dirty="0"/>
              <a:t>e.g. a new flag in TCP requesting immediate ACK</a:t>
            </a:r>
          </a:p>
          <a:p>
            <a:pPr marL="457200" indent="-457200">
              <a:spcAft>
                <a:spcPts val="600"/>
              </a:spcAft>
              <a:buAutoNum type="arabicPeriod"/>
            </a:pPr>
            <a:r>
              <a:rPr lang="en-US" altLang="zh-CN" sz="2400" b="1" dirty="0"/>
              <a:t>Multi-session shared OAM: </a:t>
            </a:r>
          </a:p>
          <a:p>
            <a:pPr marL="914400" lvl="1" indent="-457200">
              <a:spcAft>
                <a:spcPts val="600"/>
              </a:spcAft>
              <a:buFont typeface="Arial" panose="020B0604020202020204" pitchFamily="34" charset="0"/>
              <a:buChar char="•"/>
            </a:pPr>
            <a:r>
              <a:rPr lang="en-US" altLang="zh-CN" sz="2400" dirty="0"/>
              <a:t>IP layer connectivity detection, not impact by WRED/Congestion Control. </a:t>
            </a:r>
          </a:p>
          <a:p>
            <a:pPr marL="914400" lvl="1" indent="-457200">
              <a:spcAft>
                <a:spcPts val="600"/>
              </a:spcAft>
              <a:buFont typeface="Arial" panose="020B0604020202020204" pitchFamily="34" charset="0"/>
              <a:buChar char="•"/>
            </a:pPr>
            <a:r>
              <a:rPr lang="en-US" altLang="zh-CN" sz="2400" dirty="0"/>
              <a:t>e.g.</a:t>
            </a:r>
            <a:r>
              <a:rPr lang="zh-CN" altLang="en-US" sz="2400" dirty="0"/>
              <a:t> </a:t>
            </a:r>
            <a:r>
              <a:rPr lang="en-US" altLang="zh-CN" sz="2400" dirty="0"/>
              <a:t>BFD in echo or 2-way mode, transport layer can track connectivity state change as what BGP does.</a:t>
            </a:r>
          </a:p>
        </p:txBody>
      </p:sp>
    </p:spTree>
    <p:extLst>
      <p:ext uri="{BB962C8B-B14F-4D97-AF65-F5344CB8AC3E}">
        <p14:creationId xmlns:p14="http://schemas.microsoft.com/office/powerpoint/2010/main" val="4066483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 name="TextBox 8"/>
          <p:cNvSpPr txBox="1"/>
          <p:nvPr/>
        </p:nvSpPr>
        <p:spPr>
          <a:xfrm>
            <a:off x="636746" y="573308"/>
            <a:ext cx="5343140" cy="815653"/>
          </a:xfrm>
          <a:prstGeom prst="rect">
            <a:avLst/>
          </a:prstGeom>
          <a:noFill/>
        </p:spPr>
        <p:txBody>
          <a:bodyPr wrap="none" lIns="0" tIns="0" rIns="0" bIns="0"/>
          <a:lstStyle/>
          <a:p>
            <a:pPr algn="just">
              <a:lnSpc>
                <a:spcPct val="120000"/>
              </a:lnSpc>
              <a:spcBef>
                <a:spcPts val="0"/>
              </a:spcBef>
              <a:spcAft>
                <a:spcPts val="0"/>
              </a:spcAft>
            </a:pPr>
            <a:r>
              <a:rPr lang="en-US" sz="4000" b="1" dirty="0">
                <a:solidFill>
                  <a:srgbClr val="05174D"/>
                </a:solidFill>
                <a:latin typeface="Noto Sans SC" panose="020B0200000000000000" charset="-122"/>
                <a:ea typeface="Noto Sans SC" panose="020B0200000000000000" charset="-122"/>
              </a:rPr>
              <a:t>Use Cases</a:t>
            </a:r>
            <a:endParaRPr sz="4000" b="1" dirty="0">
              <a:solidFill>
                <a:srgbClr val="05174D"/>
              </a:solidFill>
              <a:latin typeface="Noto Sans SC" panose="020B0200000000000000" charset="-122"/>
              <a:ea typeface="Noto Sans SC" panose="020B0200000000000000" charset="-122"/>
            </a:endParaRPr>
          </a:p>
        </p:txBody>
      </p:sp>
      <p:sp>
        <p:nvSpPr>
          <p:cNvPr id="16" name="文本框 15">
            <a:extLst>
              <a:ext uri="{FF2B5EF4-FFF2-40B4-BE49-F238E27FC236}">
                <a16:creationId xmlns:a16="http://schemas.microsoft.com/office/drawing/2014/main" id="{92DEE1A0-3B19-A149-DF85-E01036FD494D}"/>
              </a:ext>
            </a:extLst>
          </p:cNvPr>
          <p:cNvSpPr txBox="1"/>
          <p:nvPr/>
        </p:nvSpPr>
        <p:spPr>
          <a:xfrm>
            <a:off x="6232025" y="2163623"/>
            <a:ext cx="5959975" cy="2893100"/>
          </a:xfrm>
          <a:prstGeom prst="rect">
            <a:avLst/>
          </a:prstGeom>
          <a:noFill/>
        </p:spPr>
        <p:txBody>
          <a:bodyPr wrap="square">
            <a:spAutoFit/>
          </a:bodyPr>
          <a:lstStyle/>
          <a:p>
            <a:pPr marL="342900" indent="-342900">
              <a:spcAft>
                <a:spcPts val="600"/>
              </a:spcAft>
              <a:buFont typeface="Arial" panose="020B0604020202020204" pitchFamily="34" charset="0"/>
              <a:buChar char="•"/>
            </a:pPr>
            <a:r>
              <a:rPr lang="en-US" altLang="zh-CN" b="1" dirty="0"/>
              <a:t>Per-session OAM: </a:t>
            </a:r>
            <a:r>
              <a:rPr lang="en-US" altLang="zh-CN" dirty="0"/>
              <a:t>new flag in TCP requests immediate ACK in </a:t>
            </a:r>
            <a:r>
              <a:rPr lang="en-US" altLang="zh-CN" dirty="0" err="1"/>
              <a:t>cwnd</a:t>
            </a:r>
            <a:r>
              <a:rPr lang="en-US" altLang="zh-CN" dirty="0"/>
              <a:t> increasing window, which will be good for fast convergence of </a:t>
            </a:r>
            <a:r>
              <a:rPr lang="en-US" altLang="zh-CN" dirty="0" err="1"/>
              <a:t>cwnd</a:t>
            </a:r>
            <a:r>
              <a:rPr lang="en-US" altLang="zh-CN" sz="1800" b="1" dirty="0"/>
              <a:t>.</a:t>
            </a:r>
          </a:p>
          <a:p>
            <a:pPr marL="342900" indent="-342900">
              <a:spcAft>
                <a:spcPts val="600"/>
              </a:spcAft>
              <a:buFont typeface="Arial" panose="020B0604020202020204" pitchFamily="34" charset="0"/>
              <a:buChar char="•"/>
            </a:pPr>
            <a:endParaRPr lang="en-US" altLang="zh-CN" b="1" dirty="0"/>
          </a:p>
          <a:p>
            <a:pPr marL="342900" indent="-342900">
              <a:spcAft>
                <a:spcPts val="600"/>
              </a:spcAft>
              <a:buFont typeface="Arial" panose="020B0604020202020204" pitchFamily="34" charset="0"/>
              <a:buChar char="•"/>
            </a:pPr>
            <a:r>
              <a:rPr lang="en-US" altLang="zh-CN" b="1" dirty="0"/>
              <a:t>Multi-session shared OAM: </a:t>
            </a:r>
            <a:r>
              <a:rPr lang="en-US" altLang="zh-CN" dirty="0"/>
              <a:t>using BFD to detect beam/satellite handover.  TCP tracks state change of BFD. </a:t>
            </a:r>
          </a:p>
          <a:p>
            <a:pPr marL="800100" lvl="1" indent="-342900">
              <a:spcAft>
                <a:spcPts val="600"/>
              </a:spcAft>
              <a:buFont typeface="Arial" panose="020B0604020202020204" pitchFamily="34" charset="0"/>
              <a:buChar char="•"/>
            </a:pPr>
            <a:r>
              <a:rPr lang="en-US" altLang="zh-CN" dirty="0"/>
              <a:t>When BFD down, stop TX packets and freeze </a:t>
            </a:r>
            <a:r>
              <a:rPr lang="en-US" altLang="zh-CN" dirty="0" err="1"/>
              <a:t>ssthresh</a:t>
            </a:r>
            <a:r>
              <a:rPr lang="en-US" altLang="zh-CN" dirty="0"/>
              <a:t>/</a:t>
            </a:r>
            <a:r>
              <a:rPr lang="en-US" altLang="zh-CN" dirty="0" err="1"/>
              <a:t>cwnd</a:t>
            </a:r>
            <a:r>
              <a:rPr lang="en-US" altLang="zh-CN" dirty="0"/>
              <a:t>/</a:t>
            </a:r>
            <a:r>
              <a:rPr lang="en-US" altLang="zh-CN" dirty="0" err="1"/>
              <a:t>rtt</a:t>
            </a:r>
            <a:r>
              <a:rPr lang="en-US" altLang="zh-CN" dirty="0"/>
              <a:t>.</a:t>
            </a:r>
          </a:p>
          <a:p>
            <a:pPr marL="800100" lvl="1" indent="-342900">
              <a:spcAft>
                <a:spcPts val="600"/>
              </a:spcAft>
              <a:buFont typeface="Arial" panose="020B0604020202020204" pitchFamily="34" charset="0"/>
              <a:buChar char="•"/>
            </a:pPr>
            <a:r>
              <a:rPr lang="en-US" altLang="zh-CN" dirty="0"/>
              <a:t>When BFD up, recover the frozen variables.</a:t>
            </a:r>
          </a:p>
        </p:txBody>
      </p:sp>
      <p:grpSp>
        <p:nvGrpSpPr>
          <p:cNvPr id="1082" name="组合 1081">
            <a:extLst>
              <a:ext uri="{FF2B5EF4-FFF2-40B4-BE49-F238E27FC236}">
                <a16:creationId xmlns:a16="http://schemas.microsoft.com/office/drawing/2014/main" id="{8A5D72A5-A179-9518-D5EB-9A438F0CFF00}"/>
              </a:ext>
            </a:extLst>
          </p:cNvPr>
          <p:cNvGrpSpPr/>
          <p:nvPr/>
        </p:nvGrpSpPr>
        <p:grpSpPr>
          <a:xfrm>
            <a:off x="2056851" y="4984440"/>
            <a:ext cx="2071223" cy="258651"/>
            <a:chOff x="2056851" y="4984440"/>
            <a:chExt cx="2071223" cy="258651"/>
          </a:xfrm>
        </p:grpSpPr>
        <p:cxnSp>
          <p:nvCxnSpPr>
            <p:cNvPr id="21" name="直接连接符 20">
              <a:extLst>
                <a:ext uri="{FF2B5EF4-FFF2-40B4-BE49-F238E27FC236}">
                  <a16:creationId xmlns:a16="http://schemas.microsoft.com/office/drawing/2014/main" id="{940FE768-FE40-70F6-65EF-8B4940527C4F}"/>
                </a:ext>
              </a:extLst>
            </p:cNvPr>
            <p:cNvCxnSpPr>
              <a:cxnSpLocks/>
              <a:stCxn id="23" idx="1"/>
              <a:endCxn id="23" idx="3"/>
            </p:cNvCxnSpPr>
            <p:nvPr/>
          </p:nvCxnSpPr>
          <p:spPr>
            <a:xfrm>
              <a:off x="2056851" y="5113766"/>
              <a:ext cx="2071223" cy="0"/>
            </a:xfrm>
            <a:prstGeom prst="line">
              <a:avLst/>
            </a:prstGeom>
            <a:ln w="12700">
              <a:solidFill>
                <a:schemeClr val="bg1">
                  <a:lumMod val="50000"/>
                </a:schemeClr>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双括号 22">
              <a:extLst>
                <a:ext uri="{FF2B5EF4-FFF2-40B4-BE49-F238E27FC236}">
                  <a16:creationId xmlns:a16="http://schemas.microsoft.com/office/drawing/2014/main" id="{3AC81A44-F130-D3E4-2503-FF9EE56D332D}"/>
                </a:ext>
              </a:extLst>
            </p:cNvPr>
            <p:cNvSpPr/>
            <p:nvPr/>
          </p:nvSpPr>
          <p:spPr>
            <a:xfrm>
              <a:off x="2056851" y="4984440"/>
              <a:ext cx="2071223" cy="258651"/>
            </a:xfrm>
            <a:prstGeom prst="bracketPair">
              <a:avLst>
                <a:gd name="adj" fmla="val 0"/>
              </a:avLst>
            </a:prstGeom>
            <a:ln w="12700">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grpSp>
      <p:sp>
        <p:nvSpPr>
          <p:cNvPr id="31" name="文本框 30">
            <a:extLst>
              <a:ext uri="{FF2B5EF4-FFF2-40B4-BE49-F238E27FC236}">
                <a16:creationId xmlns:a16="http://schemas.microsoft.com/office/drawing/2014/main" id="{2878B3BC-3A08-F664-0B4C-8168859B3BBC}"/>
              </a:ext>
            </a:extLst>
          </p:cNvPr>
          <p:cNvSpPr txBox="1"/>
          <p:nvPr/>
        </p:nvSpPr>
        <p:spPr>
          <a:xfrm>
            <a:off x="193579" y="4970597"/>
            <a:ext cx="1238732" cy="261610"/>
          </a:xfrm>
          <a:prstGeom prst="rect">
            <a:avLst/>
          </a:prstGeom>
          <a:noFill/>
        </p:spPr>
        <p:txBody>
          <a:bodyPr wrap="square">
            <a:spAutoFit/>
          </a:bodyPr>
          <a:lstStyle/>
          <a:p>
            <a:pPr algn="ctr"/>
            <a:r>
              <a:rPr lang="en-US" altLang="zh-CN" sz="1100" b="1" dirty="0"/>
              <a:t>Per-session OAM</a:t>
            </a:r>
            <a:endParaRPr lang="zh-CN" altLang="en-US" sz="1100" dirty="0"/>
          </a:p>
        </p:txBody>
      </p:sp>
      <p:sp>
        <p:nvSpPr>
          <p:cNvPr id="32" name="矩形 31">
            <a:extLst>
              <a:ext uri="{FF2B5EF4-FFF2-40B4-BE49-F238E27FC236}">
                <a16:creationId xmlns:a16="http://schemas.microsoft.com/office/drawing/2014/main" id="{05E51BB9-E877-A5AE-6854-57E35F33C522}"/>
              </a:ext>
            </a:extLst>
          </p:cNvPr>
          <p:cNvSpPr/>
          <p:nvPr/>
        </p:nvSpPr>
        <p:spPr>
          <a:xfrm>
            <a:off x="1909845" y="2026973"/>
            <a:ext cx="4328856" cy="2830532"/>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52" name="文本框 1051">
            <a:extLst>
              <a:ext uri="{FF2B5EF4-FFF2-40B4-BE49-F238E27FC236}">
                <a16:creationId xmlns:a16="http://schemas.microsoft.com/office/drawing/2014/main" id="{492376DA-4505-C6EF-FB28-A5D0A0920D70}"/>
              </a:ext>
            </a:extLst>
          </p:cNvPr>
          <p:cNvSpPr txBox="1"/>
          <p:nvPr/>
        </p:nvSpPr>
        <p:spPr>
          <a:xfrm>
            <a:off x="193579" y="5352062"/>
            <a:ext cx="1759418" cy="261610"/>
          </a:xfrm>
          <a:prstGeom prst="rect">
            <a:avLst/>
          </a:prstGeom>
          <a:noFill/>
        </p:spPr>
        <p:txBody>
          <a:bodyPr wrap="square">
            <a:spAutoFit/>
          </a:bodyPr>
          <a:lstStyle/>
          <a:p>
            <a:pPr algn="ctr"/>
            <a:r>
              <a:rPr lang="en-US" altLang="zh-CN" sz="1100" b="1" dirty="0"/>
              <a:t>Multi-session shared OAM</a:t>
            </a:r>
            <a:endParaRPr lang="zh-CN" altLang="en-US" sz="1100" dirty="0"/>
          </a:p>
        </p:txBody>
      </p:sp>
      <p:sp>
        <p:nvSpPr>
          <p:cNvPr id="1056" name="文本框 1055">
            <a:extLst>
              <a:ext uri="{FF2B5EF4-FFF2-40B4-BE49-F238E27FC236}">
                <a16:creationId xmlns:a16="http://schemas.microsoft.com/office/drawing/2014/main" id="{3DE0A9B4-BF33-0BBD-2C52-DCACCDC1C8E4}"/>
              </a:ext>
            </a:extLst>
          </p:cNvPr>
          <p:cNvSpPr txBox="1"/>
          <p:nvPr/>
        </p:nvSpPr>
        <p:spPr>
          <a:xfrm rot="16200000">
            <a:off x="1438618" y="2243655"/>
            <a:ext cx="674424" cy="261610"/>
          </a:xfrm>
          <a:prstGeom prst="rect">
            <a:avLst/>
          </a:prstGeom>
          <a:noFill/>
        </p:spPr>
        <p:txBody>
          <a:bodyPr wrap="square" rtlCol="0">
            <a:spAutoFit/>
          </a:bodyPr>
          <a:lstStyle/>
          <a:p>
            <a:pPr algn="ctr"/>
            <a:r>
              <a:rPr lang="en-US" altLang="zh-CN" sz="1100" dirty="0"/>
              <a:t>CWND</a:t>
            </a:r>
            <a:endParaRPr lang="zh-CN" altLang="en-US" dirty="0"/>
          </a:p>
        </p:txBody>
      </p:sp>
      <p:sp>
        <p:nvSpPr>
          <p:cNvPr id="1057" name="文本框 1056">
            <a:extLst>
              <a:ext uri="{FF2B5EF4-FFF2-40B4-BE49-F238E27FC236}">
                <a16:creationId xmlns:a16="http://schemas.microsoft.com/office/drawing/2014/main" id="{EC67BC3D-7EFC-2618-11BE-60887DA143F5}"/>
              </a:ext>
            </a:extLst>
          </p:cNvPr>
          <p:cNvSpPr txBox="1"/>
          <p:nvPr/>
        </p:nvSpPr>
        <p:spPr>
          <a:xfrm>
            <a:off x="5564277" y="4880737"/>
            <a:ext cx="674424" cy="276999"/>
          </a:xfrm>
          <a:prstGeom prst="rect">
            <a:avLst/>
          </a:prstGeom>
          <a:noFill/>
        </p:spPr>
        <p:txBody>
          <a:bodyPr wrap="square" rtlCol="0">
            <a:spAutoFit/>
          </a:bodyPr>
          <a:lstStyle/>
          <a:p>
            <a:pPr algn="ctr"/>
            <a:r>
              <a:rPr lang="en-US" altLang="zh-CN" sz="1200" dirty="0"/>
              <a:t>time</a:t>
            </a:r>
            <a:endParaRPr lang="zh-CN" altLang="en-US" sz="1200" dirty="0"/>
          </a:p>
        </p:txBody>
      </p:sp>
      <p:cxnSp>
        <p:nvCxnSpPr>
          <p:cNvPr id="1063" name="直接连接符 1062">
            <a:extLst>
              <a:ext uri="{FF2B5EF4-FFF2-40B4-BE49-F238E27FC236}">
                <a16:creationId xmlns:a16="http://schemas.microsoft.com/office/drawing/2014/main" id="{C40C6E86-0030-5CF0-BCA6-186349D71F83}"/>
              </a:ext>
            </a:extLst>
          </p:cNvPr>
          <p:cNvCxnSpPr>
            <a:cxnSpLocks/>
            <a:stCxn id="1064" idx="1"/>
            <a:endCxn id="1064" idx="3"/>
          </p:cNvCxnSpPr>
          <p:nvPr/>
        </p:nvCxnSpPr>
        <p:spPr>
          <a:xfrm>
            <a:off x="2056851" y="5492119"/>
            <a:ext cx="4181850" cy="0"/>
          </a:xfrm>
          <a:prstGeom prst="line">
            <a:avLst/>
          </a:prstGeom>
          <a:ln w="12700">
            <a:solidFill>
              <a:schemeClr val="bg1">
                <a:lumMod val="50000"/>
              </a:schemeClr>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64" name="双括号 1063">
            <a:extLst>
              <a:ext uri="{FF2B5EF4-FFF2-40B4-BE49-F238E27FC236}">
                <a16:creationId xmlns:a16="http://schemas.microsoft.com/office/drawing/2014/main" id="{324D2D8B-9067-0886-53FF-194D5A4F3028}"/>
              </a:ext>
            </a:extLst>
          </p:cNvPr>
          <p:cNvSpPr/>
          <p:nvPr/>
        </p:nvSpPr>
        <p:spPr>
          <a:xfrm>
            <a:off x="2056851" y="5362793"/>
            <a:ext cx="4181850" cy="258651"/>
          </a:xfrm>
          <a:prstGeom prst="bracketPair">
            <a:avLst>
              <a:gd name="adj" fmla="val 0"/>
            </a:avLst>
          </a:prstGeom>
          <a:ln w="12700">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grpSp>
        <p:nvGrpSpPr>
          <p:cNvPr id="1079" name="组合 1078">
            <a:extLst>
              <a:ext uri="{FF2B5EF4-FFF2-40B4-BE49-F238E27FC236}">
                <a16:creationId xmlns:a16="http://schemas.microsoft.com/office/drawing/2014/main" id="{A92F3310-A008-50D7-9833-8328869E8A44}"/>
              </a:ext>
            </a:extLst>
          </p:cNvPr>
          <p:cNvGrpSpPr/>
          <p:nvPr/>
        </p:nvGrpSpPr>
        <p:grpSpPr>
          <a:xfrm>
            <a:off x="1891944" y="2543684"/>
            <a:ext cx="4245979" cy="2276263"/>
            <a:chOff x="981341" y="2543684"/>
            <a:chExt cx="3381230" cy="2276263"/>
          </a:xfrm>
        </p:grpSpPr>
        <p:sp>
          <p:nvSpPr>
            <p:cNvPr id="33" name="菱形 32">
              <a:extLst>
                <a:ext uri="{FF2B5EF4-FFF2-40B4-BE49-F238E27FC236}">
                  <a16:creationId xmlns:a16="http://schemas.microsoft.com/office/drawing/2014/main" id="{C5D544D0-89A1-165E-A3F6-7DAEC83CB1BF}"/>
                </a:ext>
              </a:extLst>
            </p:cNvPr>
            <p:cNvSpPr/>
            <p:nvPr/>
          </p:nvSpPr>
          <p:spPr>
            <a:xfrm>
              <a:off x="1146248" y="4716252"/>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34" name="菱形 33">
              <a:extLst>
                <a:ext uri="{FF2B5EF4-FFF2-40B4-BE49-F238E27FC236}">
                  <a16:creationId xmlns:a16="http://schemas.microsoft.com/office/drawing/2014/main" id="{F8680E92-7AA2-04A5-A911-53A3CE462E57}"/>
                </a:ext>
              </a:extLst>
            </p:cNvPr>
            <p:cNvSpPr/>
            <p:nvPr/>
          </p:nvSpPr>
          <p:spPr>
            <a:xfrm>
              <a:off x="1296484" y="4612557"/>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35" name="菱形 34">
              <a:extLst>
                <a:ext uri="{FF2B5EF4-FFF2-40B4-BE49-F238E27FC236}">
                  <a16:creationId xmlns:a16="http://schemas.microsoft.com/office/drawing/2014/main" id="{64D9BB77-FFA0-A2F9-912B-452B7BC56E91}"/>
                </a:ext>
              </a:extLst>
            </p:cNvPr>
            <p:cNvSpPr/>
            <p:nvPr/>
          </p:nvSpPr>
          <p:spPr>
            <a:xfrm>
              <a:off x="1440343" y="4434726"/>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36" name="菱形 35">
              <a:extLst>
                <a:ext uri="{FF2B5EF4-FFF2-40B4-BE49-F238E27FC236}">
                  <a16:creationId xmlns:a16="http://schemas.microsoft.com/office/drawing/2014/main" id="{541F7C8B-95D8-1BD3-9F66-448BC7B930D8}"/>
                </a:ext>
              </a:extLst>
            </p:cNvPr>
            <p:cNvSpPr/>
            <p:nvPr/>
          </p:nvSpPr>
          <p:spPr>
            <a:xfrm>
              <a:off x="1606829" y="4035344"/>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37" name="菱形 36">
              <a:extLst>
                <a:ext uri="{FF2B5EF4-FFF2-40B4-BE49-F238E27FC236}">
                  <a16:creationId xmlns:a16="http://schemas.microsoft.com/office/drawing/2014/main" id="{C26E0E42-5BB9-E3E0-E1E9-6EF9DD745DA8}"/>
                </a:ext>
              </a:extLst>
            </p:cNvPr>
            <p:cNvSpPr/>
            <p:nvPr/>
          </p:nvSpPr>
          <p:spPr>
            <a:xfrm>
              <a:off x="1745922" y="3245236"/>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38" name="菱形 37">
              <a:extLst>
                <a:ext uri="{FF2B5EF4-FFF2-40B4-BE49-F238E27FC236}">
                  <a16:creationId xmlns:a16="http://schemas.microsoft.com/office/drawing/2014/main" id="{9D593FE4-F785-48B4-A555-46D33CC57ADC}"/>
                </a:ext>
              </a:extLst>
            </p:cNvPr>
            <p:cNvSpPr/>
            <p:nvPr/>
          </p:nvSpPr>
          <p:spPr>
            <a:xfrm>
              <a:off x="1897537" y="3138171"/>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cxnSp>
          <p:nvCxnSpPr>
            <p:cNvPr id="43" name="直接连接符 42">
              <a:extLst>
                <a:ext uri="{FF2B5EF4-FFF2-40B4-BE49-F238E27FC236}">
                  <a16:creationId xmlns:a16="http://schemas.microsoft.com/office/drawing/2014/main" id="{E11ECAAD-4DC8-36B7-4D9A-70C7FEE99103}"/>
                </a:ext>
              </a:extLst>
            </p:cNvPr>
            <p:cNvCxnSpPr>
              <a:cxnSpLocks/>
            </p:cNvCxnSpPr>
            <p:nvPr/>
          </p:nvCxnSpPr>
          <p:spPr>
            <a:xfrm>
              <a:off x="2960017" y="4087191"/>
              <a:ext cx="772997" cy="0"/>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5" name="直接连接符 44">
              <a:extLst>
                <a:ext uri="{FF2B5EF4-FFF2-40B4-BE49-F238E27FC236}">
                  <a16:creationId xmlns:a16="http://schemas.microsoft.com/office/drawing/2014/main" id="{B49C0584-90A1-9F8B-BE28-AAE58E4429BD}"/>
                </a:ext>
              </a:extLst>
            </p:cNvPr>
            <p:cNvCxnSpPr>
              <a:cxnSpLocks/>
            </p:cNvCxnSpPr>
            <p:nvPr/>
          </p:nvCxnSpPr>
          <p:spPr>
            <a:xfrm>
              <a:off x="1355500" y="3297083"/>
              <a:ext cx="1921830" cy="0"/>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7" name="菱形 46">
              <a:extLst>
                <a:ext uri="{FF2B5EF4-FFF2-40B4-BE49-F238E27FC236}">
                  <a16:creationId xmlns:a16="http://schemas.microsoft.com/office/drawing/2014/main" id="{E50E45B4-65F4-5304-A81C-C336E2B15840}"/>
                </a:ext>
              </a:extLst>
            </p:cNvPr>
            <p:cNvSpPr/>
            <p:nvPr/>
          </p:nvSpPr>
          <p:spPr>
            <a:xfrm>
              <a:off x="2064932" y="3057823"/>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48" name="菱形 47">
              <a:extLst>
                <a:ext uri="{FF2B5EF4-FFF2-40B4-BE49-F238E27FC236}">
                  <a16:creationId xmlns:a16="http://schemas.microsoft.com/office/drawing/2014/main" id="{87F9CFF7-BA73-B9C2-934A-510649B669C6}"/>
                </a:ext>
              </a:extLst>
            </p:cNvPr>
            <p:cNvSpPr/>
            <p:nvPr/>
          </p:nvSpPr>
          <p:spPr>
            <a:xfrm>
              <a:off x="2220367" y="2969364"/>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49" name="菱形 48">
              <a:extLst>
                <a:ext uri="{FF2B5EF4-FFF2-40B4-BE49-F238E27FC236}">
                  <a16:creationId xmlns:a16="http://schemas.microsoft.com/office/drawing/2014/main" id="{64F801B4-B325-1C34-3F36-E20A12350327}"/>
                </a:ext>
              </a:extLst>
            </p:cNvPr>
            <p:cNvSpPr/>
            <p:nvPr/>
          </p:nvSpPr>
          <p:spPr>
            <a:xfrm>
              <a:off x="2375802" y="2887355"/>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50" name="菱形 49">
              <a:extLst>
                <a:ext uri="{FF2B5EF4-FFF2-40B4-BE49-F238E27FC236}">
                  <a16:creationId xmlns:a16="http://schemas.microsoft.com/office/drawing/2014/main" id="{CCDD16DD-987C-3739-F2C3-F5D89C5E84FF}"/>
                </a:ext>
              </a:extLst>
            </p:cNvPr>
            <p:cNvSpPr/>
            <p:nvPr/>
          </p:nvSpPr>
          <p:spPr>
            <a:xfrm>
              <a:off x="2543197" y="2803449"/>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51" name="菱形 50">
              <a:extLst>
                <a:ext uri="{FF2B5EF4-FFF2-40B4-BE49-F238E27FC236}">
                  <a16:creationId xmlns:a16="http://schemas.microsoft.com/office/drawing/2014/main" id="{D9CA2C47-F7F0-A4E9-9401-7719BF6B20AF}"/>
                </a:ext>
              </a:extLst>
            </p:cNvPr>
            <p:cNvSpPr/>
            <p:nvPr/>
          </p:nvSpPr>
          <p:spPr>
            <a:xfrm>
              <a:off x="2700647" y="2702312"/>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52" name="菱形 51">
              <a:extLst>
                <a:ext uri="{FF2B5EF4-FFF2-40B4-BE49-F238E27FC236}">
                  <a16:creationId xmlns:a16="http://schemas.microsoft.com/office/drawing/2014/main" id="{803BF8D8-39DF-6E59-A6DE-BDD298896B6D}"/>
                </a:ext>
              </a:extLst>
            </p:cNvPr>
            <p:cNvSpPr/>
            <p:nvPr/>
          </p:nvSpPr>
          <p:spPr>
            <a:xfrm>
              <a:off x="3314534" y="4048301"/>
              <a:ext cx="84842" cy="103695"/>
            </a:xfrm>
            <a:prstGeom prst="diamond">
              <a:avLst/>
            </a:prstGeom>
            <a:solidFill>
              <a:schemeClr val="bg1">
                <a:lumMod val="50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57" name="任意多边形: 形状 56">
              <a:extLst>
                <a:ext uri="{FF2B5EF4-FFF2-40B4-BE49-F238E27FC236}">
                  <a16:creationId xmlns:a16="http://schemas.microsoft.com/office/drawing/2014/main" id="{3FA3DD45-0AD1-AD25-2876-62ED8AB09223}"/>
                </a:ext>
              </a:extLst>
            </p:cNvPr>
            <p:cNvSpPr/>
            <p:nvPr/>
          </p:nvSpPr>
          <p:spPr>
            <a:xfrm>
              <a:off x="1197204" y="3318235"/>
              <a:ext cx="575035" cy="1451728"/>
            </a:xfrm>
            <a:custGeom>
              <a:avLst/>
              <a:gdLst>
                <a:gd name="csX0" fmla="*/ 0 w 575035"/>
                <a:gd name="csY0" fmla="*/ 1451728 h 1451728"/>
                <a:gd name="csX1" fmla="*/ 150829 w 575035"/>
                <a:gd name="csY1" fmla="*/ 1338606 h 1451728"/>
                <a:gd name="csX2" fmla="*/ 292231 w 575035"/>
                <a:gd name="csY2" fmla="*/ 1150070 h 1451728"/>
                <a:gd name="csX3" fmla="*/ 461914 w 575035"/>
                <a:gd name="csY3" fmla="*/ 763571 h 1451728"/>
                <a:gd name="csX4" fmla="*/ 575035 w 575035"/>
                <a:gd name="csY4" fmla="*/ 0 h 1451728"/>
              </a:gdLst>
              <a:ahLst/>
              <a:cxnLst>
                <a:cxn ang="0">
                  <a:pos x="csX0" y="csY0"/>
                </a:cxn>
                <a:cxn ang="0">
                  <a:pos x="csX1" y="csY1"/>
                </a:cxn>
                <a:cxn ang="0">
                  <a:pos x="csX2" y="csY2"/>
                </a:cxn>
                <a:cxn ang="0">
                  <a:pos x="csX3" y="csY3"/>
                </a:cxn>
                <a:cxn ang="0">
                  <a:pos x="csX4" y="csY4"/>
                </a:cxn>
              </a:cxnLst>
              <a:rect l="l" t="t" r="r" b="b"/>
              <a:pathLst>
                <a:path w="575035" h="1451728">
                  <a:moveTo>
                    <a:pt x="0" y="1451728"/>
                  </a:moveTo>
                  <a:cubicBezTo>
                    <a:pt x="51062" y="1420305"/>
                    <a:pt x="102124" y="1388882"/>
                    <a:pt x="150829" y="1338606"/>
                  </a:cubicBezTo>
                  <a:cubicBezTo>
                    <a:pt x="199534" y="1288330"/>
                    <a:pt x="240384" y="1245909"/>
                    <a:pt x="292231" y="1150070"/>
                  </a:cubicBezTo>
                  <a:cubicBezTo>
                    <a:pt x="344078" y="1054231"/>
                    <a:pt x="414780" y="955249"/>
                    <a:pt x="461914" y="763571"/>
                  </a:cubicBezTo>
                  <a:cubicBezTo>
                    <a:pt x="509048" y="571893"/>
                    <a:pt x="521617" y="144544"/>
                    <a:pt x="575035" y="0"/>
                  </a:cubicBezTo>
                </a:path>
              </a:pathLst>
            </a:cu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8" name="任意多边形: 形状 57">
              <a:extLst>
                <a:ext uri="{FF2B5EF4-FFF2-40B4-BE49-F238E27FC236}">
                  <a16:creationId xmlns:a16="http://schemas.microsoft.com/office/drawing/2014/main" id="{9F9D7FD9-5B11-C8E4-B863-CABC0F5110DF}"/>
                </a:ext>
              </a:extLst>
            </p:cNvPr>
            <p:cNvSpPr/>
            <p:nvPr/>
          </p:nvSpPr>
          <p:spPr>
            <a:xfrm>
              <a:off x="1800520" y="2743200"/>
              <a:ext cx="970960" cy="527901"/>
            </a:xfrm>
            <a:custGeom>
              <a:avLst/>
              <a:gdLst>
                <a:gd name="csX0" fmla="*/ 0 w 970960"/>
                <a:gd name="csY0" fmla="*/ 527901 h 527901"/>
                <a:gd name="csX1" fmla="*/ 480767 w 970960"/>
                <a:gd name="csY1" fmla="*/ 273377 h 527901"/>
                <a:gd name="csX2" fmla="*/ 716437 w 970960"/>
                <a:gd name="csY2" fmla="*/ 141402 h 527901"/>
                <a:gd name="csX3" fmla="*/ 970960 w 970960"/>
                <a:gd name="csY3" fmla="*/ 0 h 527901"/>
              </a:gdLst>
              <a:ahLst/>
              <a:cxnLst>
                <a:cxn ang="0">
                  <a:pos x="csX0" y="csY0"/>
                </a:cxn>
                <a:cxn ang="0">
                  <a:pos x="csX1" y="csY1"/>
                </a:cxn>
                <a:cxn ang="0">
                  <a:pos x="csX2" y="csY2"/>
                </a:cxn>
                <a:cxn ang="0">
                  <a:pos x="csX3" y="csY3"/>
                </a:cxn>
              </a:cxnLst>
              <a:rect l="l" t="t" r="r" b="b"/>
              <a:pathLst>
                <a:path w="970960" h="527901">
                  <a:moveTo>
                    <a:pt x="0" y="527901"/>
                  </a:moveTo>
                  <a:lnTo>
                    <a:pt x="480767" y="273377"/>
                  </a:lnTo>
                  <a:cubicBezTo>
                    <a:pt x="600173" y="208960"/>
                    <a:pt x="634738" y="186965"/>
                    <a:pt x="716437" y="141402"/>
                  </a:cubicBezTo>
                  <a:cubicBezTo>
                    <a:pt x="798136" y="95839"/>
                    <a:pt x="908115" y="29851"/>
                    <a:pt x="970960" y="0"/>
                  </a:cubicBezTo>
                </a:path>
              </a:pathLst>
            </a:cu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9" name="任意多边形: 形状 58">
              <a:extLst>
                <a:ext uri="{FF2B5EF4-FFF2-40B4-BE49-F238E27FC236}">
                  <a16:creationId xmlns:a16="http://schemas.microsoft.com/office/drawing/2014/main" id="{F4D3EC0A-652F-339F-E9AB-B38C80A10C16}"/>
                </a:ext>
              </a:extLst>
            </p:cNvPr>
            <p:cNvSpPr/>
            <p:nvPr/>
          </p:nvSpPr>
          <p:spPr>
            <a:xfrm>
              <a:off x="2762054" y="2752627"/>
              <a:ext cx="584461" cy="1348033"/>
            </a:xfrm>
            <a:custGeom>
              <a:avLst/>
              <a:gdLst>
                <a:gd name="csX0" fmla="*/ 0 w 584461"/>
                <a:gd name="csY0" fmla="*/ 0 h 1348033"/>
                <a:gd name="csX1" fmla="*/ 584461 w 584461"/>
                <a:gd name="csY1" fmla="*/ 1348033 h 1348033"/>
              </a:gdLst>
              <a:ahLst/>
              <a:cxnLst>
                <a:cxn ang="0">
                  <a:pos x="csX0" y="csY0"/>
                </a:cxn>
                <a:cxn ang="0">
                  <a:pos x="csX1" y="csY1"/>
                </a:cxn>
              </a:cxnLst>
              <a:rect l="l" t="t" r="r" b="b"/>
              <a:pathLst>
                <a:path w="584461" h="1348033">
                  <a:moveTo>
                    <a:pt x="0" y="0"/>
                  </a:moveTo>
                  <a:lnTo>
                    <a:pt x="584461" y="1348033"/>
                  </a:lnTo>
                </a:path>
              </a:pathLst>
            </a:cu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0" name="菱形 59">
              <a:extLst>
                <a:ext uri="{FF2B5EF4-FFF2-40B4-BE49-F238E27FC236}">
                  <a16:creationId xmlns:a16="http://schemas.microsoft.com/office/drawing/2014/main" id="{2134983D-AA9B-3BB4-8A21-B4B4A817FB9C}"/>
                </a:ext>
              </a:extLst>
            </p:cNvPr>
            <p:cNvSpPr/>
            <p:nvPr/>
          </p:nvSpPr>
          <p:spPr>
            <a:xfrm>
              <a:off x="3323004" y="4039924"/>
              <a:ext cx="84842" cy="103695"/>
            </a:xfrm>
            <a:prstGeom prst="diamond">
              <a:avLst/>
            </a:prstGeom>
            <a:solidFill>
              <a:schemeClr val="bg1">
                <a:lumMod val="50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61" name="菱形 60">
              <a:extLst>
                <a:ext uri="{FF2B5EF4-FFF2-40B4-BE49-F238E27FC236}">
                  <a16:creationId xmlns:a16="http://schemas.microsoft.com/office/drawing/2014/main" id="{677E8C04-61AA-A46B-F153-472258AFFB48}"/>
                </a:ext>
              </a:extLst>
            </p:cNvPr>
            <p:cNvSpPr/>
            <p:nvPr/>
          </p:nvSpPr>
          <p:spPr>
            <a:xfrm>
              <a:off x="3474619" y="3932859"/>
              <a:ext cx="84842" cy="103695"/>
            </a:xfrm>
            <a:prstGeom prst="diamond">
              <a:avLst/>
            </a:prstGeom>
            <a:solidFill>
              <a:schemeClr val="bg1">
                <a:lumMod val="50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62" name="菱形 61">
              <a:extLst>
                <a:ext uri="{FF2B5EF4-FFF2-40B4-BE49-F238E27FC236}">
                  <a16:creationId xmlns:a16="http://schemas.microsoft.com/office/drawing/2014/main" id="{CE7043FE-6ECE-5A08-91C7-628EE1B8FCC5}"/>
                </a:ext>
              </a:extLst>
            </p:cNvPr>
            <p:cNvSpPr/>
            <p:nvPr/>
          </p:nvSpPr>
          <p:spPr>
            <a:xfrm>
              <a:off x="3642014" y="3852511"/>
              <a:ext cx="84842" cy="103695"/>
            </a:xfrm>
            <a:prstGeom prst="diamond">
              <a:avLst/>
            </a:prstGeom>
            <a:solidFill>
              <a:schemeClr val="bg1">
                <a:lumMod val="50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63" name="菱形 62">
              <a:extLst>
                <a:ext uri="{FF2B5EF4-FFF2-40B4-BE49-F238E27FC236}">
                  <a16:creationId xmlns:a16="http://schemas.microsoft.com/office/drawing/2014/main" id="{05F406A8-A92B-63B7-1A87-60E36C86C38A}"/>
                </a:ext>
              </a:extLst>
            </p:cNvPr>
            <p:cNvSpPr/>
            <p:nvPr/>
          </p:nvSpPr>
          <p:spPr>
            <a:xfrm>
              <a:off x="3797449" y="3764052"/>
              <a:ext cx="84842" cy="103695"/>
            </a:xfrm>
            <a:prstGeom prst="diamond">
              <a:avLst/>
            </a:prstGeom>
            <a:solidFill>
              <a:schemeClr val="bg1">
                <a:lumMod val="50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24" name="菱形 1023">
              <a:extLst>
                <a:ext uri="{FF2B5EF4-FFF2-40B4-BE49-F238E27FC236}">
                  <a16:creationId xmlns:a16="http://schemas.microsoft.com/office/drawing/2014/main" id="{82E18D1D-B782-488C-1C53-FBE74CE809FC}"/>
                </a:ext>
              </a:extLst>
            </p:cNvPr>
            <p:cNvSpPr/>
            <p:nvPr/>
          </p:nvSpPr>
          <p:spPr>
            <a:xfrm>
              <a:off x="3952884" y="3682043"/>
              <a:ext cx="84842" cy="103695"/>
            </a:xfrm>
            <a:prstGeom prst="diamond">
              <a:avLst/>
            </a:prstGeom>
            <a:solidFill>
              <a:schemeClr val="bg1">
                <a:lumMod val="50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25" name="菱形 1024">
              <a:extLst>
                <a:ext uri="{FF2B5EF4-FFF2-40B4-BE49-F238E27FC236}">
                  <a16:creationId xmlns:a16="http://schemas.microsoft.com/office/drawing/2014/main" id="{C5DDA661-3340-2F52-6524-830F7520ECC1}"/>
                </a:ext>
              </a:extLst>
            </p:cNvPr>
            <p:cNvSpPr/>
            <p:nvPr/>
          </p:nvSpPr>
          <p:spPr>
            <a:xfrm>
              <a:off x="4120279" y="3598137"/>
              <a:ext cx="84842" cy="103695"/>
            </a:xfrm>
            <a:prstGeom prst="diamond">
              <a:avLst/>
            </a:prstGeom>
            <a:solidFill>
              <a:schemeClr val="bg1">
                <a:lumMod val="50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27" name="菱形 1026">
              <a:extLst>
                <a:ext uri="{FF2B5EF4-FFF2-40B4-BE49-F238E27FC236}">
                  <a16:creationId xmlns:a16="http://schemas.microsoft.com/office/drawing/2014/main" id="{65437069-3036-6DC6-6A09-1F196373EFB1}"/>
                </a:ext>
              </a:extLst>
            </p:cNvPr>
            <p:cNvSpPr/>
            <p:nvPr/>
          </p:nvSpPr>
          <p:spPr>
            <a:xfrm>
              <a:off x="4277729" y="3497000"/>
              <a:ext cx="84842" cy="103695"/>
            </a:xfrm>
            <a:prstGeom prst="diamond">
              <a:avLst/>
            </a:prstGeom>
            <a:solidFill>
              <a:schemeClr val="bg1">
                <a:lumMod val="50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29" name="任意多边形: 形状 1028">
              <a:extLst>
                <a:ext uri="{FF2B5EF4-FFF2-40B4-BE49-F238E27FC236}">
                  <a16:creationId xmlns:a16="http://schemas.microsoft.com/office/drawing/2014/main" id="{DA0B7363-928B-1FE8-AC1A-E0D169E2E7FA}"/>
                </a:ext>
              </a:extLst>
            </p:cNvPr>
            <p:cNvSpPr/>
            <p:nvPr/>
          </p:nvSpPr>
          <p:spPr>
            <a:xfrm>
              <a:off x="3377602" y="3537888"/>
              <a:ext cx="970960" cy="527901"/>
            </a:xfrm>
            <a:custGeom>
              <a:avLst/>
              <a:gdLst>
                <a:gd name="csX0" fmla="*/ 0 w 970960"/>
                <a:gd name="csY0" fmla="*/ 527901 h 527901"/>
                <a:gd name="csX1" fmla="*/ 480767 w 970960"/>
                <a:gd name="csY1" fmla="*/ 273377 h 527901"/>
                <a:gd name="csX2" fmla="*/ 716437 w 970960"/>
                <a:gd name="csY2" fmla="*/ 141402 h 527901"/>
                <a:gd name="csX3" fmla="*/ 970960 w 970960"/>
                <a:gd name="csY3" fmla="*/ 0 h 527901"/>
              </a:gdLst>
              <a:ahLst/>
              <a:cxnLst>
                <a:cxn ang="0">
                  <a:pos x="csX0" y="csY0"/>
                </a:cxn>
                <a:cxn ang="0">
                  <a:pos x="csX1" y="csY1"/>
                </a:cxn>
                <a:cxn ang="0">
                  <a:pos x="csX2" y="csY2"/>
                </a:cxn>
                <a:cxn ang="0">
                  <a:pos x="csX3" y="csY3"/>
                </a:cxn>
              </a:cxnLst>
              <a:rect l="l" t="t" r="r" b="b"/>
              <a:pathLst>
                <a:path w="970960" h="527901">
                  <a:moveTo>
                    <a:pt x="0" y="527901"/>
                  </a:moveTo>
                  <a:lnTo>
                    <a:pt x="480767" y="273377"/>
                  </a:lnTo>
                  <a:cubicBezTo>
                    <a:pt x="600173" y="208960"/>
                    <a:pt x="634738" y="186965"/>
                    <a:pt x="716437" y="141402"/>
                  </a:cubicBezTo>
                  <a:cubicBezTo>
                    <a:pt x="798136" y="95839"/>
                    <a:pt x="908115" y="29851"/>
                    <a:pt x="970960" y="0"/>
                  </a:cubicBezTo>
                </a:path>
              </a:pathLst>
            </a:custGeom>
            <a:solidFill>
              <a:schemeClr val="bg1">
                <a:lumMod val="50000"/>
              </a:schemeClr>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48" name="文本框 1047">
              <a:extLst>
                <a:ext uri="{FF2B5EF4-FFF2-40B4-BE49-F238E27FC236}">
                  <a16:creationId xmlns:a16="http://schemas.microsoft.com/office/drawing/2014/main" id="{3077EE70-FEC6-7596-3695-279E74FC86B6}"/>
                </a:ext>
              </a:extLst>
            </p:cNvPr>
            <p:cNvSpPr txBox="1"/>
            <p:nvPr/>
          </p:nvSpPr>
          <p:spPr>
            <a:xfrm>
              <a:off x="1272510" y="3645648"/>
              <a:ext cx="603563" cy="461665"/>
            </a:xfrm>
            <a:prstGeom prst="rect">
              <a:avLst/>
            </a:prstGeom>
            <a:noFill/>
            <a:effectLst/>
          </p:spPr>
          <p:txBody>
            <a:bodyPr wrap="square">
              <a:spAutoFit/>
            </a:bodyPr>
            <a:lstStyle/>
            <a:p>
              <a:r>
                <a:rPr lang="en-US" altLang="zh-CN" sz="1200" dirty="0"/>
                <a:t>Slow start</a:t>
              </a:r>
              <a:endParaRPr lang="zh-CN" altLang="en-US" sz="1200" dirty="0"/>
            </a:p>
          </p:txBody>
        </p:sp>
        <p:sp>
          <p:nvSpPr>
            <p:cNvPr id="1049" name="文本框 1048">
              <a:extLst>
                <a:ext uri="{FF2B5EF4-FFF2-40B4-BE49-F238E27FC236}">
                  <a16:creationId xmlns:a16="http://schemas.microsoft.com/office/drawing/2014/main" id="{165C5CA9-3E40-0447-5A21-3DDB15BF0EE7}"/>
                </a:ext>
              </a:extLst>
            </p:cNvPr>
            <p:cNvSpPr txBox="1"/>
            <p:nvPr/>
          </p:nvSpPr>
          <p:spPr>
            <a:xfrm>
              <a:off x="1629624" y="2543684"/>
              <a:ext cx="897202" cy="461665"/>
            </a:xfrm>
            <a:prstGeom prst="rect">
              <a:avLst/>
            </a:prstGeom>
            <a:noFill/>
            <a:effectLst/>
          </p:spPr>
          <p:txBody>
            <a:bodyPr wrap="square">
              <a:spAutoFit/>
            </a:bodyPr>
            <a:lstStyle/>
            <a:p>
              <a:r>
                <a:rPr lang="en-US" altLang="zh-CN" sz="1200" dirty="0"/>
                <a:t>Congestion Avoidance</a:t>
              </a:r>
              <a:endParaRPr lang="zh-CN" altLang="en-US" sz="1200" dirty="0"/>
            </a:p>
          </p:txBody>
        </p:sp>
        <p:sp>
          <p:nvSpPr>
            <p:cNvPr id="1054" name="文本框 1053">
              <a:extLst>
                <a:ext uri="{FF2B5EF4-FFF2-40B4-BE49-F238E27FC236}">
                  <a16:creationId xmlns:a16="http://schemas.microsoft.com/office/drawing/2014/main" id="{4E7BBA84-D6E3-853E-0513-6FA97C91A934}"/>
                </a:ext>
              </a:extLst>
            </p:cNvPr>
            <p:cNvSpPr txBox="1"/>
            <p:nvPr/>
          </p:nvSpPr>
          <p:spPr>
            <a:xfrm>
              <a:off x="2497413" y="4077552"/>
              <a:ext cx="1622865" cy="461665"/>
            </a:xfrm>
            <a:prstGeom prst="rect">
              <a:avLst/>
            </a:prstGeom>
            <a:noFill/>
            <a:effectLst/>
          </p:spPr>
          <p:txBody>
            <a:bodyPr wrap="square">
              <a:spAutoFit/>
            </a:bodyPr>
            <a:lstStyle/>
            <a:p>
              <a:pPr algn="ctr"/>
              <a:r>
                <a:rPr lang="en-US" altLang="zh-CN" sz="1200" dirty="0" err="1"/>
                <a:t>ssthresh</a:t>
              </a:r>
              <a:r>
                <a:rPr lang="en-US" altLang="zh-CN" sz="1200" dirty="0"/>
                <a:t> if congestion detected</a:t>
              </a:r>
              <a:endParaRPr lang="zh-CN" altLang="en-US" sz="1200" dirty="0"/>
            </a:p>
          </p:txBody>
        </p:sp>
        <p:sp>
          <p:nvSpPr>
            <p:cNvPr id="1055" name="文本框 1054">
              <a:extLst>
                <a:ext uri="{FF2B5EF4-FFF2-40B4-BE49-F238E27FC236}">
                  <a16:creationId xmlns:a16="http://schemas.microsoft.com/office/drawing/2014/main" id="{F8BE985F-165B-0E16-9DEA-1C8D3537B18B}"/>
                </a:ext>
              </a:extLst>
            </p:cNvPr>
            <p:cNvSpPr txBox="1"/>
            <p:nvPr/>
          </p:nvSpPr>
          <p:spPr>
            <a:xfrm>
              <a:off x="981341" y="3267073"/>
              <a:ext cx="925207" cy="276999"/>
            </a:xfrm>
            <a:prstGeom prst="rect">
              <a:avLst/>
            </a:prstGeom>
            <a:noFill/>
            <a:effectLst/>
          </p:spPr>
          <p:txBody>
            <a:bodyPr wrap="square">
              <a:spAutoFit/>
            </a:bodyPr>
            <a:lstStyle/>
            <a:p>
              <a:pPr algn="ctr"/>
              <a:r>
                <a:rPr lang="en-US" altLang="zh-CN" sz="1200" dirty="0" err="1"/>
                <a:t>ssthresh</a:t>
              </a:r>
              <a:endParaRPr lang="zh-CN" altLang="en-US" sz="1200" dirty="0"/>
            </a:p>
          </p:txBody>
        </p:sp>
        <p:sp>
          <p:nvSpPr>
            <p:cNvPr id="1068" name="菱形 1067">
              <a:extLst>
                <a:ext uri="{FF2B5EF4-FFF2-40B4-BE49-F238E27FC236}">
                  <a16:creationId xmlns:a16="http://schemas.microsoft.com/office/drawing/2014/main" id="{9B86E7AF-2933-9902-858D-ED8A84D006D9}"/>
                </a:ext>
              </a:extLst>
            </p:cNvPr>
            <p:cNvSpPr/>
            <p:nvPr/>
          </p:nvSpPr>
          <p:spPr>
            <a:xfrm>
              <a:off x="2958320" y="3239018"/>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69" name="菱形 1068">
              <a:extLst>
                <a:ext uri="{FF2B5EF4-FFF2-40B4-BE49-F238E27FC236}">
                  <a16:creationId xmlns:a16="http://schemas.microsoft.com/office/drawing/2014/main" id="{971CDD73-99D7-8B85-DD56-3CC1E50508AB}"/>
                </a:ext>
              </a:extLst>
            </p:cNvPr>
            <p:cNvSpPr/>
            <p:nvPr/>
          </p:nvSpPr>
          <p:spPr>
            <a:xfrm>
              <a:off x="3109935" y="3131953"/>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70" name="菱形 1069">
              <a:extLst>
                <a:ext uri="{FF2B5EF4-FFF2-40B4-BE49-F238E27FC236}">
                  <a16:creationId xmlns:a16="http://schemas.microsoft.com/office/drawing/2014/main" id="{44581D1C-4BF4-80CE-3C5E-A9BE0666766F}"/>
                </a:ext>
              </a:extLst>
            </p:cNvPr>
            <p:cNvSpPr/>
            <p:nvPr/>
          </p:nvSpPr>
          <p:spPr>
            <a:xfrm>
              <a:off x="3277330" y="3051605"/>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71" name="菱形 1070">
              <a:extLst>
                <a:ext uri="{FF2B5EF4-FFF2-40B4-BE49-F238E27FC236}">
                  <a16:creationId xmlns:a16="http://schemas.microsoft.com/office/drawing/2014/main" id="{6CD08E20-2E1C-69D7-2571-5CFE8FB327DC}"/>
                </a:ext>
              </a:extLst>
            </p:cNvPr>
            <p:cNvSpPr/>
            <p:nvPr/>
          </p:nvSpPr>
          <p:spPr>
            <a:xfrm>
              <a:off x="3432765" y="2963146"/>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72" name="菱形 1071">
              <a:extLst>
                <a:ext uri="{FF2B5EF4-FFF2-40B4-BE49-F238E27FC236}">
                  <a16:creationId xmlns:a16="http://schemas.microsoft.com/office/drawing/2014/main" id="{D7F97177-1175-CB01-D0F6-0353E963A701}"/>
                </a:ext>
              </a:extLst>
            </p:cNvPr>
            <p:cNvSpPr/>
            <p:nvPr/>
          </p:nvSpPr>
          <p:spPr>
            <a:xfrm>
              <a:off x="3588200" y="2881137"/>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73" name="菱形 1072">
              <a:extLst>
                <a:ext uri="{FF2B5EF4-FFF2-40B4-BE49-F238E27FC236}">
                  <a16:creationId xmlns:a16="http://schemas.microsoft.com/office/drawing/2014/main" id="{454903BD-C9A9-434D-1F77-3D75950BAFDE}"/>
                </a:ext>
              </a:extLst>
            </p:cNvPr>
            <p:cNvSpPr/>
            <p:nvPr/>
          </p:nvSpPr>
          <p:spPr>
            <a:xfrm>
              <a:off x="3755595" y="2797231"/>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74" name="菱形 1073">
              <a:extLst>
                <a:ext uri="{FF2B5EF4-FFF2-40B4-BE49-F238E27FC236}">
                  <a16:creationId xmlns:a16="http://schemas.microsoft.com/office/drawing/2014/main" id="{49DDB1D2-514D-4DB2-8CF4-D6A8A0106EFF}"/>
                </a:ext>
              </a:extLst>
            </p:cNvPr>
            <p:cNvSpPr/>
            <p:nvPr/>
          </p:nvSpPr>
          <p:spPr>
            <a:xfrm>
              <a:off x="3913045" y="2696094"/>
              <a:ext cx="84842" cy="103695"/>
            </a:xfrm>
            <a:prstGeom prst="diamond">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zh-CN" altLang="en-US" dirty="0">
                <a:solidFill>
                  <a:schemeClr val="tx1"/>
                </a:solidFill>
              </a:endParaRPr>
            </a:p>
          </p:txBody>
        </p:sp>
        <p:sp>
          <p:nvSpPr>
            <p:cNvPr id="1075" name="任意多边形: 形状 1074">
              <a:extLst>
                <a:ext uri="{FF2B5EF4-FFF2-40B4-BE49-F238E27FC236}">
                  <a16:creationId xmlns:a16="http://schemas.microsoft.com/office/drawing/2014/main" id="{CB8CEBF6-B5C5-2B8A-6CE3-A5B5C306050F}"/>
                </a:ext>
              </a:extLst>
            </p:cNvPr>
            <p:cNvSpPr/>
            <p:nvPr/>
          </p:nvSpPr>
          <p:spPr>
            <a:xfrm>
              <a:off x="3012918" y="2736982"/>
              <a:ext cx="970960" cy="527901"/>
            </a:xfrm>
            <a:custGeom>
              <a:avLst/>
              <a:gdLst>
                <a:gd name="csX0" fmla="*/ 0 w 970960"/>
                <a:gd name="csY0" fmla="*/ 527901 h 527901"/>
                <a:gd name="csX1" fmla="*/ 480767 w 970960"/>
                <a:gd name="csY1" fmla="*/ 273377 h 527901"/>
                <a:gd name="csX2" fmla="*/ 716437 w 970960"/>
                <a:gd name="csY2" fmla="*/ 141402 h 527901"/>
                <a:gd name="csX3" fmla="*/ 970960 w 970960"/>
                <a:gd name="csY3" fmla="*/ 0 h 527901"/>
              </a:gdLst>
              <a:ahLst/>
              <a:cxnLst>
                <a:cxn ang="0">
                  <a:pos x="csX0" y="csY0"/>
                </a:cxn>
                <a:cxn ang="0">
                  <a:pos x="csX1" y="csY1"/>
                </a:cxn>
                <a:cxn ang="0">
                  <a:pos x="csX2" y="csY2"/>
                </a:cxn>
                <a:cxn ang="0">
                  <a:pos x="csX3" y="csY3"/>
                </a:cxn>
              </a:cxnLst>
              <a:rect l="l" t="t" r="r" b="b"/>
              <a:pathLst>
                <a:path w="970960" h="527901">
                  <a:moveTo>
                    <a:pt x="0" y="527901"/>
                  </a:moveTo>
                  <a:lnTo>
                    <a:pt x="480767" y="273377"/>
                  </a:lnTo>
                  <a:cubicBezTo>
                    <a:pt x="600173" y="208960"/>
                    <a:pt x="634738" y="186965"/>
                    <a:pt x="716437" y="141402"/>
                  </a:cubicBezTo>
                  <a:cubicBezTo>
                    <a:pt x="798136" y="95839"/>
                    <a:pt x="908115" y="29851"/>
                    <a:pt x="970960" y="0"/>
                  </a:cubicBezTo>
                </a:path>
              </a:pathLst>
            </a:cu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77" name="文本框 1076">
              <a:extLst>
                <a:ext uri="{FF2B5EF4-FFF2-40B4-BE49-F238E27FC236}">
                  <a16:creationId xmlns:a16="http://schemas.microsoft.com/office/drawing/2014/main" id="{F8782580-9707-7344-BBA4-314F2F341060}"/>
                </a:ext>
              </a:extLst>
            </p:cNvPr>
            <p:cNvSpPr txBox="1"/>
            <p:nvPr/>
          </p:nvSpPr>
          <p:spPr>
            <a:xfrm>
              <a:off x="2425739" y="3267630"/>
              <a:ext cx="1622865" cy="461665"/>
            </a:xfrm>
            <a:prstGeom prst="rect">
              <a:avLst/>
            </a:prstGeom>
            <a:noFill/>
            <a:effectLst/>
          </p:spPr>
          <p:txBody>
            <a:bodyPr wrap="square">
              <a:spAutoFit/>
            </a:bodyPr>
            <a:lstStyle/>
            <a:p>
              <a:pPr algn="ctr"/>
              <a:r>
                <a:rPr lang="en-US" altLang="zh-CN" sz="1200" dirty="0" err="1"/>
                <a:t>ssthresh</a:t>
              </a:r>
              <a:r>
                <a:rPr lang="en-US" altLang="zh-CN" sz="1200" dirty="0"/>
                <a:t> if handover detected</a:t>
              </a:r>
              <a:endParaRPr lang="zh-CN" altLang="en-US" sz="1200" dirty="0"/>
            </a:p>
          </p:txBody>
        </p:sp>
        <p:sp>
          <p:nvSpPr>
            <p:cNvPr id="1078" name="任意多边形: 形状 1077">
              <a:extLst>
                <a:ext uri="{FF2B5EF4-FFF2-40B4-BE49-F238E27FC236}">
                  <a16:creationId xmlns:a16="http://schemas.microsoft.com/office/drawing/2014/main" id="{CCFA90B8-27BB-B5D1-E93C-47E3D69B4FFF}"/>
                </a:ext>
              </a:extLst>
            </p:cNvPr>
            <p:cNvSpPr/>
            <p:nvPr/>
          </p:nvSpPr>
          <p:spPr>
            <a:xfrm>
              <a:off x="2997836" y="3290888"/>
              <a:ext cx="345439" cy="795337"/>
            </a:xfrm>
            <a:custGeom>
              <a:avLst/>
              <a:gdLst>
                <a:gd name="csX0" fmla="*/ 0 w 352425"/>
                <a:gd name="csY0" fmla="*/ 0 h 795337"/>
                <a:gd name="csX1" fmla="*/ 352425 w 352425"/>
                <a:gd name="csY1" fmla="*/ 795337 h 795337"/>
              </a:gdLst>
              <a:ahLst/>
              <a:cxnLst>
                <a:cxn ang="0">
                  <a:pos x="csX0" y="csY0"/>
                </a:cxn>
                <a:cxn ang="0">
                  <a:pos x="csX1" y="csY1"/>
                </a:cxn>
              </a:cxnLst>
              <a:rect l="l" t="t" r="r" b="b"/>
              <a:pathLst>
                <a:path w="352425" h="795337">
                  <a:moveTo>
                    <a:pt x="0" y="0"/>
                  </a:moveTo>
                  <a:lnTo>
                    <a:pt x="352425" y="795337"/>
                  </a:lnTo>
                </a:path>
              </a:pathLst>
            </a:custGeom>
            <a:no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grpSp>
        <p:nvGrpSpPr>
          <p:cNvPr id="1083" name="组合 1082">
            <a:extLst>
              <a:ext uri="{FF2B5EF4-FFF2-40B4-BE49-F238E27FC236}">
                <a16:creationId xmlns:a16="http://schemas.microsoft.com/office/drawing/2014/main" id="{8861E3BB-D90A-3F22-BA6D-5AA6D54C8457}"/>
              </a:ext>
            </a:extLst>
          </p:cNvPr>
          <p:cNvGrpSpPr/>
          <p:nvPr/>
        </p:nvGrpSpPr>
        <p:grpSpPr>
          <a:xfrm>
            <a:off x="4377960" y="4963522"/>
            <a:ext cx="1245500" cy="279570"/>
            <a:chOff x="2056851" y="4984440"/>
            <a:chExt cx="2071223" cy="258651"/>
          </a:xfrm>
        </p:grpSpPr>
        <p:cxnSp>
          <p:nvCxnSpPr>
            <p:cNvPr id="1084" name="直接连接符 1083">
              <a:extLst>
                <a:ext uri="{FF2B5EF4-FFF2-40B4-BE49-F238E27FC236}">
                  <a16:creationId xmlns:a16="http://schemas.microsoft.com/office/drawing/2014/main" id="{35717D6E-F2A1-ECE3-BB16-EC4ACE05723C}"/>
                </a:ext>
              </a:extLst>
            </p:cNvPr>
            <p:cNvCxnSpPr>
              <a:cxnSpLocks/>
              <a:stCxn id="1085" idx="1"/>
              <a:endCxn id="1085" idx="3"/>
            </p:cNvCxnSpPr>
            <p:nvPr/>
          </p:nvCxnSpPr>
          <p:spPr>
            <a:xfrm>
              <a:off x="2056851" y="5113766"/>
              <a:ext cx="2071223" cy="0"/>
            </a:xfrm>
            <a:prstGeom prst="line">
              <a:avLst/>
            </a:prstGeom>
            <a:ln w="12700">
              <a:solidFill>
                <a:schemeClr val="bg1">
                  <a:lumMod val="50000"/>
                </a:schemeClr>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85" name="双括号 1084">
              <a:extLst>
                <a:ext uri="{FF2B5EF4-FFF2-40B4-BE49-F238E27FC236}">
                  <a16:creationId xmlns:a16="http://schemas.microsoft.com/office/drawing/2014/main" id="{B91A4BBC-3E41-69D1-F2BB-21D447E02E35}"/>
                </a:ext>
              </a:extLst>
            </p:cNvPr>
            <p:cNvSpPr/>
            <p:nvPr/>
          </p:nvSpPr>
          <p:spPr>
            <a:xfrm>
              <a:off x="2056851" y="4984440"/>
              <a:ext cx="2071223" cy="258651"/>
            </a:xfrm>
            <a:prstGeom prst="bracketPair">
              <a:avLst>
                <a:gd name="adj" fmla="val 0"/>
              </a:avLst>
            </a:prstGeom>
            <a:ln w="12700">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extBox 2"/>
          <p:cNvSpPr txBox="1"/>
          <p:nvPr/>
        </p:nvSpPr>
        <p:spPr>
          <a:xfrm>
            <a:off x="2735770" y="2676239"/>
            <a:ext cx="6387655" cy="1253680"/>
          </a:xfrm>
          <a:prstGeom prst="rect">
            <a:avLst/>
          </a:prstGeom>
          <a:noFill/>
        </p:spPr>
        <p:txBody>
          <a:bodyPr wrap="none" lIns="0" tIns="0" rIns="0" bIns="0"/>
          <a:lstStyle/>
          <a:p>
            <a:pPr algn="ctr">
              <a:lnSpc>
                <a:spcPct val="103000"/>
              </a:lnSpc>
              <a:spcBef>
                <a:spcPts val="0"/>
              </a:spcBef>
              <a:spcAft>
                <a:spcPts val="0"/>
              </a:spcAft>
            </a:pPr>
            <a:r>
              <a:rPr sz="6600" i="0" dirty="0">
                <a:latin typeface="Arial" panose="020B0604020202020204" pitchFamily="34" charset="0"/>
                <a:ea typeface="Roboto"/>
                <a:cs typeface="Arial" panose="020B0604020202020204" pitchFamily="34" charset="0"/>
              </a:rPr>
              <a:t>Questions?</a:t>
            </a:r>
          </a:p>
        </p:txBody>
      </p:sp>
      <p:sp>
        <p:nvSpPr>
          <p:cNvPr id="6" name="灯片编号占位符 12"/>
          <p:cNvSpPr>
            <a:spLocks noGrp="1"/>
          </p:cNvSpPr>
          <p:nvPr>
            <p:ph type="sldNum" sz="quarter" idx="12"/>
          </p:nvPr>
        </p:nvSpPr>
        <p:spPr>
          <a:xfrm>
            <a:off x="10058400" y="6492875"/>
            <a:ext cx="2133600" cy="365125"/>
          </a:xfrm>
        </p:spPr>
        <p:txBody>
          <a:bodyPr/>
          <a:lstStyle/>
          <a:p>
            <a:fld id="{C1FF6DA9-008F-8B48-92A6-B652298478BF}" type="slidenum">
              <a:rPr lang="en-US" smtClean="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tx1"/>
          </a:solidFill>
        </a:ln>
      </a:spPr>
      <a:bodyPr lIns="0" tIns="0" rIns="0" bIns="0" rtlCol="0" anchor="ctr"/>
      <a:lstStyle>
        <a:defPPr algn="ctr">
          <a:defRPr dirty="0"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6004</TotalTime>
  <Words>476</Words>
  <Application>Microsoft Office PowerPoint</Application>
  <PresentationFormat>宽屏</PresentationFormat>
  <Paragraphs>60</Paragraphs>
  <Slides>7</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vt:lpstr>
      <vt:lpstr>Arial Unicode MS</vt:lpstr>
      <vt:lpstr>CircularXXWeb</vt:lpstr>
      <vt:lpstr>Noto Sans SC</vt:lpstr>
      <vt:lpstr>等线</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cmcc</dc:creator>
  <dc:description>generated using python-pptx</dc:description>
  <cp:lastModifiedBy>Feng Yang</cp:lastModifiedBy>
  <cp:revision>198</cp:revision>
  <dcterms:created xsi:type="dcterms:W3CDTF">2013-01-27T09:14:00Z</dcterms:created>
  <dcterms:modified xsi:type="dcterms:W3CDTF">2026-03-13T08:16:33Z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93552EED43C34795A4EC55FFAEDF776D_13</vt:lpwstr>
  </property>
  <property fmtid="{D5CDD505-2E9C-101B-9397-08002B2CF9AE}" pid="3" name="KSOProductBuildVer">
    <vt:lpwstr>2052-12.8.2.21177</vt:lpwstr>
  </property>
</Properties>
</file>