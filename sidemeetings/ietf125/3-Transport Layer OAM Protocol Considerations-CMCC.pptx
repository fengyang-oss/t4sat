
<file path=[Content_Types].xml><?xml version="1.0" encoding="utf-8"?>
<Types xmlns="http://schemas.openxmlformats.org/package/2006/content-types">
  <Default Extension="jpeg" ContentType="image/jpeg"/>
  <Default Extension="JPG" ContentType="image/.jp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sldIdLst>
    <p:sldId id="256" r:id="rId3"/>
    <p:sldId id="270" r:id="rId5"/>
    <p:sldId id="272" r:id="rId6"/>
    <p:sldId id="258" r:id="rId7"/>
    <p:sldId id="271" r:id="rId8"/>
    <p:sldId id="260" r:id="rId9"/>
    <p:sldId id="263" r:id="rId1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Danielle Claude" initials="DC" lastIdx="6" clrIdx="0"/>
  <p:cmAuthor id="7" name="184206967" initials="1" lastIdx="1" clrIdx="6"/>
  <p:cmAuthor id="1" name="Rob Hemmerich" initials="rh" lastIdx="50" clrIdx="1"/>
  <p:cmAuthor id="2" name="nhill" initials="n" lastIdx="20" clrIdx="2"/>
  <p:cmAuthor id="3" name="fafa" initials="f" lastIdx="2" clrIdx="1"/>
  <p:cmAuthor id="4" name="maoheng" initials="mh" lastIdx="13" clrIdx="3"/>
  <p:cmAuthor id="5" name="树明 聂" initials="树明" lastIdx="1" clrIdx="4"/>
  <p:cmAuthor id="6" name="administrator" initials="admin" lastIdx="1" clrIdx="5"/>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0"/>
    <p:restoredTop sz="95026" autoAdjust="0"/>
  </p:normalViewPr>
  <p:slideViewPr>
    <p:cSldViewPr snapToGrid="0" snapToObjects="1" showGuides="1">
      <p:cViewPr varScale="1">
        <p:scale>
          <a:sx n="107" d="100"/>
          <a:sy n="107" d="100"/>
        </p:scale>
        <p:origin x="636" y="9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 Type="http://schemas.openxmlformats.org/officeDocument/2006/relationships/theme" Target="theme/theme1.xml"/><Relationship Id="rId14" Type="http://schemas.openxmlformats.org/officeDocument/2006/relationships/commentAuthors" Target="commentAuthors.xml"/><Relationship Id="rId13" Type="http://schemas.openxmlformats.org/officeDocument/2006/relationships/tableStyles" Target="tableStyles.xml"/><Relationship Id="rId12" Type="http://schemas.openxmlformats.org/officeDocument/2006/relationships/viewProps" Target="viewProps.xml"/><Relationship Id="rId11" Type="http://schemas.openxmlformats.org/officeDocument/2006/relationships/presProps" Target="presProps.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F770FE8-58DE-4A1E-BD78-344F750F6B4C}"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B84D0E0-B946-42B8-9D7A-E1EB52C368BF}"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1B84D0E0-B946-42B8-9D7A-E1EB52C368BF}" type="slidenum">
              <a:rPr lang="zh-CN" altLang="en-US" smtClean="0"/>
            </a:fld>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Content Placeholder 2"/>
          <p:cNvSpPr>
            <a:spLocks noGrp="1"/>
          </p:cNvSpPr>
          <p:nvPr>
            <p:ph idx="1"/>
          </p:nvPr>
        </p:nvSpPr>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panose="020B0604020202020204"/>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panose="020B0604020202020204"/>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panose="020B0604020202020204"/>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4" name="文本框 3"/>
          <p:cNvSpPr txBox="1"/>
          <p:nvPr/>
        </p:nvSpPr>
        <p:spPr>
          <a:xfrm>
            <a:off x="555625" y="1520190"/>
            <a:ext cx="11268075" cy="1932965"/>
          </a:xfrm>
          <a:prstGeom prst="rect">
            <a:avLst/>
          </a:prstGeom>
          <a:noFill/>
        </p:spPr>
        <p:txBody>
          <a:bodyPr wrap="square" rtlCol="0" anchor="t">
            <a:spAutoFit/>
          </a:bodyPr>
          <a:lstStyle/>
          <a:p>
            <a:pPr algn="ctr">
              <a:lnSpc>
                <a:spcPct val="114000"/>
              </a:lnSpc>
            </a:pPr>
            <a:r>
              <a:rPr lang="en-US" altLang="zh-CN" sz="5400" spc="-10" dirty="0">
                <a:cs typeface="Calibri" panose="020F0502020204030204"/>
              </a:rPr>
              <a:t>Transport Layer OAM </a:t>
            </a:r>
            <a:r>
              <a:rPr lang="en-US" altLang="zh-CN" sz="5400" spc="-10">
                <a:cs typeface="Calibri" panose="020F0502020204030204"/>
              </a:rPr>
              <a:t>Protocol Considerations</a:t>
            </a:r>
            <a:endParaRPr lang="en-US" altLang="zh-CN" sz="5400" spc="-10" dirty="0">
              <a:cs typeface="Calibri" panose="020F0502020204030204"/>
            </a:endParaRPr>
          </a:p>
        </p:txBody>
      </p:sp>
      <p:sp>
        <p:nvSpPr>
          <p:cNvPr id="2" name="文本框 1"/>
          <p:cNvSpPr txBox="1"/>
          <p:nvPr/>
        </p:nvSpPr>
        <p:spPr>
          <a:xfrm>
            <a:off x="4286885" y="5343525"/>
            <a:ext cx="4163695" cy="460375"/>
          </a:xfrm>
          <a:prstGeom prst="rect">
            <a:avLst/>
          </a:prstGeom>
          <a:noFill/>
        </p:spPr>
        <p:txBody>
          <a:bodyPr wrap="square" rtlCol="0" anchor="t">
            <a:spAutoFit/>
          </a:bodyPr>
          <a:lstStyle/>
          <a:p>
            <a:pPr>
              <a:spcBef>
                <a:spcPts val="400"/>
              </a:spcBef>
            </a:pPr>
            <a:r>
              <a:rPr lang="en-US" altLang="zh-CN" sz="2400" dirty="0">
                <a:solidFill>
                  <a:schemeClr val="tx1"/>
                </a:solidFill>
                <a:latin typeface="Arial" panose="020B0604020202020204" pitchFamily="34" charset="0"/>
                <a:cs typeface="Arial" panose="020B0604020202020204" pitchFamily="34" charset="0"/>
                <a:sym typeface="+mn-ea"/>
              </a:rPr>
              <a:t>Feng Yang (China Mobile)</a:t>
            </a:r>
            <a:endParaRPr lang="en-US" altLang="zh-CN" sz="2400" dirty="0">
              <a:solidFill>
                <a:schemeClr val="tx1"/>
              </a:solidFill>
              <a:latin typeface="Arial" panose="020B0604020202020204" pitchFamily="34" charset="0"/>
              <a:cs typeface="Arial" panose="020B0604020202020204" pitchFamily="34" charset="0"/>
              <a:sym typeface="+mn-ea"/>
            </a:endParaRPr>
          </a:p>
        </p:txBody>
      </p:sp>
      <p:sp>
        <p:nvSpPr>
          <p:cNvPr id="7" name="矩形 6"/>
          <p:cNvSpPr/>
          <p:nvPr/>
        </p:nvSpPr>
        <p:spPr>
          <a:xfrm>
            <a:off x="4854834" y="6085230"/>
            <a:ext cx="2972552" cy="368300"/>
          </a:xfrm>
          <a:prstGeom prst="rect">
            <a:avLst/>
          </a:prstGeom>
        </p:spPr>
        <p:txBody>
          <a:bodyPr wrap="square">
            <a:spAutoFit/>
          </a:bodyPr>
          <a:lstStyle/>
          <a:p>
            <a:pPr algn="ctr"/>
            <a:r>
              <a:rPr lang="en-US" altLang="zh-CN" dirty="0">
                <a:latin typeface="Arial Unicode MS" panose="020B0604020202020204" charset="-122"/>
                <a:ea typeface="Arial Unicode MS" panose="020B0604020202020204" charset="-122"/>
                <a:cs typeface="Arial Unicode MS" panose="020B0604020202020204" charset="-122"/>
              </a:rPr>
              <a:t>IETF-125, March 2026</a:t>
            </a:r>
            <a:endParaRPr lang="zh-CN" altLang="en-US" dirty="0">
              <a:latin typeface="Arial Unicode MS" panose="020B0604020202020204" charset="-122"/>
              <a:ea typeface="Arial Unicode MS" panose="020B0604020202020204" charset="-122"/>
              <a:cs typeface="Arial Unicode MS" panose="020B0604020202020204" charset="-122"/>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5"/>
          <p:cNvSpPr txBox="1"/>
          <p:nvPr/>
        </p:nvSpPr>
        <p:spPr>
          <a:xfrm>
            <a:off x="780288" y="692658"/>
            <a:ext cx="6136078" cy="482155"/>
          </a:xfrm>
          <a:prstGeom prst="rect">
            <a:avLst/>
          </a:prstGeom>
          <a:noFill/>
        </p:spPr>
        <p:txBody>
          <a:bodyPr wrap="none" lIns="0" tIns="0" rIns="0" bIns="0"/>
          <a:lstStyle/>
          <a:p>
            <a:pPr algn="just">
              <a:lnSpc>
                <a:spcPct val="112000"/>
              </a:lnSpc>
              <a:spcBef>
                <a:spcPts val="0"/>
              </a:spcBef>
              <a:spcAft>
                <a:spcPts val="0"/>
              </a:spcAft>
            </a:pPr>
            <a:r>
              <a:rPr lang="en-US" altLang="zh-CN" sz="4000" b="1" dirty="0">
                <a:solidFill>
                  <a:srgbClr val="071449"/>
                </a:solidFill>
                <a:latin typeface="Noto Sans SC" panose="020B0200000000000000" charset="-122"/>
                <a:ea typeface="Noto Sans SC" panose="020B0200000000000000" charset="-122"/>
              </a:rPr>
              <a:t>Background</a:t>
            </a:r>
            <a:endParaRPr sz="4000" b="1" i="0" dirty="0">
              <a:solidFill>
                <a:srgbClr val="071449"/>
              </a:solidFill>
              <a:latin typeface="Noto Sans SC" panose="020B0200000000000000" charset="-122"/>
              <a:ea typeface="Noto Sans SC" panose="020B0200000000000000" charset="-122"/>
            </a:endParaRPr>
          </a:p>
        </p:txBody>
      </p:sp>
      <p:sp>
        <p:nvSpPr>
          <p:cNvPr id="4" name="文本框 3"/>
          <p:cNvSpPr txBox="1"/>
          <p:nvPr/>
        </p:nvSpPr>
        <p:spPr>
          <a:xfrm>
            <a:off x="780288" y="1840126"/>
            <a:ext cx="10389140" cy="3876675"/>
          </a:xfrm>
          <a:prstGeom prst="rect">
            <a:avLst/>
          </a:prstGeom>
          <a:noFill/>
        </p:spPr>
        <p:txBody>
          <a:bodyPr wrap="square">
            <a:spAutoFit/>
          </a:bodyPr>
          <a:lstStyle/>
          <a:p>
            <a:pPr>
              <a:spcAft>
                <a:spcPts val="600"/>
              </a:spcAft>
            </a:pPr>
            <a:r>
              <a:rPr lang="en-US" altLang="zh-CN" sz="2400" b="1" dirty="0"/>
              <a:t>LEO satellite transport:</a:t>
            </a:r>
            <a:endParaRPr lang="en-US" altLang="zh-CN" sz="2400" b="1" dirty="0"/>
          </a:p>
          <a:p>
            <a:pPr marL="342900" indent="-342900">
              <a:spcAft>
                <a:spcPts val="600"/>
              </a:spcAft>
              <a:buFont typeface="Arial" panose="020B0604020202020204" pitchFamily="34" charset="0"/>
              <a:buChar char="•"/>
            </a:pPr>
            <a:r>
              <a:rPr lang="en-US" altLang="zh-CN" sz="2400" dirty="0"/>
              <a:t>Non-congestive latency variation and loss </a:t>
            </a:r>
            <a:endParaRPr lang="en-US" altLang="zh-CN" sz="2400" dirty="0"/>
          </a:p>
          <a:p>
            <a:pPr marL="342900" indent="-342900">
              <a:spcAft>
                <a:spcPts val="600"/>
              </a:spcAft>
              <a:buFont typeface="Arial" panose="020B0604020202020204" pitchFamily="34" charset="0"/>
              <a:buChar char="•"/>
            </a:pPr>
            <a:r>
              <a:rPr lang="en-US" altLang="zh-CN" sz="2400" dirty="0"/>
              <a:t>Time-varying capacity</a:t>
            </a:r>
            <a:endParaRPr lang="en-US" altLang="zh-CN" sz="2400" dirty="0"/>
          </a:p>
          <a:p>
            <a:pPr marL="342900" indent="-342900">
              <a:spcAft>
                <a:spcPts val="600"/>
              </a:spcAft>
              <a:buFont typeface="Arial" panose="020B0604020202020204" pitchFamily="34" charset="0"/>
              <a:buChar char="•"/>
            </a:pPr>
            <a:r>
              <a:rPr lang="en-US" altLang="zh-CN" sz="2400" dirty="0"/>
              <a:t>Frequent route/beam handover</a:t>
            </a:r>
            <a:endParaRPr lang="en-US" altLang="zh-CN" sz="2400" dirty="0"/>
          </a:p>
          <a:p>
            <a:pPr>
              <a:spcAft>
                <a:spcPts val="600"/>
              </a:spcAft>
            </a:pPr>
            <a:endParaRPr lang="en-US" altLang="zh-CN" sz="2400" dirty="0"/>
          </a:p>
          <a:p>
            <a:pPr>
              <a:spcAft>
                <a:spcPts val="600"/>
              </a:spcAft>
            </a:pPr>
            <a:r>
              <a:rPr lang="en-US" altLang="zh-CN" sz="2400" b="1" dirty="0"/>
              <a:t>HTTP/3 transfers test over Starlink</a:t>
            </a:r>
            <a:r>
              <a:rPr lang="en-US" altLang="zh-CN" sz="2400" b="1" baseline="30000" dirty="0"/>
              <a:t>[1]</a:t>
            </a:r>
            <a:endParaRPr lang="en-US" altLang="zh-CN" sz="2400" b="1" baseline="30000" dirty="0"/>
          </a:p>
          <a:p>
            <a:pPr marL="342900" indent="-342900">
              <a:lnSpc>
                <a:spcPct val="150000"/>
              </a:lnSpc>
              <a:buFont typeface="Arial" panose="020B0604020202020204" pitchFamily="34" charset="0"/>
              <a:buChar char="•"/>
            </a:pPr>
            <a:r>
              <a:rPr lang="en-US" altLang="zh-CN" sz="2400" dirty="0"/>
              <a:t>High packet loss:  </a:t>
            </a:r>
            <a:r>
              <a:rPr lang="en-US" altLang="zh-CN" sz="2400" b="1" dirty="0"/>
              <a:t>1.56%</a:t>
            </a:r>
            <a:r>
              <a:rPr lang="en-US" altLang="zh-CN" sz="2400" dirty="0"/>
              <a:t> for downloads and </a:t>
            </a:r>
            <a:r>
              <a:rPr lang="en-US" altLang="zh-CN" sz="2400" b="1" dirty="0"/>
              <a:t>1.96%</a:t>
            </a:r>
            <a:r>
              <a:rPr lang="en-US" altLang="zh-CN" sz="2400" dirty="0"/>
              <a:t> for uploads</a:t>
            </a:r>
            <a:endParaRPr lang="en-US" altLang="zh-CN" sz="2400" dirty="0"/>
          </a:p>
          <a:p>
            <a:pPr marL="342900" indent="-342900">
              <a:lnSpc>
                <a:spcPct val="150000"/>
              </a:lnSpc>
              <a:buFont typeface="Arial" panose="020B0604020202020204" pitchFamily="34" charset="0"/>
              <a:buChar char="•"/>
            </a:pPr>
            <a:r>
              <a:rPr lang="en-US" altLang="zh-CN" sz="2400" dirty="0"/>
              <a:t>High queuing delay:</a:t>
            </a:r>
            <a:r>
              <a:rPr lang="zh-CN" altLang="en-US" sz="2400" dirty="0"/>
              <a:t> </a:t>
            </a:r>
            <a:r>
              <a:rPr lang="en-US" altLang="zh-CN" sz="2400" dirty="0"/>
              <a:t>95</a:t>
            </a:r>
            <a:r>
              <a:rPr lang="en-US" altLang="zh-CN" sz="2400" baseline="30000" dirty="0"/>
              <a:t>th</a:t>
            </a:r>
            <a:r>
              <a:rPr lang="en-US" altLang="zh-CN" sz="2400" dirty="0"/>
              <a:t> RTT is </a:t>
            </a:r>
            <a:r>
              <a:rPr lang="en-US" altLang="zh-CN" sz="2400" b="1" dirty="0"/>
              <a:t>175ms</a:t>
            </a:r>
            <a:r>
              <a:rPr lang="en-US" altLang="zh-CN" sz="2400" dirty="0"/>
              <a:t> when propagation delay is only </a:t>
            </a:r>
            <a:r>
              <a:rPr lang="en-US" altLang="zh-CN" sz="2400" b="1" dirty="0"/>
              <a:t>20ms</a:t>
            </a:r>
            <a:endParaRPr lang="en-US" altLang="zh-CN" sz="2400" b="1" dirty="0"/>
          </a:p>
        </p:txBody>
      </p:sp>
      <p:sp>
        <p:nvSpPr>
          <p:cNvPr id="5" name="文本框 4"/>
          <p:cNvSpPr txBox="1"/>
          <p:nvPr/>
        </p:nvSpPr>
        <p:spPr>
          <a:xfrm>
            <a:off x="654184" y="6193410"/>
            <a:ext cx="11116283" cy="583565"/>
          </a:xfrm>
          <a:prstGeom prst="rect">
            <a:avLst/>
          </a:prstGeom>
          <a:noFill/>
        </p:spPr>
        <p:txBody>
          <a:bodyPr wrap="square">
            <a:spAutoFit/>
          </a:bodyPr>
          <a:lstStyle/>
          <a:p>
            <a:r>
              <a:rPr lang="en-US" altLang="zh-CN" sz="1600" i="1" dirty="0">
                <a:solidFill>
                  <a:srgbClr val="0E0E0E"/>
                </a:solidFill>
                <a:cs typeface="+mn-lt"/>
              </a:rPr>
              <a:t>[1]MICHEL F, TREVISAN M, GIORDANO D, 2022. A first look at </a:t>
            </a:r>
            <a:r>
              <a:rPr lang="en-US" altLang="zh-CN" sz="1600" i="1" dirty="0" err="1">
                <a:solidFill>
                  <a:srgbClr val="0E0E0E"/>
                </a:solidFill>
                <a:cs typeface="+mn-lt"/>
              </a:rPr>
              <a:t>starlink</a:t>
            </a:r>
            <a:r>
              <a:rPr lang="en-US" altLang="zh-CN" sz="1600" i="1" dirty="0">
                <a:solidFill>
                  <a:srgbClr val="0E0E0E"/>
                </a:solidFill>
                <a:cs typeface="+mn-lt"/>
              </a:rPr>
              <a:t> performance. Proceedings of the 22nd ACM Internet Measurement Conference. ACM: 130-136.</a:t>
            </a:r>
            <a:endParaRPr lang="zh-CN" altLang="en-US" sz="1600" i="1" dirty="0">
              <a:cs typeface="+mn-lt"/>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768486" y="1793791"/>
            <a:ext cx="9377464" cy="4107815"/>
          </a:xfrm>
          <a:prstGeom prst="rect">
            <a:avLst/>
          </a:prstGeom>
          <a:noFill/>
        </p:spPr>
        <p:txBody>
          <a:bodyPr wrap="square">
            <a:spAutoFit/>
          </a:bodyPr>
          <a:lstStyle/>
          <a:p>
            <a:pPr marL="285750" indent="-285750">
              <a:spcAft>
                <a:spcPts val="600"/>
              </a:spcAft>
              <a:buFont typeface="Arial" panose="020B0604020202020204" pitchFamily="34" charset="0"/>
              <a:buChar char="•"/>
            </a:pPr>
            <a:r>
              <a:rPr lang="en-US" altLang="zh-CN" sz="2400" b="1" dirty="0">
                <a:solidFill>
                  <a:srgbClr val="18181B"/>
                </a:solidFill>
                <a:cs typeface="+mn-lt"/>
              </a:rPr>
              <a:t>TCP variations</a:t>
            </a:r>
            <a:r>
              <a:rPr lang="en-US" altLang="zh-CN" sz="2000" dirty="0">
                <a:solidFill>
                  <a:srgbClr val="18181B"/>
                </a:solidFill>
                <a:cs typeface="+mn-lt"/>
              </a:rPr>
              <a:t>: </a:t>
            </a:r>
            <a:r>
              <a:rPr lang="en-US" altLang="zh-CN" sz="2000" dirty="0" err="1">
                <a:solidFill>
                  <a:srgbClr val="18181B"/>
                </a:solidFill>
                <a:cs typeface="+mn-lt"/>
              </a:rPr>
              <a:t>Hybla</a:t>
            </a:r>
            <a:r>
              <a:rPr lang="en-US" altLang="zh-CN" sz="2000" dirty="0">
                <a:solidFill>
                  <a:srgbClr val="18181B"/>
                </a:solidFill>
                <a:cs typeface="+mn-lt"/>
              </a:rPr>
              <a:t>/CUBIC/BBR, etc.</a:t>
            </a:r>
            <a:endParaRPr lang="en-US" altLang="zh-CN" sz="2000" dirty="0">
              <a:solidFill>
                <a:srgbClr val="18181B"/>
              </a:solidFill>
              <a:cs typeface="+mn-lt"/>
            </a:endParaRPr>
          </a:p>
          <a:p>
            <a:pPr marL="742950" lvl="1" indent="-285750">
              <a:spcAft>
                <a:spcPts val="600"/>
              </a:spcAft>
              <a:buFont typeface="Arial" panose="020B0604020202020204" pitchFamily="34" charset="0"/>
              <a:buChar char="•"/>
            </a:pPr>
            <a:r>
              <a:rPr lang="en-US" altLang="zh-CN" sz="2000" dirty="0">
                <a:solidFill>
                  <a:srgbClr val="18181B"/>
                </a:solidFill>
                <a:cs typeface="+mn-lt"/>
              </a:rPr>
              <a:t>Bottleneck probe based on loss/delay/bandwidth</a:t>
            </a:r>
            <a:endParaRPr lang="en-US" altLang="zh-CN" sz="2000" dirty="0">
              <a:solidFill>
                <a:srgbClr val="18181B"/>
              </a:solidFill>
              <a:cs typeface="+mn-lt"/>
            </a:endParaRPr>
          </a:p>
          <a:p>
            <a:pPr marL="285750" indent="-285750" algn="l">
              <a:spcAft>
                <a:spcPts val="600"/>
              </a:spcAft>
              <a:buFont typeface="Arial" panose="020B0604020202020204" pitchFamily="34" charset="0"/>
              <a:buChar char="•"/>
            </a:pPr>
            <a:r>
              <a:rPr lang="en-US" altLang="zh-CN" sz="2400" b="1" dirty="0">
                <a:solidFill>
                  <a:srgbClr val="18181B"/>
                </a:solidFill>
                <a:cs typeface="+mn-lt"/>
              </a:rPr>
              <a:t>PEP / split connections</a:t>
            </a:r>
            <a:r>
              <a:rPr lang="en-US" altLang="zh-CN" sz="2000" b="0" i="0" dirty="0">
                <a:solidFill>
                  <a:srgbClr val="18181B"/>
                </a:solidFill>
                <a:effectLst/>
                <a:cs typeface="+mn-lt"/>
              </a:rPr>
              <a:t>:</a:t>
            </a:r>
            <a:endParaRPr lang="en-US" altLang="zh-CN" sz="2000" b="0" i="0" dirty="0">
              <a:solidFill>
                <a:srgbClr val="18181B"/>
              </a:solidFill>
              <a:effectLst/>
              <a:cs typeface="+mn-lt"/>
            </a:endParaRPr>
          </a:p>
          <a:p>
            <a:pPr marL="742950" lvl="1" indent="-285750">
              <a:spcAft>
                <a:spcPts val="600"/>
              </a:spcAft>
              <a:buFont typeface="Arial" panose="020B0604020202020204" pitchFamily="34" charset="0"/>
              <a:buChar char="•"/>
            </a:pPr>
            <a:r>
              <a:rPr lang="en-US" altLang="zh-CN" sz="2000" dirty="0">
                <a:cs typeface="+mn-lt"/>
              </a:rPr>
              <a:t>Splits TCP at satellite edges to hide long RTT</a:t>
            </a:r>
            <a:endParaRPr lang="en-US" altLang="zh-CN" sz="2000" b="0" i="0" dirty="0">
              <a:solidFill>
                <a:srgbClr val="18181B"/>
              </a:solidFill>
              <a:effectLst/>
              <a:cs typeface="+mn-lt"/>
            </a:endParaRPr>
          </a:p>
          <a:p>
            <a:pPr marL="285750" indent="-285750" algn="l">
              <a:spcAft>
                <a:spcPts val="600"/>
              </a:spcAft>
              <a:buFont typeface="Arial" panose="020B0604020202020204" pitchFamily="34" charset="0"/>
              <a:buChar char="•"/>
            </a:pPr>
            <a:r>
              <a:rPr lang="en-US" altLang="zh-CN" sz="2400" b="1" dirty="0">
                <a:solidFill>
                  <a:srgbClr val="18181B"/>
                </a:solidFill>
                <a:cs typeface="+mn-lt"/>
              </a:rPr>
              <a:t>Explicit signal</a:t>
            </a:r>
            <a:r>
              <a:rPr lang="en-US" altLang="zh-CN" sz="2000" b="0" i="0" dirty="0">
                <a:solidFill>
                  <a:srgbClr val="18181B"/>
                </a:solidFill>
                <a:effectLst/>
                <a:cs typeface="+mn-lt"/>
              </a:rPr>
              <a:t>: </a:t>
            </a:r>
            <a:endParaRPr lang="en-US" altLang="zh-CN" sz="2000" b="0" i="0" dirty="0">
              <a:solidFill>
                <a:srgbClr val="18181B"/>
              </a:solidFill>
              <a:effectLst/>
              <a:cs typeface="+mn-lt"/>
            </a:endParaRPr>
          </a:p>
          <a:p>
            <a:pPr marL="742950" lvl="1" indent="-285750">
              <a:spcAft>
                <a:spcPts val="600"/>
              </a:spcAft>
              <a:buFont typeface="Arial" panose="020B0604020202020204" pitchFamily="34" charset="0"/>
              <a:buChar char="•"/>
            </a:pPr>
            <a:r>
              <a:rPr lang="en-US" altLang="zh-CN" sz="2000" dirty="0">
                <a:cs typeface="+mn-lt"/>
              </a:rPr>
              <a:t>Link-layer/physical info (fade, resource allocation, handover schedule) notification</a:t>
            </a:r>
            <a:endParaRPr lang="en-US" altLang="zh-CN" sz="2000" b="0" i="0" dirty="0">
              <a:solidFill>
                <a:srgbClr val="18181B"/>
              </a:solidFill>
              <a:effectLst/>
              <a:cs typeface="+mn-lt"/>
            </a:endParaRPr>
          </a:p>
          <a:p>
            <a:pPr marL="285750" indent="-285750">
              <a:spcAft>
                <a:spcPts val="600"/>
              </a:spcAft>
              <a:buFont typeface="Arial" panose="020B0604020202020204" pitchFamily="34" charset="0"/>
              <a:buChar char="•"/>
            </a:pPr>
            <a:r>
              <a:rPr lang="en-US" altLang="zh-CN" sz="2400" b="1" dirty="0">
                <a:solidFill>
                  <a:srgbClr val="18181B"/>
                </a:solidFill>
                <a:cs typeface="+mn-lt"/>
              </a:rPr>
              <a:t>Multi-Session</a:t>
            </a:r>
            <a:r>
              <a:rPr lang="en-US" altLang="zh-CN" sz="2000" dirty="0">
                <a:solidFill>
                  <a:srgbClr val="18181B"/>
                </a:solidFill>
                <a:cs typeface="+mn-lt"/>
              </a:rPr>
              <a:t>:</a:t>
            </a:r>
            <a:endParaRPr lang="en-US" altLang="zh-CN" sz="2000" dirty="0">
              <a:solidFill>
                <a:srgbClr val="18181B"/>
              </a:solidFill>
              <a:cs typeface="+mn-lt"/>
            </a:endParaRPr>
          </a:p>
          <a:p>
            <a:pPr marL="742950" lvl="1" indent="-285750">
              <a:spcAft>
                <a:spcPts val="600"/>
              </a:spcAft>
              <a:buFont typeface="Arial" panose="020B0604020202020204" pitchFamily="34" charset="0"/>
              <a:buChar char="•"/>
            </a:pPr>
            <a:r>
              <a:rPr lang="en-US" altLang="zh-CN" sz="2000" dirty="0">
                <a:cs typeface="+mn-lt"/>
              </a:rPr>
              <a:t>Uses several session concurrently to</a:t>
            </a:r>
            <a:r>
              <a:rPr lang="zh-CN" altLang="en-US" sz="2000" dirty="0">
                <a:cs typeface="+mn-lt"/>
              </a:rPr>
              <a:t> </a:t>
            </a:r>
            <a:r>
              <a:rPr lang="en-US" altLang="zh-CN" sz="2000" dirty="0">
                <a:cs typeface="+mn-lt"/>
              </a:rPr>
              <a:t>f</a:t>
            </a:r>
            <a:r>
              <a:rPr lang="en-US" altLang="zh-CN" sz="2000" dirty="0">
                <a:solidFill>
                  <a:srgbClr val="18181B"/>
                </a:solidFill>
                <a:cs typeface="+mn-lt"/>
              </a:rPr>
              <a:t>ill up bandwidth</a:t>
            </a:r>
            <a:endParaRPr lang="en-US" altLang="zh-CN" sz="2000" dirty="0">
              <a:solidFill>
                <a:srgbClr val="18181B"/>
              </a:solidFill>
              <a:cs typeface="+mn-lt"/>
            </a:endParaRPr>
          </a:p>
          <a:p>
            <a:pPr marL="285750" lvl="0" indent="-285750">
              <a:spcAft>
                <a:spcPts val="600"/>
              </a:spcAft>
              <a:buFont typeface="Arial" panose="020B0604020202020204" pitchFamily="34" charset="0"/>
              <a:buChar char="•"/>
            </a:pPr>
            <a:r>
              <a:rPr lang="en-US" altLang="zh-CN" sz="2000" b="1" dirty="0">
                <a:solidFill>
                  <a:srgbClr val="18181B"/>
                </a:solidFill>
                <a:cs typeface="+mn-lt"/>
              </a:rPr>
              <a:t>QUIC:</a:t>
            </a:r>
            <a:endParaRPr lang="en-US" altLang="zh-CN" sz="2000" b="1" dirty="0">
              <a:solidFill>
                <a:srgbClr val="18181B"/>
              </a:solidFill>
              <a:cs typeface="+mn-lt"/>
            </a:endParaRPr>
          </a:p>
          <a:p>
            <a:pPr marL="742950" lvl="1" indent="-285750">
              <a:spcAft>
                <a:spcPts val="600"/>
              </a:spcAft>
              <a:buFont typeface="Arial" panose="020B0604020202020204" pitchFamily="34" charset="0"/>
              <a:buChar char="•"/>
            </a:pPr>
            <a:r>
              <a:rPr lang="en-US" altLang="zh-CN" sz="2000" dirty="0">
                <a:solidFill>
                  <a:srgbClr val="18181B"/>
                </a:solidFill>
                <a:cs typeface="+mn-lt"/>
              </a:rPr>
              <a:t>Decouple of congestion control and reliability</a:t>
            </a:r>
            <a:endParaRPr lang="en-US" altLang="zh-CN" sz="2000" dirty="0">
              <a:solidFill>
                <a:srgbClr val="18181B"/>
              </a:solidFill>
              <a:cs typeface="+mn-lt"/>
            </a:endParaRPr>
          </a:p>
        </p:txBody>
      </p:sp>
      <p:sp>
        <p:nvSpPr>
          <p:cNvPr id="4" name="TextBox 5"/>
          <p:cNvSpPr txBox="1"/>
          <p:nvPr/>
        </p:nvSpPr>
        <p:spPr>
          <a:xfrm>
            <a:off x="780288" y="692658"/>
            <a:ext cx="6136078" cy="482155"/>
          </a:xfrm>
          <a:prstGeom prst="rect">
            <a:avLst/>
          </a:prstGeom>
          <a:noFill/>
        </p:spPr>
        <p:txBody>
          <a:bodyPr wrap="none" lIns="0" tIns="0" rIns="0" bIns="0"/>
          <a:lstStyle/>
          <a:p>
            <a:pPr algn="just">
              <a:lnSpc>
                <a:spcPct val="112000"/>
              </a:lnSpc>
              <a:spcBef>
                <a:spcPts val="0"/>
              </a:spcBef>
              <a:spcAft>
                <a:spcPts val="0"/>
              </a:spcAft>
            </a:pPr>
            <a:r>
              <a:rPr lang="en-US" altLang="zh-CN" sz="4000" b="1" dirty="0">
                <a:solidFill>
                  <a:srgbClr val="071449"/>
                </a:solidFill>
                <a:latin typeface="Noto Sans SC" panose="020B0200000000000000" charset="-122"/>
                <a:ea typeface="Noto Sans SC" panose="020B0200000000000000" charset="-122"/>
              </a:rPr>
              <a:t>Existing Work</a:t>
            </a:r>
            <a:endParaRPr sz="4000" b="1" dirty="0">
              <a:solidFill>
                <a:srgbClr val="071449"/>
              </a:solidFill>
              <a:latin typeface="Noto Sans SC" panose="020B0200000000000000" charset="-122"/>
              <a:ea typeface="Noto Sans SC" panose="020B0200000000000000" charset="-122"/>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6" name="TextBox 5"/>
          <p:cNvSpPr txBox="1"/>
          <p:nvPr/>
        </p:nvSpPr>
        <p:spPr>
          <a:xfrm>
            <a:off x="660844" y="782288"/>
            <a:ext cx="6138790" cy="578643"/>
          </a:xfrm>
          <a:prstGeom prst="rect">
            <a:avLst/>
          </a:prstGeom>
          <a:noFill/>
        </p:spPr>
        <p:txBody>
          <a:bodyPr wrap="none" lIns="0" tIns="0" rIns="0" bIns="0"/>
          <a:lstStyle/>
          <a:p>
            <a:pPr algn="just">
              <a:lnSpc>
                <a:spcPct val="110000"/>
              </a:lnSpc>
            </a:pPr>
            <a:r>
              <a:rPr lang="en-US" altLang="zh-CN" sz="4000" b="1" dirty="0">
                <a:solidFill>
                  <a:srgbClr val="05174D"/>
                </a:solidFill>
                <a:latin typeface="Noto Sans SC" panose="020B0200000000000000" charset="-122"/>
                <a:ea typeface="Noto Sans SC" panose="020B0200000000000000" charset="-122"/>
              </a:rPr>
              <a:t>Problem Statement</a:t>
            </a:r>
            <a:endParaRPr lang="en-US" altLang="zh-CN" sz="4000" b="1" dirty="0">
              <a:solidFill>
                <a:srgbClr val="05174D"/>
              </a:solidFill>
              <a:latin typeface="Noto Sans SC" panose="020B0200000000000000" charset="-122"/>
              <a:ea typeface="Noto Sans SC" panose="020B0200000000000000" charset="-122"/>
            </a:endParaRPr>
          </a:p>
          <a:p>
            <a:pPr algn="just">
              <a:lnSpc>
                <a:spcPct val="110000"/>
              </a:lnSpc>
              <a:spcBef>
                <a:spcPts val="0"/>
              </a:spcBef>
              <a:spcAft>
                <a:spcPts val="0"/>
              </a:spcAft>
            </a:pPr>
            <a:endParaRPr sz="4000" b="1" i="0" dirty="0">
              <a:solidFill>
                <a:srgbClr val="05174D"/>
              </a:solidFill>
              <a:latin typeface="Noto Sans SC" panose="020B0200000000000000" charset="-122"/>
              <a:ea typeface="Noto Sans SC" panose="020B0200000000000000" charset="-122"/>
            </a:endParaRPr>
          </a:p>
        </p:txBody>
      </p:sp>
      <p:sp>
        <p:nvSpPr>
          <p:cNvPr id="13" name="灯片编号占位符 12"/>
          <p:cNvSpPr>
            <a:spLocks noGrp="1"/>
          </p:cNvSpPr>
          <p:nvPr>
            <p:ph type="sldNum" sz="quarter" idx="12"/>
          </p:nvPr>
        </p:nvSpPr>
        <p:spPr>
          <a:xfrm>
            <a:off x="10058400" y="6492875"/>
            <a:ext cx="2133600" cy="365125"/>
          </a:xfrm>
        </p:spPr>
        <p:txBody>
          <a:bodyPr/>
          <a:lstStyle/>
          <a:p>
            <a:fld id="{C1FF6DA9-008F-8B48-92A6-B652298478BF}" type="slidenum">
              <a:rPr lang="en-US" smtClean="0"/>
            </a:fld>
            <a:endParaRPr lang="en-US"/>
          </a:p>
        </p:txBody>
      </p:sp>
      <p:sp>
        <p:nvSpPr>
          <p:cNvPr id="3" name="TextBox 9"/>
          <p:cNvSpPr txBox="1"/>
          <p:nvPr/>
        </p:nvSpPr>
        <p:spPr>
          <a:xfrm>
            <a:off x="874015" y="1963271"/>
            <a:ext cx="10458708" cy="4365811"/>
          </a:xfrm>
          <a:prstGeom prst="rect">
            <a:avLst/>
          </a:prstGeom>
          <a:noFill/>
        </p:spPr>
        <p:txBody>
          <a:bodyPr wrap="square" lIns="0" tIns="0" rIns="0" bIns="0"/>
          <a:lstStyle>
            <a:defPPr>
              <a:defRPr lang="en-US"/>
            </a:defPPr>
            <a:lvl1pPr algn="just">
              <a:spcBef>
                <a:spcPts val="0"/>
              </a:spcBef>
              <a:spcAft>
                <a:spcPts val="0"/>
              </a:spcAft>
              <a:defRPr/>
            </a:lvl1pPr>
          </a:lstStyle>
          <a:p>
            <a:r>
              <a:rPr lang="en-US" altLang="zh-CN" dirty="0"/>
              <a:t>In satellite networks, handovers between satellites and beams occur very frequently—Starlink, for instance, performs a handover approximately every 15 seconds. </a:t>
            </a:r>
            <a:endParaRPr lang="en-US" altLang="zh-CN" dirty="0"/>
          </a:p>
          <a:p>
            <a:endParaRPr lang="en-US" altLang="zh-CN" dirty="0"/>
          </a:p>
          <a:p>
            <a:r>
              <a:rPr lang="en-US" altLang="zh-CN" dirty="0"/>
              <a:t>Consequence is it will greatly impact transport protocol performance,</a:t>
            </a:r>
            <a:r>
              <a:rPr lang="zh-CN" altLang="en-US" dirty="0"/>
              <a:t> </a:t>
            </a:r>
            <a:r>
              <a:rPr lang="en-US" altLang="zh-CN" dirty="0"/>
              <a:t>and</a:t>
            </a:r>
            <a:r>
              <a:rPr lang="zh-CN" altLang="en-US" dirty="0"/>
              <a:t> </a:t>
            </a:r>
            <a:r>
              <a:rPr lang="en-US" altLang="zh-CN" dirty="0"/>
              <a:t>also waste</a:t>
            </a:r>
            <a:r>
              <a:rPr lang="zh-CN" altLang="en-US" dirty="0"/>
              <a:t> </a:t>
            </a:r>
            <a:r>
              <a:rPr lang="en-US" altLang="zh-CN" dirty="0"/>
              <a:t>of</a:t>
            </a:r>
            <a:r>
              <a:rPr lang="zh-CN" altLang="en-US" dirty="0"/>
              <a:t> </a:t>
            </a:r>
            <a:r>
              <a:rPr lang="en-US" altLang="zh-CN" dirty="0"/>
              <a:t>bandwidth.</a:t>
            </a:r>
            <a:endParaRPr lang="en-US" altLang="zh-CN" dirty="0"/>
          </a:p>
          <a:p>
            <a:pPr marL="285750" indent="-285750">
              <a:buFont typeface="Arial" panose="020B0604020202020204" pitchFamily="34" charset="0"/>
              <a:buChar char="•"/>
            </a:pPr>
            <a:r>
              <a:rPr lang="en-US" altLang="zh-CN" dirty="0"/>
              <a:t>If a handover causes a burst of packet losses, TCP would mistakenly interpret this as network congestion and revert from Congestion Avoidance back to Slow Start, then to ramp up again through Slow Start into Congestion Avoidance. </a:t>
            </a:r>
            <a:endParaRPr lang="en-US" altLang="zh-CN" dirty="0"/>
          </a:p>
          <a:p>
            <a:endParaRPr lang="en-US" altLang="zh-CN" dirty="0"/>
          </a:p>
          <a:p>
            <a:r>
              <a:rPr lang="en-US" altLang="zh-CN" dirty="0"/>
              <a:t>Transport protocol performance can be enhanced with kind of OAM capability:</a:t>
            </a:r>
            <a:endParaRPr lang="en-US" altLang="zh-CN" dirty="0"/>
          </a:p>
          <a:p>
            <a:pPr marL="285750" indent="-285750">
              <a:buFont typeface="Arial" panose="020B0604020202020204" pitchFamily="34" charset="0"/>
              <a:buChar char="•"/>
            </a:pPr>
            <a:r>
              <a:rPr lang="en-US" altLang="zh-CN" dirty="0"/>
              <a:t>Detect changes in delay, packet loss, </a:t>
            </a:r>
            <a:r>
              <a:rPr lang="en-US" altLang="zh-CN" dirty="0" err="1"/>
              <a:t>etc</a:t>
            </a:r>
            <a:r>
              <a:rPr lang="en-US" altLang="zh-CN" dirty="0"/>
              <a:t>; </a:t>
            </a:r>
            <a:endParaRPr lang="en-US" altLang="zh-CN" dirty="0"/>
          </a:p>
          <a:p>
            <a:pPr marL="742950" lvl="1" indent="-285750">
              <a:buFont typeface="Arial" panose="020B0604020202020204" pitchFamily="34" charset="0"/>
              <a:buChar char="•"/>
            </a:pPr>
            <a:r>
              <a:rPr lang="en-US" altLang="zh-CN" dirty="0"/>
              <a:t>Rationale: cumulative/delayed ACK introduces more latency in the control loop. </a:t>
            </a:r>
            <a:endParaRPr lang="en-US" altLang="zh-CN" dirty="0"/>
          </a:p>
          <a:p>
            <a:pPr marL="285750" indent="-285750">
              <a:buFont typeface="Arial" panose="020B0604020202020204" pitchFamily="34" charset="0"/>
              <a:buChar char="•"/>
            </a:pPr>
            <a:r>
              <a:rPr lang="en-US" altLang="zh-CN" dirty="0"/>
              <a:t>Detect connectivity break/recovery time;</a:t>
            </a:r>
            <a:endParaRPr lang="en-US" altLang="zh-CN" dirty="0"/>
          </a:p>
          <a:p>
            <a:pPr marL="742950" lvl="1" indent="-285750">
              <a:buFont typeface="Arial" panose="020B0604020202020204" pitchFamily="34" charset="0"/>
              <a:buChar char="•"/>
            </a:pPr>
            <a:r>
              <a:rPr lang="en-US" altLang="zh-CN" dirty="0"/>
              <a:t>Rationale: differentiate loss reason either by congestion or by handover.</a:t>
            </a:r>
            <a:endParaRPr lang="en-US" altLang="zh-CN"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5"/>
          <p:cNvSpPr txBox="1"/>
          <p:nvPr/>
        </p:nvSpPr>
        <p:spPr>
          <a:xfrm>
            <a:off x="660844" y="782288"/>
            <a:ext cx="9272050" cy="578643"/>
          </a:xfrm>
          <a:prstGeom prst="rect">
            <a:avLst/>
          </a:prstGeom>
          <a:noFill/>
        </p:spPr>
        <p:txBody>
          <a:bodyPr wrap="none" lIns="0" tIns="0" rIns="0" bIns="0"/>
          <a:lstStyle/>
          <a:p>
            <a:pPr algn="just">
              <a:lnSpc>
                <a:spcPct val="110000"/>
              </a:lnSpc>
              <a:spcBef>
                <a:spcPts val="0"/>
              </a:spcBef>
              <a:spcAft>
                <a:spcPts val="0"/>
              </a:spcAft>
            </a:pPr>
            <a:r>
              <a:rPr lang="en-US" sz="4000" b="1" i="0">
                <a:solidFill>
                  <a:srgbClr val="05174D"/>
                </a:solidFill>
                <a:latin typeface="Noto Sans SC" panose="020B0200000000000000" charset="-122"/>
                <a:ea typeface="Noto Sans SC" panose="020B0200000000000000" charset="-122"/>
              </a:rPr>
              <a:t>Transport </a:t>
            </a:r>
            <a:r>
              <a:rPr lang="en-US" sz="4000" b="1" i="0" dirty="0">
                <a:solidFill>
                  <a:srgbClr val="05174D"/>
                </a:solidFill>
                <a:latin typeface="Noto Sans SC" panose="020B0200000000000000" charset="-122"/>
                <a:ea typeface="Noto Sans SC" panose="020B0200000000000000" charset="-122"/>
              </a:rPr>
              <a:t>Protocol OAM</a:t>
            </a:r>
            <a:endParaRPr sz="4000" b="1" i="0" dirty="0">
              <a:solidFill>
                <a:srgbClr val="05174D"/>
              </a:solidFill>
              <a:latin typeface="Noto Sans SC" panose="020B0200000000000000" charset="-122"/>
              <a:ea typeface="Noto Sans SC" panose="020B0200000000000000" charset="-122"/>
            </a:endParaRPr>
          </a:p>
        </p:txBody>
      </p:sp>
      <p:sp>
        <p:nvSpPr>
          <p:cNvPr id="35" name="文本框 34"/>
          <p:cNvSpPr txBox="1"/>
          <p:nvPr/>
        </p:nvSpPr>
        <p:spPr>
          <a:xfrm>
            <a:off x="660844" y="1980753"/>
            <a:ext cx="10892981" cy="3508653"/>
          </a:xfrm>
          <a:prstGeom prst="rect">
            <a:avLst/>
          </a:prstGeom>
          <a:noFill/>
        </p:spPr>
        <p:txBody>
          <a:bodyPr wrap="square">
            <a:spAutoFit/>
          </a:bodyPr>
          <a:lstStyle/>
          <a:p>
            <a:pPr>
              <a:spcAft>
                <a:spcPts val="600"/>
              </a:spcAft>
            </a:pPr>
            <a:r>
              <a:rPr lang="en-US" altLang="zh-CN" sz="2400" b="1" dirty="0"/>
              <a:t>Some options:</a:t>
            </a:r>
            <a:endParaRPr lang="en-US" altLang="zh-CN" sz="2400" b="1" dirty="0"/>
          </a:p>
          <a:p>
            <a:pPr marL="457200" indent="-457200">
              <a:spcAft>
                <a:spcPts val="600"/>
              </a:spcAft>
              <a:buAutoNum type="arabicPeriod"/>
            </a:pPr>
            <a:r>
              <a:rPr lang="en-US" altLang="zh-CN" sz="2400" b="1" dirty="0"/>
              <a:t>Per-session OAM: </a:t>
            </a:r>
            <a:endParaRPr lang="en-US" altLang="zh-CN" sz="2400" b="1" dirty="0"/>
          </a:p>
          <a:p>
            <a:pPr marL="914400" lvl="1" indent="-457200">
              <a:spcAft>
                <a:spcPts val="600"/>
              </a:spcAft>
              <a:buFont typeface="Arial" panose="020B0604020202020204" pitchFamily="34" charset="0"/>
              <a:buChar char="•"/>
            </a:pPr>
            <a:r>
              <a:rPr lang="en-US" altLang="zh-CN" sz="2400" dirty="0"/>
              <a:t>new message/flag/option for TCP/QUIC</a:t>
            </a:r>
            <a:endParaRPr lang="en-US" altLang="zh-CN" sz="2400" dirty="0"/>
          </a:p>
          <a:p>
            <a:pPr marL="914400" lvl="1" indent="-457200">
              <a:spcAft>
                <a:spcPts val="600"/>
              </a:spcAft>
              <a:buFont typeface="Arial" panose="020B0604020202020204" pitchFamily="34" charset="0"/>
              <a:buChar char="•"/>
            </a:pPr>
            <a:r>
              <a:rPr lang="en-US" altLang="zh-CN" sz="2400" dirty="0"/>
              <a:t>e.g. a new flag in TCP requesting immediate ACK</a:t>
            </a:r>
            <a:endParaRPr lang="en-US" altLang="zh-CN" sz="2400" dirty="0"/>
          </a:p>
          <a:p>
            <a:pPr marL="457200" indent="-457200">
              <a:spcAft>
                <a:spcPts val="600"/>
              </a:spcAft>
              <a:buAutoNum type="arabicPeriod"/>
            </a:pPr>
            <a:r>
              <a:rPr lang="en-US" altLang="zh-CN" sz="2400" b="1" dirty="0"/>
              <a:t>Multi-session shared OAM: </a:t>
            </a:r>
            <a:endParaRPr lang="en-US" altLang="zh-CN" sz="2400" b="1" dirty="0"/>
          </a:p>
          <a:p>
            <a:pPr marL="914400" lvl="1" indent="-457200">
              <a:spcAft>
                <a:spcPts val="600"/>
              </a:spcAft>
              <a:buFont typeface="Arial" panose="020B0604020202020204" pitchFamily="34" charset="0"/>
              <a:buChar char="•"/>
            </a:pPr>
            <a:r>
              <a:rPr lang="en-US" altLang="zh-CN" sz="2400" dirty="0"/>
              <a:t>IP layer connectivity detection, not impact by WRED/Congestion Control. </a:t>
            </a:r>
            <a:endParaRPr lang="en-US" altLang="zh-CN" sz="2400" dirty="0"/>
          </a:p>
          <a:p>
            <a:pPr marL="914400" lvl="1" indent="-457200">
              <a:spcAft>
                <a:spcPts val="600"/>
              </a:spcAft>
              <a:buFont typeface="Arial" panose="020B0604020202020204" pitchFamily="34" charset="0"/>
              <a:buChar char="•"/>
            </a:pPr>
            <a:r>
              <a:rPr lang="en-US" altLang="zh-CN" sz="2400" dirty="0"/>
              <a:t>e.g.</a:t>
            </a:r>
            <a:r>
              <a:rPr lang="zh-CN" altLang="en-US" sz="2400" dirty="0"/>
              <a:t> </a:t>
            </a:r>
            <a:r>
              <a:rPr lang="en-US" altLang="zh-CN" sz="2400" dirty="0"/>
              <a:t>BFD in echo or 2-way mode, transport layer can track connectivity state change as what BGP does.</a:t>
            </a:r>
            <a:endParaRPr lang="en-US" altLang="zh-CN"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9" name="TextBox 8"/>
          <p:cNvSpPr txBox="1"/>
          <p:nvPr/>
        </p:nvSpPr>
        <p:spPr>
          <a:xfrm>
            <a:off x="636746" y="573308"/>
            <a:ext cx="5343140" cy="815653"/>
          </a:xfrm>
          <a:prstGeom prst="rect">
            <a:avLst/>
          </a:prstGeom>
          <a:noFill/>
        </p:spPr>
        <p:txBody>
          <a:bodyPr wrap="none" lIns="0" tIns="0" rIns="0" bIns="0"/>
          <a:lstStyle/>
          <a:p>
            <a:pPr algn="just">
              <a:lnSpc>
                <a:spcPct val="120000"/>
              </a:lnSpc>
              <a:spcBef>
                <a:spcPts val="0"/>
              </a:spcBef>
              <a:spcAft>
                <a:spcPts val="0"/>
              </a:spcAft>
            </a:pPr>
            <a:r>
              <a:rPr lang="en-US" sz="4000" b="1" dirty="0">
                <a:solidFill>
                  <a:srgbClr val="05174D"/>
                </a:solidFill>
                <a:latin typeface="Noto Sans SC" panose="020B0200000000000000" charset="-122"/>
                <a:ea typeface="Noto Sans SC" panose="020B0200000000000000" charset="-122"/>
              </a:rPr>
              <a:t>Use Cases</a:t>
            </a:r>
            <a:endParaRPr sz="4000" b="1" dirty="0">
              <a:solidFill>
                <a:srgbClr val="05174D"/>
              </a:solidFill>
              <a:latin typeface="Noto Sans SC" panose="020B0200000000000000" charset="-122"/>
              <a:ea typeface="Noto Sans SC" panose="020B0200000000000000" charset="-122"/>
            </a:endParaRPr>
          </a:p>
        </p:txBody>
      </p:sp>
      <p:sp>
        <p:nvSpPr>
          <p:cNvPr id="16" name="文本框 15"/>
          <p:cNvSpPr txBox="1"/>
          <p:nvPr/>
        </p:nvSpPr>
        <p:spPr>
          <a:xfrm>
            <a:off x="6232025" y="2163623"/>
            <a:ext cx="5959975" cy="2893100"/>
          </a:xfrm>
          <a:prstGeom prst="rect">
            <a:avLst/>
          </a:prstGeom>
          <a:noFill/>
        </p:spPr>
        <p:txBody>
          <a:bodyPr wrap="square">
            <a:spAutoFit/>
          </a:bodyPr>
          <a:lstStyle/>
          <a:p>
            <a:pPr marL="342900" indent="-342900">
              <a:spcAft>
                <a:spcPts val="600"/>
              </a:spcAft>
              <a:buFont typeface="Arial" panose="020B0604020202020204" pitchFamily="34" charset="0"/>
              <a:buChar char="•"/>
            </a:pPr>
            <a:r>
              <a:rPr lang="en-US" altLang="zh-CN" b="1" dirty="0"/>
              <a:t>Per-session OAM: </a:t>
            </a:r>
            <a:r>
              <a:rPr lang="en-US" altLang="zh-CN" dirty="0"/>
              <a:t>new flag in TCP requests immediate ACK in </a:t>
            </a:r>
            <a:r>
              <a:rPr lang="en-US" altLang="zh-CN" dirty="0" err="1"/>
              <a:t>cwnd</a:t>
            </a:r>
            <a:r>
              <a:rPr lang="en-US" altLang="zh-CN" dirty="0"/>
              <a:t> increasing window, which will be good for fast convergence of </a:t>
            </a:r>
            <a:r>
              <a:rPr lang="en-US" altLang="zh-CN" dirty="0" err="1"/>
              <a:t>cwnd</a:t>
            </a:r>
            <a:r>
              <a:rPr lang="en-US" altLang="zh-CN" sz="1800" b="1" dirty="0"/>
              <a:t>.</a:t>
            </a:r>
            <a:endParaRPr lang="en-US" altLang="zh-CN" sz="1800" b="1" dirty="0"/>
          </a:p>
          <a:p>
            <a:pPr marL="342900" indent="-342900">
              <a:spcAft>
                <a:spcPts val="600"/>
              </a:spcAft>
              <a:buFont typeface="Arial" panose="020B0604020202020204" pitchFamily="34" charset="0"/>
              <a:buChar char="•"/>
            </a:pPr>
            <a:endParaRPr lang="en-US" altLang="zh-CN" b="1" dirty="0"/>
          </a:p>
          <a:p>
            <a:pPr marL="342900" indent="-342900">
              <a:spcAft>
                <a:spcPts val="600"/>
              </a:spcAft>
              <a:buFont typeface="Arial" panose="020B0604020202020204" pitchFamily="34" charset="0"/>
              <a:buChar char="•"/>
            </a:pPr>
            <a:r>
              <a:rPr lang="en-US" altLang="zh-CN" b="1" dirty="0"/>
              <a:t>Multi-session shared OAM: </a:t>
            </a:r>
            <a:r>
              <a:rPr lang="en-US" altLang="zh-CN" dirty="0"/>
              <a:t>using BFD to detect beam/satellite handover.  TCP tracks state change of BFD. </a:t>
            </a:r>
            <a:endParaRPr lang="en-US" altLang="zh-CN" dirty="0"/>
          </a:p>
          <a:p>
            <a:pPr marL="800100" lvl="1" indent="-342900">
              <a:spcAft>
                <a:spcPts val="600"/>
              </a:spcAft>
              <a:buFont typeface="Arial" panose="020B0604020202020204" pitchFamily="34" charset="0"/>
              <a:buChar char="•"/>
            </a:pPr>
            <a:r>
              <a:rPr lang="en-US" altLang="zh-CN" dirty="0"/>
              <a:t>When BFD down, stop TX packets and freeze </a:t>
            </a:r>
            <a:r>
              <a:rPr lang="en-US" altLang="zh-CN" dirty="0" err="1"/>
              <a:t>ssthresh</a:t>
            </a:r>
            <a:r>
              <a:rPr lang="en-US" altLang="zh-CN" dirty="0"/>
              <a:t>/</a:t>
            </a:r>
            <a:r>
              <a:rPr lang="en-US" altLang="zh-CN" dirty="0" err="1"/>
              <a:t>cwnd</a:t>
            </a:r>
            <a:r>
              <a:rPr lang="en-US" altLang="zh-CN" dirty="0"/>
              <a:t>/</a:t>
            </a:r>
            <a:r>
              <a:rPr lang="en-US" altLang="zh-CN" dirty="0" err="1"/>
              <a:t>rtt</a:t>
            </a:r>
            <a:r>
              <a:rPr lang="en-US" altLang="zh-CN" dirty="0"/>
              <a:t>.</a:t>
            </a:r>
            <a:endParaRPr lang="en-US" altLang="zh-CN" dirty="0"/>
          </a:p>
          <a:p>
            <a:pPr marL="800100" lvl="1" indent="-342900">
              <a:spcAft>
                <a:spcPts val="600"/>
              </a:spcAft>
              <a:buFont typeface="Arial" panose="020B0604020202020204" pitchFamily="34" charset="0"/>
              <a:buChar char="•"/>
            </a:pPr>
            <a:r>
              <a:rPr lang="en-US" altLang="zh-CN" dirty="0"/>
              <a:t>When BFD up, recover the frozen variables.</a:t>
            </a:r>
            <a:endParaRPr lang="en-US" altLang="zh-CN" dirty="0"/>
          </a:p>
        </p:txBody>
      </p:sp>
      <p:grpSp>
        <p:nvGrpSpPr>
          <p:cNvPr id="1082" name="组合 1081"/>
          <p:cNvGrpSpPr/>
          <p:nvPr/>
        </p:nvGrpSpPr>
        <p:grpSpPr>
          <a:xfrm>
            <a:off x="2056851" y="4984440"/>
            <a:ext cx="2071223" cy="258651"/>
            <a:chOff x="2056851" y="4984440"/>
            <a:chExt cx="2071223" cy="258651"/>
          </a:xfrm>
        </p:grpSpPr>
        <p:cxnSp>
          <p:nvCxnSpPr>
            <p:cNvPr id="21" name="直接连接符 20"/>
            <p:cNvCxnSpPr>
              <a:stCxn id="23" idx="1"/>
              <a:endCxn id="23" idx="3"/>
            </p:cNvCxnSpPr>
            <p:nvPr/>
          </p:nvCxnSpPr>
          <p:spPr>
            <a:xfrm>
              <a:off x="2056851" y="5113766"/>
              <a:ext cx="2071223" cy="0"/>
            </a:xfrm>
            <a:prstGeom prst="line">
              <a:avLst/>
            </a:prstGeom>
            <a:ln w="12700">
              <a:solidFill>
                <a:schemeClr val="bg1">
                  <a:lumMod val="50000"/>
                </a:schemeClr>
              </a:solidFill>
              <a:headEnd type="triangle" w="med" len="med"/>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双括号 22"/>
            <p:cNvSpPr/>
            <p:nvPr/>
          </p:nvSpPr>
          <p:spPr>
            <a:xfrm>
              <a:off x="2056851" y="4984440"/>
              <a:ext cx="2071223" cy="258651"/>
            </a:xfrm>
            <a:prstGeom prst="bracketPair">
              <a:avLst>
                <a:gd name="adj" fmla="val 0"/>
              </a:avLst>
            </a:prstGeom>
            <a:ln w="12700">
              <a:solidFill>
                <a:schemeClr val="bg1">
                  <a:lumMod val="50000"/>
                </a:schemeClr>
              </a:solidFill>
            </a:ln>
            <a:effectLst/>
          </p:spPr>
          <p:style>
            <a:lnRef idx="2">
              <a:schemeClr val="accent1"/>
            </a:lnRef>
            <a:fillRef idx="0">
              <a:schemeClr val="accent1"/>
            </a:fillRef>
            <a:effectRef idx="1">
              <a:schemeClr val="accent1"/>
            </a:effectRef>
            <a:fontRef idx="minor">
              <a:schemeClr val="tx1"/>
            </a:fontRef>
          </p:style>
          <p:txBody>
            <a:bodyPr rtlCol="0" anchor="ctr"/>
            <a:lstStyle/>
            <a:p>
              <a:pPr algn="ctr"/>
              <a:endParaRPr lang="zh-CN" altLang="en-US"/>
            </a:p>
          </p:txBody>
        </p:sp>
      </p:grpSp>
      <p:sp>
        <p:nvSpPr>
          <p:cNvPr id="31" name="文本框 30"/>
          <p:cNvSpPr txBox="1"/>
          <p:nvPr/>
        </p:nvSpPr>
        <p:spPr>
          <a:xfrm>
            <a:off x="193579" y="4970597"/>
            <a:ext cx="1238732" cy="261610"/>
          </a:xfrm>
          <a:prstGeom prst="rect">
            <a:avLst/>
          </a:prstGeom>
          <a:noFill/>
        </p:spPr>
        <p:txBody>
          <a:bodyPr wrap="square">
            <a:spAutoFit/>
          </a:bodyPr>
          <a:lstStyle/>
          <a:p>
            <a:pPr algn="ctr"/>
            <a:r>
              <a:rPr lang="en-US" altLang="zh-CN" sz="1100" b="1" dirty="0"/>
              <a:t>Per-session OAM</a:t>
            </a:r>
            <a:endParaRPr lang="zh-CN" altLang="en-US" sz="1100" dirty="0"/>
          </a:p>
        </p:txBody>
      </p:sp>
      <p:sp>
        <p:nvSpPr>
          <p:cNvPr id="32" name="矩形 31"/>
          <p:cNvSpPr/>
          <p:nvPr/>
        </p:nvSpPr>
        <p:spPr>
          <a:xfrm>
            <a:off x="1909845" y="2026973"/>
            <a:ext cx="4328856" cy="2830532"/>
          </a:xfrm>
          <a:prstGeom prst="rect">
            <a:avLst/>
          </a:prstGeom>
          <a:no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lang="zh-CN" altLang="en-US" dirty="0">
              <a:solidFill>
                <a:schemeClr val="tx1"/>
              </a:solidFill>
            </a:endParaRPr>
          </a:p>
        </p:txBody>
      </p:sp>
      <p:sp>
        <p:nvSpPr>
          <p:cNvPr id="1052" name="文本框 1051"/>
          <p:cNvSpPr txBox="1"/>
          <p:nvPr/>
        </p:nvSpPr>
        <p:spPr>
          <a:xfrm>
            <a:off x="193579" y="5352062"/>
            <a:ext cx="1759418" cy="261610"/>
          </a:xfrm>
          <a:prstGeom prst="rect">
            <a:avLst/>
          </a:prstGeom>
          <a:noFill/>
        </p:spPr>
        <p:txBody>
          <a:bodyPr wrap="square">
            <a:spAutoFit/>
          </a:bodyPr>
          <a:lstStyle/>
          <a:p>
            <a:pPr algn="ctr"/>
            <a:r>
              <a:rPr lang="en-US" altLang="zh-CN" sz="1100" b="1" dirty="0"/>
              <a:t>Multi-session shared OAM</a:t>
            </a:r>
            <a:endParaRPr lang="zh-CN" altLang="en-US" sz="1100" dirty="0"/>
          </a:p>
        </p:txBody>
      </p:sp>
      <p:sp>
        <p:nvSpPr>
          <p:cNvPr id="1056" name="文本框 1055"/>
          <p:cNvSpPr txBox="1"/>
          <p:nvPr/>
        </p:nvSpPr>
        <p:spPr>
          <a:xfrm rot="16200000">
            <a:off x="1438618" y="2243655"/>
            <a:ext cx="674424" cy="261610"/>
          </a:xfrm>
          <a:prstGeom prst="rect">
            <a:avLst/>
          </a:prstGeom>
          <a:noFill/>
        </p:spPr>
        <p:txBody>
          <a:bodyPr wrap="square" rtlCol="0">
            <a:spAutoFit/>
          </a:bodyPr>
          <a:lstStyle/>
          <a:p>
            <a:pPr algn="ctr"/>
            <a:r>
              <a:rPr lang="en-US" altLang="zh-CN" sz="1100" dirty="0"/>
              <a:t>CWND</a:t>
            </a:r>
            <a:endParaRPr lang="zh-CN" altLang="en-US" dirty="0"/>
          </a:p>
        </p:txBody>
      </p:sp>
      <p:sp>
        <p:nvSpPr>
          <p:cNvPr id="1057" name="文本框 1056"/>
          <p:cNvSpPr txBox="1"/>
          <p:nvPr/>
        </p:nvSpPr>
        <p:spPr>
          <a:xfrm>
            <a:off x="5564277" y="4880737"/>
            <a:ext cx="674424" cy="276999"/>
          </a:xfrm>
          <a:prstGeom prst="rect">
            <a:avLst/>
          </a:prstGeom>
          <a:noFill/>
        </p:spPr>
        <p:txBody>
          <a:bodyPr wrap="square" rtlCol="0">
            <a:spAutoFit/>
          </a:bodyPr>
          <a:lstStyle/>
          <a:p>
            <a:pPr algn="ctr"/>
            <a:r>
              <a:rPr lang="en-US" altLang="zh-CN" sz="1200" dirty="0"/>
              <a:t>time</a:t>
            </a:r>
            <a:endParaRPr lang="zh-CN" altLang="en-US" sz="1200" dirty="0"/>
          </a:p>
        </p:txBody>
      </p:sp>
      <p:cxnSp>
        <p:nvCxnSpPr>
          <p:cNvPr id="1063" name="直接连接符 1062"/>
          <p:cNvCxnSpPr>
            <a:stCxn id="1064" idx="1"/>
            <a:endCxn id="1064" idx="3"/>
          </p:cNvCxnSpPr>
          <p:nvPr/>
        </p:nvCxnSpPr>
        <p:spPr>
          <a:xfrm>
            <a:off x="2056851" y="5492119"/>
            <a:ext cx="4181850" cy="0"/>
          </a:xfrm>
          <a:prstGeom prst="line">
            <a:avLst/>
          </a:prstGeom>
          <a:ln w="12700">
            <a:solidFill>
              <a:schemeClr val="bg1">
                <a:lumMod val="50000"/>
              </a:schemeClr>
            </a:solidFill>
            <a:headEnd type="triangle" w="med" len="med"/>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64" name="双括号 1063"/>
          <p:cNvSpPr/>
          <p:nvPr/>
        </p:nvSpPr>
        <p:spPr>
          <a:xfrm>
            <a:off x="2056851" y="5362793"/>
            <a:ext cx="4181850" cy="258651"/>
          </a:xfrm>
          <a:prstGeom prst="bracketPair">
            <a:avLst>
              <a:gd name="adj" fmla="val 0"/>
            </a:avLst>
          </a:prstGeom>
          <a:ln w="12700">
            <a:solidFill>
              <a:schemeClr val="bg1">
                <a:lumMod val="50000"/>
              </a:schemeClr>
            </a:solidFill>
          </a:ln>
          <a:effectLst/>
        </p:spPr>
        <p:style>
          <a:lnRef idx="2">
            <a:schemeClr val="accent1"/>
          </a:lnRef>
          <a:fillRef idx="0">
            <a:schemeClr val="accent1"/>
          </a:fillRef>
          <a:effectRef idx="1">
            <a:schemeClr val="accent1"/>
          </a:effectRef>
          <a:fontRef idx="minor">
            <a:schemeClr val="tx1"/>
          </a:fontRef>
        </p:style>
        <p:txBody>
          <a:bodyPr rtlCol="0" anchor="ctr"/>
          <a:lstStyle/>
          <a:p>
            <a:pPr algn="ctr"/>
            <a:endParaRPr lang="zh-CN" altLang="en-US"/>
          </a:p>
        </p:txBody>
      </p:sp>
      <p:grpSp>
        <p:nvGrpSpPr>
          <p:cNvPr id="1079" name="组合 1078"/>
          <p:cNvGrpSpPr/>
          <p:nvPr/>
        </p:nvGrpSpPr>
        <p:grpSpPr>
          <a:xfrm>
            <a:off x="1891944" y="2543684"/>
            <a:ext cx="4245979" cy="2276263"/>
            <a:chOff x="981341" y="2543684"/>
            <a:chExt cx="3381230" cy="2276263"/>
          </a:xfrm>
        </p:grpSpPr>
        <p:sp>
          <p:nvSpPr>
            <p:cNvPr id="33" name="菱形 32"/>
            <p:cNvSpPr/>
            <p:nvPr/>
          </p:nvSpPr>
          <p:spPr>
            <a:xfrm>
              <a:off x="1146248" y="4716252"/>
              <a:ext cx="84842" cy="103695"/>
            </a:xfrm>
            <a:prstGeom prst="diamond">
              <a:avLst/>
            </a:prstGeom>
            <a:solidFill>
              <a:schemeClr val="tx1"/>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lang="zh-CN" altLang="en-US" dirty="0">
                <a:solidFill>
                  <a:schemeClr val="tx1"/>
                </a:solidFill>
              </a:endParaRPr>
            </a:p>
          </p:txBody>
        </p:sp>
        <p:sp>
          <p:nvSpPr>
            <p:cNvPr id="34" name="菱形 33"/>
            <p:cNvSpPr/>
            <p:nvPr/>
          </p:nvSpPr>
          <p:spPr>
            <a:xfrm>
              <a:off x="1296484" y="4612557"/>
              <a:ext cx="84842" cy="103695"/>
            </a:xfrm>
            <a:prstGeom prst="diamond">
              <a:avLst/>
            </a:prstGeom>
            <a:solidFill>
              <a:schemeClr val="tx1"/>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lang="zh-CN" altLang="en-US" dirty="0">
                <a:solidFill>
                  <a:schemeClr val="tx1"/>
                </a:solidFill>
              </a:endParaRPr>
            </a:p>
          </p:txBody>
        </p:sp>
        <p:sp>
          <p:nvSpPr>
            <p:cNvPr id="35" name="菱形 34"/>
            <p:cNvSpPr/>
            <p:nvPr/>
          </p:nvSpPr>
          <p:spPr>
            <a:xfrm>
              <a:off x="1440343" y="4434726"/>
              <a:ext cx="84842" cy="103695"/>
            </a:xfrm>
            <a:prstGeom prst="diamond">
              <a:avLst/>
            </a:prstGeom>
            <a:solidFill>
              <a:schemeClr val="tx1"/>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lang="zh-CN" altLang="en-US" dirty="0">
                <a:solidFill>
                  <a:schemeClr val="tx1"/>
                </a:solidFill>
              </a:endParaRPr>
            </a:p>
          </p:txBody>
        </p:sp>
        <p:sp>
          <p:nvSpPr>
            <p:cNvPr id="36" name="菱形 35"/>
            <p:cNvSpPr/>
            <p:nvPr/>
          </p:nvSpPr>
          <p:spPr>
            <a:xfrm>
              <a:off x="1606829" y="4035344"/>
              <a:ext cx="84842" cy="103695"/>
            </a:xfrm>
            <a:prstGeom prst="diamond">
              <a:avLst/>
            </a:prstGeom>
            <a:solidFill>
              <a:schemeClr val="tx1"/>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lang="zh-CN" altLang="en-US" dirty="0">
                <a:solidFill>
                  <a:schemeClr val="tx1"/>
                </a:solidFill>
              </a:endParaRPr>
            </a:p>
          </p:txBody>
        </p:sp>
        <p:sp>
          <p:nvSpPr>
            <p:cNvPr id="37" name="菱形 36"/>
            <p:cNvSpPr/>
            <p:nvPr/>
          </p:nvSpPr>
          <p:spPr>
            <a:xfrm>
              <a:off x="1745922" y="3245236"/>
              <a:ext cx="84842" cy="103695"/>
            </a:xfrm>
            <a:prstGeom prst="diamond">
              <a:avLst/>
            </a:prstGeom>
            <a:solidFill>
              <a:schemeClr val="tx1"/>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lang="zh-CN" altLang="en-US" dirty="0">
                <a:solidFill>
                  <a:schemeClr val="tx1"/>
                </a:solidFill>
              </a:endParaRPr>
            </a:p>
          </p:txBody>
        </p:sp>
        <p:sp>
          <p:nvSpPr>
            <p:cNvPr id="38" name="菱形 37"/>
            <p:cNvSpPr/>
            <p:nvPr/>
          </p:nvSpPr>
          <p:spPr>
            <a:xfrm>
              <a:off x="1897537" y="3138171"/>
              <a:ext cx="84842" cy="103695"/>
            </a:xfrm>
            <a:prstGeom prst="diamond">
              <a:avLst/>
            </a:prstGeom>
            <a:solidFill>
              <a:schemeClr val="tx1"/>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lang="zh-CN" altLang="en-US" dirty="0">
                <a:solidFill>
                  <a:schemeClr val="tx1"/>
                </a:solidFill>
              </a:endParaRPr>
            </a:p>
          </p:txBody>
        </p:sp>
        <p:cxnSp>
          <p:nvCxnSpPr>
            <p:cNvPr id="43" name="直接连接符 42"/>
            <p:cNvCxnSpPr/>
            <p:nvPr/>
          </p:nvCxnSpPr>
          <p:spPr>
            <a:xfrm>
              <a:off x="2960017" y="4087191"/>
              <a:ext cx="772997" cy="0"/>
            </a:xfrm>
            <a:prstGeom prst="line">
              <a:avLst/>
            </a:prstGeom>
            <a:ln w="635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45" name="直接连接符 44"/>
            <p:cNvCxnSpPr/>
            <p:nvPr/>
          </p:nvCxnSpPr>
          <p:spPr>
            <a:xfrm>
              <a:off x="1355500" y="3297083"/>
              <a:ext cx="1921830" cy="0"/>
            </a:xfrm>
            <a:prstGeom prst="line">
              <a:avLst/>
            </a:prstGeom>
            <a:ln w="635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47" name="菱形 46"/>
            <p:cNvSpPr/>
            <p:nvPr/>
          </p:nvSpPr>
          <p:spPr>
            <a:xfrm>
              <a:off x="2064932" y="3057823"/>
              <a:ext cx="84842" cy="103695"/>
            </a:xfrm>
            <a:prstGeom prst="diamond">
              <a:avLst/>
            </a:prstGeom>
            <a:solidFill>
              <a:schemeClr val="tx1"/>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lang="zh-CN" altLang="en-US" dirty="0">
                <a:solidFill>
                  <a:schemeClr val="tx1"/>
                </a:solidFill>
              </a:endParaRPr>
            </a:p>
          </p:txBody>
        </p:sp>
        <p:sp>
          <p:nvSpPr>
            <p:cNvPr id="48" name="菱形 47"/>
            <p:cNvSpPr/>
            <p:nvPr/>
          </p:nvSpPr>
          <p:spPr>
            <a:xfrm>
              <a:off x="2220367" y="2969364"/>
              <a:ext cx="84842" cy="103695"/>
            </a:xfrm>
            <a:prstGeom prst="diamond">
              <a:avLst/>
            </a:prstGeom>
            <a:solidFill>
              <a:schemeClr val="tx1"/>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lang="zh-CN" altLang="en-US" dirty="0">
                <a:solidFill>
                  <a:schemeClr val="tx1"/>
                </a:solidFill>
              </a:endParaRPr>
            </a:p>
          </p:txBody>
        </p:sp>
        <p:sp>
          <p:nvSpPr>
            <p:cNvPr id="49" name="菱形 48"/>
            <p:cNvSpPr/>
            <p:nvPr/>
          </p:nvSpPr>
          <p:spPr>
            <a:xfrm>
              <a:off x="2375802" y="2887355"/>
              <a:ext cx="84842" cy="103695"/>
            </a:xfrm>
            <a:prstGeom prst="diamond">
              <a:avLst/>
            </a:prstGeom>
            <a:solidFill>
              <a:schemeClr val="tx1"/>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lang="zh-CN" altLang="en-US" dirty="0">
                <a:solidFill>
                  <a:schemeClr val="tx1"/>
                </a:solidFill>
              </a:endParaRPr>
            </a:p>
          </p:txBody>
        </p:sp>
        <p:sp>
          <p:nvSpPr>
            <p:cNvPr id="50" name="菱形 49"/>
            <p:cNvSpPr/>
            <p:nvPr/>
          </p:nvSpPr>
          <p:spPr>
            <a:xfrm>
              <a:off x="2543197" y="2803449"/>
              <a:ext cx="84842" cy="103695"/>
            </a:xfrm>
            <a:prstGeom prst="diamond">
              <a:avLst/>
            </a:prstGeom>
            <a:solidFill>
              <a:schemeClr val="tx1"/>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lang="zh-CN" altLang="en-US" dirty="0">
                <a:solidFill>
                  <a:schemeClr val="tx1"/>
                </a:solidFill>
              </a:endParaRPr>
            </a:p>
          </p:txBody>
        </p:sp>
        <p:sp>
          <p:nvSpPr>
            <p:cNvPr id="51" name="菱形 50"/>
            <p:cNvSpPr/>
            <p:nvPr/>
          </p:nvSpPr>
          <p:spPr>
            <a:xfrm>
              <a:off x="2700647" y="2702312"/>
              <a:ext cx="84842" cy="103695"/>
            </a:xfrm>
            <a:prstGeom prst="diamond">
              <a:avLst/>
            </a:prstGeom>
            <a:solidFill>
              <a:schemeClr val="tx1"/>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lang="zh-CN" altLang="en-US" dirty="0">
                <a:solidFill>
                  <a:schemeClr val="tx1"/>
                </a:solidFill>
              </a:endParaRPr>
            </a:p>
          </p:txBody>
        </p:sp>
        <p:sp>
          <p:nvSpPr>
            <p:cNvPr id="52" name="菱形 51"/>
            <p:cNvSpPr/>
            <p:nvPr/>
          </p:nvSpPr>
          <p:spPr>
            <a:xfrm>
              <a:off x="3314534" y="4048301"/>
              <a:ext cx="84842" cy="103695"/>
            </a:xfrm>
            <a:prstGeom prst="diamond">
              <a:avLst/>
            </a:prstGeom>
            <a:solidFill>
              <a:schemeClr val="bg1">
                <a:lumMod val="50000"/>
              </a:schemeClr>
            </a:solidFill>
            <a:ln>
              <a:solidFill>
                <a:schemeClr val="bg1">
                  <a:lumMod val="85000"/>
                </a:schemeClr>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lang="zh-CN" altLang="en-US" dirty="0">
                <a:solidFill>
                  <a:schemeClr val="tx1"/>
                </a:solidFill>
              </a:endParaRPr>
            </a:p>
          </p:txBody>
        </p:sp>
        <p:sp>
          <p:nvSpPr>
            <p:cNvPr id="57" name="任意多边形: 形状 56"/>
            <p:cNvSpPr/>
            <p:nvPr/>
          </p:nvSpPr>
          <p:spPr>
            <a:xfrm>
              <a:off x="1197204" y="3318235"/>
              <a:ext cx="575035" cy="1451728"/>
            </a:xfrm>
            <a:custGeom>
              <a:avLst/>
              <a:gdLst>
                <a:gd name="csX0" fmla="*/ 0 w 575035"/>
                <a:gd name="csY0" fmla="*/ 1451728 h 1451728"/>
                <a:gd name="csX1" fmla="*/ 150829 w 575035"/>
                <a:gd name="csY1" fmla="*/ 1338606 h 1451728"/>
                <a:gd name="csX2" fmla="*/ 292231 w 575035"/>
                <a:gd name="csY2" fmla="*/ 1150070 h 1451728"/>
                <a:gd name="csX3" fmla="*/ 461914 w 575035"/>
                <a:gd name="csY3" fmla="*/ 763571 h 1451728"/>
                <a:gd name="csX4" fmla="*/ 575035 w 575035"/>
                <a:gd name="csY4" fmla="*/ 0 h 1451728"/>
              </a:gdLst>
              <a:ahLst/>
              <a:cxnLst>
                <a:cxn ang="0">
                  <a:pos x="csX0" y="csY0"/>
                </a:cxn>
                <a:cxn ang="0">
                  <a:pos x="csX1" y="csY1"/>
                </a:cxn>
                <a:cxn ang="0">
                  <a:pos x="csX2" y="csY2"/>
                </a:cxn>
                <a:cxn ang="0">
                  <a:pos x="csX3" y="csY3"/>
                </a:cxn>
                <a:cxn ang="0">
                  <a:pos x="csX4" y="csY4"/>
                </a:cxn>
              </a:cxnLst>
              <a:rect l="l" t="t" r="r" b="b"/>
              <a:pathLst>
                <a:path w="575035" h="1451728">
                  <a:moveTo>
                    <a:pt x="0" y="1451728"/>
                  </a:moveTo>
                  <a:cubicBezTo>
                    <a:pt x="51062" y="1420305"/>
                    <a:pt x="102124" y="1388882"/>
                    <a:pt x="150829" y="1338606"/>
                  </a:cubicBezTo>
                  <a:cubicBezTo>
                    <a:pt x="199534" y="1288330"/>
                    <a:pt x="240384" y="1245909"/>
                    <a:pt x="292231" y="1150070"/>
                  </a:cubicBezTo>
                  <a:cubicBezTo>
                    <a:pt x="344078" y="1054231"/>
                    <a:pt x="414780" y="955249"/>
                    <a:pt x="461914" y="763571"/>
                  </a:cubicBezTo>
                  <a:cubicBezTo>
                    <a:pt x="509048" y="571893"/>
                    <a:pt x="521617" y="144544"/>
                    <a:pt x="575035" y="0"/>
                  </a:cubicBezTo>
                </a:path>
              </a:pathLst>
            </a:custGeom>
            <a:no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zh-CN" altLang="en-US"/>
            </a:p>
          </p:txBody>
        </p:sp>
        <p:sp>
          <p:nvSpPr>
            <p:cNvPr id="58" name="任意多边形: 形状 57"/>
            <p:cNvSpPr/>
            <p:nvPr/>
          </p:nvSpPr>
          <p:spPr>
            <a:xfrm>
              <a:off x="1800520" y="2743200"/>
              <a:ext cx="970960" cy="527901"/>
            </a:xfrm>
            <a:custGeom>
              <a:avLst/>
              <a:gdLst>
                <a:gd name="csX0" fmla="*/ 0 w 970960"/>
                <a:gd name="csY0" fmla="*/ 527901 h 527901"/>
                <a:gd name="csX1" fmla="*/ 480767 w 970960"/>
                <a:gd name="csY1" fmla="*/ 273377 h 527901"/>
                <a:gd name="csX2" fmla="*/ 716437 w 970960"/>
                <a:gd name="csY2" fmla="*/ 141402 h 527901"/>
                <a:gd name="csX3" fmla="*/ 970960 w 970960"/>
                <a:gd name="csY3" fmla="*/ 0 h 527901"/>
              </a:gdLst>
              <a:ahLst/>
              <a:cxnLst>
                <a:cxn ang="0">
                  <a:pos x="csX0" y="csY0"/>
                </a:cxn>
                <a:cxn ang="0">
                  <a:pos x="csX1" y="csY1"/>
                </a:cxn>
                <a:cxn ang="0">
                  <a:pos x="csX2" y="csY2"/>
                </a:cxn>
                <a:cxn ang="0">
                  <a:pos x="csX3" y="csY3"/>
                </a:cxn>
              </a:cxnLst>
              <a:rect l="l" t="t" r="r" b="b"/>
              <a:pathLst>
                <a:path w="970960" h="527901">
                  <a:moveTo>
                    <a:pt x="0" y="527901"/>
                  </a:moveTo>
                  <a:lnTo>
                    <a:pt x="480767" y="273377"/>
                  </a:lnTo>
                  <a:cubicBezTo>
                    <a:pt x="600173" y="208960"/>
                    <a:pt x="634738" y="186965"/>
                    <a:pt x="716437" y="141402"/>
                  </a:cubicBezTo>
                  <a:cubicBezTo>
                    <a:pt x="798136" y="95839"/>
                    <a:pt x="908115" y="29851"/>
                    <a:pt x="970960" y="0"/>
                  </a:cubicBezTo>
                </a:path>
              </a:pathLst>
            </a:custGeom>
            <a:no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zh-CN" altLang="en-US"/>
            </a:p>
          </p:txBody>
        </p:sp>
        <p:sp>
          <p:nvSpPr>
            <p:cNvPr id="59" name="任意多边形: 形状 58"/>
            <p:cNvSpPr/>
            <p:nvPr/>
          </p:nvSpPr>
          <p:spPr>
            <a:xfrm>
              <a:off x="2762054" y="2752627"/>
              <a:ext cx="584461" cy="1348033"/>
            </a:xfrm>
            <a:custGeom>
              <a:avLst/>
              <a:gdLst>
                <a:gd name="csX0" fmla="*/ 0 w 584461"/>
                <a:gd name="csY0" fmla="*/ 0 h 1348033"/>
                <a:gd name="csX1" fmla="*/ 584461 w 584461"/>
                <a:gd name="csY1" fmla="*/ 1348033 h 1348033"/>
              </a:gdLst>
              <a:ahLst/>
              <a:cxnLst>
                <a:cxn ang="0">
                  <a:pos x="csX0" y="csY0"/>
                </a:cxn>
                <a:cxn ang="0">
                  <a:pos x="csX1" y="csY1"/>
                </a:cxn>
              </a:cxnLst>
              <a:rect l="l" t="t" r="r" b="b"/>
              <a:pathLst>
                <a:path w="584461" h="1348033">
                  <a:moveTo>
                    <a:pt x="0" y="0"/>
                  </a:moveTo>
                  <a:lnTo>
                    <a:pt x="584461" y="1348033"/>
                  </a:lnTo>
                </a:path>
              </a:pathLst>
            </a:custGeom>
            <a:no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zh-CN" altLang="en-US"/>
            </a:p>
          </p:txBody>
        </p:sp>
        <p:sp>
          <p:nvSpPr>
            <p:cNvPr id="60" name="菱形 59"/>
            <p:cNvSpPr/>
            <p:nvPr/>
          </p:nvSpPr>
          <p:spPr>
            <a:xfrm>
              <a:off x="3323004" y="4039924"/>
              <a:ext cx="84842" cy="103695"/>
            </a:xfrm>
            <a:prstGeom prst="diamond">
              <a:avLst/>
            </a:prstGeom>
            <a:solidFill>
              <a:schemeClr val="bg1">
                <a:lumMod val="50000"/>
              </a:schemeClr>
            </a:solidFill>
            <a:ln>
              <a:solidFill>
                <a:schemeClr val="bg1">
                  <a:lumMod val="85000"/>
                </a:schemeClr>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lang="zh-CN" altLang="en-US" dirty="0">
                <a:solidFill>
                  <a:schemeClr val="tx1"/>
                </a:solidFill>
              </a:endParaRPr>
            </a:p>
          </p:txBody>
        </p:sp>
        <p:sp>
          <p:nvSpPr>
            <p:cNvPr id="61" name="菱形 60"/>
            <p:cNvSpPr/>
            <p:nvPr/>
          </p:nvSpPr>
          <p:spPr>
            <a:xfrm>
              <a:off x="3474619" y="3932859"/>
              <a:ext cx="84842" cy="103695"/>
            </a:xfrm>
            <a:prstGeom prst="diamond">
              <a:avLst/>
            </a:prstGeom>
            <a:solidFill>
              <a:schemeClr val="bg1">
                <a:lumMod val="50000"/>
              </a:schemeClr>
            </a:solidFill>
            <a:ln>
              <a:solidFill>
                <a:schemeClr val="bg1">
                  <a:lumMod val="85000"/>
                </a:schemeClr>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lang="zh-CN" altLang="en-US" dirty="0">
                <a:solidFill>
                  <a:schemeClr val="tx1"/>
                </a:solidFill>
              </a:endParaRPr>
            </a:p>
          </p:txBody>
        </p:sp>
        <p:sp>
          <p:nvSpPr>
            <p:cNvPr id="62" name="菱形 61"/>
            <p:cNvSpPr/>
            <p:nvPr/>
          </p:nvSpPr>
          <p:spPr>
            <a:xfrm>
              <a:off x="3642014" y="3852511"/>
              <a:ext cx="84842" cy="103695"/>
            </a:xfrm>
            <a:prstGeom prst="diamond">
              <a:avLst/>
            </a:prstGeom>
            <a:solidFill>
              <a:schemeClr val="bg1">
                <a:lumMod val="50000"/>
              </a:schemeClr>
            </a:solidFill>
            <a:ln>
              <a:solidFill>
                <a:schemeClr val="bg1">
                  <a:lumMod val="85000"/>
                </a:schemeClr>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lang="zh-CN" altLang="en-US" dirty="0">
                <a:solidFill>
                  <a:schemeClr val="tx1"/>
                </a:solidFill>
              </a:endParaRPr>
            </a:p>
          </p:txBody>
        </p:sp>
        <p:sp>
          <p:nvSpPr>
            <p:cNvPr id="63" name="菱形 62"/>
            <p:cNvSpPr/>
            <p:nvPr/>
          </p:nvSpPr>
          <p:spPr>
            <a:xfrm>
              <a:off x="3797449" y="3764052"/>
              <a:ext cx="84842" cy="103695"/>
            </a:xfrm>
            <a:prstGeom prst="diamond">
              <a:avLst/>
            </a:prstGeom>
            <a:solidFill>
              <a:schemeClr val="bg1">
                <a:lumMod val="50000"/>
              </a:schemeClr>
            </a:solidFill>
            <a:ln>
              <a:solidFill>
                <a:schemeClr val="bg1">
                  <a:lumMod val="85000"/>
                </a:schemeClr>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lang="zh-CN" altLang="en-US" dirty="0">
                <a:solidFill>
                  <a:schemeClr val="tx1"/>
                </a:solidFill>
              </a:endParaRPr>
            </a:p>
          </p:txBody>
        </p:sp>
        <p:sp>
          <p:nvSpPr>
            <p:cNvPr id="1024" name="菱形 1023"/>
            <p:cNvSpPr/>
            <p:nvPr/>
          </p:nvSpPr>
          <p:spPr>
            <a:xfrm>
              <a:off x="3952884" y="3682043"/>
              <a:ext cx="84842" cy="103695"/>
            </a:xfrm>
            <a:prstGeom prst="diamond">
              <a:avLst/>
            </a:prstGeom>
            <a:solidFill>
              <a:schemeClr val="bg1">
                <a:lumMod val="50000"/>
              </a:schemeClr>
            </a:solidFill>
            <a:ln>
              <a:solidFill>
                <a:schemeClr val="bg1">
                  <a:lumMod val="85000"/>
                </a:schemeClr>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lang="zh-CN" altLang="en-US" dirty="0">
                <a:solidFill>
                  <a:schemeClr val="tx1"/>
                </a:solidFill>
              </a:endParaRPr>
            </a:p>
          </p:txBody>
        </p:sp>
        <p:sp>
          <p:nvSpPr>
            <p:cNvPr id="1025" name="菱形 1024"/>
            <p:cNvSpPr/>
            <p:nvPr/>
          </p:nvSpPr>
          <p:spPr>
            <a:xfrm>
              <a:off x="4120279" y="3598137"/>
              <a:ext cx="84842" cy="103695"/>
            </a:xfrm>
            <a:prstGeom prst="diamond">
              <a:avLst/>
            </a:prstGeom>
            <a:solidFill>
              <a:schemeClr val="bg1">
                <a:lumMod val="50000"/>
              </a:schemeClr>
            </a:solidFill>
            <a:ln>
              <a:solidFill>
                <a:schemeClr val="bg1">
                  <a:lumMod val="85000"/>
                </a:schemeClr>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lang="zh-CN" altLang="en-US" dirty="0">
                <a:solidFill>
                  <a:schemeClr val="tx1"/>
                </a:solidFill>
              </a:endParaRPr>
            </a:p>
          </p:txBody>
        </p:sp>
        <p:sp>
          <p:nvSpPr>
            <p:cNvPr id="1027" name="菱形 1026"/>
            <p:cNvSpPr/>
            <p:nvPr/>
          </p:nvSpPr>
          <p:spPr>
            <a:xfrm>
              <a:off x="4277729" y="3497000"/>
              <a:ext cx="84842" cy="103695"/>
            </a:xfrm>
            <a:prstGeom prst="diamond">
              <a:avLst/>
            </a:prstGeom>
            <a:solidFill>
              <a:schemeClr val="bg1">
                <a:lumMod val="50000"/>
              </a:schemeClr>
            </a:solidFill>
            <a:ln>
              <a:solidFill>
                <a:schemeClr val="bg1">
                  <a:lumMod val="85000"/>
                </a:schemeClr>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lang="zh-CN" altLang="en-US" dirty="0">
                <a:solidFill>
                  <a:schemeClr val="tx1"/>
                </a:solidFill>
              </a:endParaRPr>
            </a:p>
          </p:txBody>
        </p:sp>
        <p:sp>
          <p:nvSpPr>
            <p:cNvPr id="1029" name="任意多边形: 形状 1028"/>
            <p:cNvSpPr/>
            <p:nvPr/>
          </p:nvSpPr>
          <p:spPr>
            <a:xfrm>
              <a:off x="3377602" y="3537888"/>
              <a:ext cx="970960" cy="527901"/>
            </a:xfrm>
            <a:custGeom>
              <a:avLst/>
              <a:gdLst>
                <a:gd name="csX0" fmla="*/ 0 w 970960"/>
                <a:gd name="csY0" fmla="*/ 527901 h 527901"/>
                <a:gd name="csX1" fmla="*/ 480767 w 970960"/>
                <a:gd name="csY1" fmla="*/ 273377 h 527901"/>
                <a:gd name="csX2" fmla="*/ 716437 w 970960"/>
                <a:gd name="csY2" fmla="*/ 141402 h 527901"/>
                <a:gd name="csX3" fmla="*/ 970960 w 970960"/>
                <a:gd name="csY3" fmla="*/ 0 h 527901"/>
              </a:gdLst>
              <a:ahLst/>
              <a:cxnLst>
                <a:cxn ang="0">
                  <a:pos x="csX0" y="csY0"/>
                </a:cxn>
                <a:cxn ang="0">
                  <a:pos x="csX1" y="csY1"/>
                </a:cxn>
                <a:cxn ang="0">
                  <a:pos x="csX2" y="csY2"/>
                </a:cxn>
                <a:cxn ang="0">
                  <a:pos x="csX3" y="csY3"/>
                </a:cxn>
              </a:cxnLst>
              <a:rect l="l" t="t" r="r" b="b"/>
              <a:pathLst>
                <a:path w="970960" h="527901">
                  <a:moveTo>
                    <a:pt x="0" y="527901"/>
                  </a:moveTo>
                  <a:lnTo>
                    <a:pt x="480767" y="273377"/>
                  </a:lnTo>
                  <a:cubicBezTo>
                    <a:pt x="600173" y="208960"/>
                    <a:pt x="634738" y="186965"/>
                    <a:pt x="716437" y="141402"/>
                  </a:cubicBezTo>
                  <a:cubicBezTo>
                    <a:pt x="798136" y="95839"/>
                    <a:pt x="908115" y="29851"/>
                    <a:pt x="970960" y="0"/>
                  </a:cubicBezTo>
                </a:path>
              </a:pathLst>
            </a:custGeom>
            <a:solidFill>
              <a:schemeClr val="bg1">
                <a:lumMod val="50000"/>
              </a:schemeClr>
            </a:solidFill>
            <a:ln>
              <a:solidFill>
                <a:schemeClr val="bg1">
                  <a:lumMod val="75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zh-CN" altLang="en-US"/>
            </a:p>
          </p:txBody>
        </p:sp>
        <p:sp>
          <p:nvSpPr>
            <p:cNvPr id="1048" name="文本框 1047"/>
            <p:cNvSpPr txBox="1"/>
            <p:nvPr/>
          </p:nvSpPr>
          <p:spPr>
            <a:xfrm>
              <a:off x="1272510" y="3645648"/>
              <a:ext cx="603563" cy="461665"/>
            </a:xfrm>
            <a:prstGeom prst="rect">
              <a:avLst/>
            </a:prstGeom>
            <a:noFill/>
            <a:effectLst/>
          </p:spPr>
          <p:txBody>
            <a:bodyPr wrap="square">
              <a:spAutoFit/>
            </a:bodyPr>
            <a:lstStyle/>
            <a:p>
              <a:r>
                <a:rPr lang="en-US" altLang="zh-CN" sz="1200" dirty="0"/>
                <a:t>Slow start</a:t>
              </a:r>
              <a:endParaRPr lang="zh-CN" altLang="en-US" sz="1200" dirty="0"/>
            </a:p>
          </p:txBody>
        </p:sp>
        <p:sp>
          <p:nvSpPr>
            <p:cNvPr id="1049" name="文本框 1048"/>
            <p:cNvSpPr txBox="1"/>
            <p:nvPr/>
          </p:nvSpPr>
          <p:spPr>
            <a:xfrm>
              <a:off x="1629624" y="2543684"/>
              <a:ext cx="897202" cy="461665"/>
            </a:xfrm>
            <a:prstGeom prst="rect">
              <a:avLst/>
            </a:prstGeom>
            <a:noFill/>
            <a:effectLst/>
          </p:spPr>
          <p:txBody>
            <a:bodyPr wrap="square">
              <a:spAutoFit/>
            </a:bodyPr>
            <a:lstStyle/>
            <a:p>
              <a:r>
                <a:rPr lang="en-US" altLang="zh-CN" sz="1200" dirty="0"/>
                <a:t>Congestion Avoidance</a:t>
              </a:r>
              <a:endParaRPr lang="zh-CN" altLang="en-US" sz="1200" dirty="0"/>
            </a:p>
          </p:txBody>
        </p:sp>
        <p:sp>
          <p:nvSpPr>
            <p:cNvPr id="1054" name="文本框 1053"/>
            <p:cNvSpPr txBox="1"/>
            <p:nvPr/>
          </p:nvSpPr>
          <p:spPr>
            <a:xfrm>
              <a:off x="2497413" y="4077552"/>
              <a:ext cx="1622865" cy="461665"/>
            </a:xfrm>
            <a:prstGeom prst="rect">
              <a:avLst/>
            </a:prstGeom>
            <a:noFill/>
            <a:effectLst/>
          </p:spPr>
          <p:txBody>
            <a:bodyPr wrap="square">
              <a:spAutoFit/>
            </a:bodyPr>
            <a:lstStyle/>
            <a:p>
              <a:pPr algn="ctr"/>
              <a:r>
                <a:rPr lang="en-US" altLang="zh-CN" sz="1200" dirty="0" err="1"/>
                <a:t>ssthresh</a:t>
              </a:r>
              <a:r>
                <a:rPr lang="en-US" altLang="zh-CN" sz="1200" dirty="0"/>
                <a:t> if congestion detected</a:t>
              </a:r>
              <a:endParaRPr lang="zh-CN" altLang="en-US" sz="1200" dirty="0"/>
            </a:p>
          </p:txBody>
        </p:sp>
        <p:sp>
          <p:nvSpPr>
            <p:cNvPr id="1055" name="文本框 1054"/>
            <p:cNvSpPr txBox="1"/>
            <p:nvPr/>
          </p:nvSpPr>
          <p:spPr>
            <a:xfrm>
              <a:off x="981341" y="3267073"/>
              <a:ext cx="925207" cy="276999"/>
            </a:xfrm>
            <a:prstGeom prst="rect">
              <a:avLst/>
            </a:prstGeom>
            <a:noFill/>
            <a:effectLst/>
          </p:spPr>
          <p:txBody>
            <a:bodyPr wrap="square">
              <a:spAutoFit/>
            </a:bodyPr>
            <a:lstStyle/>
            <a:p>
              <a:pPr algn="ctr"/>
              <a:r>
                <a:rPr lang="en-US" altLang="zh-CN" sz="1200" dirty="0" err="1"/>
                <a:t>ssthresh</a:t>
              </a:r>
              <a:endParaRPr lang="zh-CN" altLang="en-US" sz="1200" dirty="0"/>
            </a:p>
          </p:txBody>
        </p:sp>
        <p:sp>
          <p:nvSpPr>
            <p:cNvPr id="1068" name="菱形 1067"/>
            <p:cNvSpPr/>
            <p:nvPr/>
          </p:nvSpPr>
          <p:spPr>
            <a:xfrm>
              <a:off x="2958320" y="3239018"/>
              <a:ext cx="84842" cy="103695"/>
            </a:xfrm>
            <a:prstGeom prst="diamond">
              <a:avLst/>
            </a:prstGeom>
            <a:solidFill>
              <a:schemeClr val="tx1"/>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lang="zh-CN" altLang="en-US" dirty="0">
                <a:solidFill>
                  <a:schemeClr val="tx1"/>
                </a:solidFill>
              </a:endParaRPr>
            </a:p>
          </p:txBody>
        </p:sp>
        <p:sp>
          <p:nvSpPr>
            <p:cNvPr id="1069" name="菱形 1068"/>
            <p:cNvSpPr/>
            <p:nvPr/>
          </p:nvSpPr>
          <p:spPr>
            <a:xfrm>
              <a:off x="3109935" y="3131953"/>
              <a:ext cx="84842" cy="103695"/>
            </a:xfrm>
            <a:prstGeom prst="diamond">
              <a:avLst/>
            </a:prstGeom>
            <a:solidFill>
              <a:schemeClr val="tx1"/>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lang="zh-CN" altLang="en-US" dirty="0">
                <a:solidFill>
                  <a:schemeClr val="tx1"/>
                </a:solidFill>
              </a:endParaRPr>
            </a:p>
          </p:txBody>
        </p:sp>
        <p:sp>
          <p:nvSpPr>
            <p:cNvPr id="1070" name="菱形 1069"/>
            <p:cNvSpPr/>
            <p:nvPr/>
          </p:nvSpPr>
          <p:spPr>
            <a:xfrm>
              <a:off x="3277330" y="3051605"/>
              <a:ext cx="84842" cy="103695"/>
            </a:xfrm>
            <a:prstGeom prst="diamond">
              <a:avLst/>
            </a:prstGeom>
            <a:solidFill>
              <a:schemeClr val="tx1"/>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lang="zh-CN" altLang="en-US" dirty="0">
                <a:solidFill>
                  <a:schemeClr val="tx1"/>
                </a:solidFill>
              </a:endParaRPr>
            </a:p>
          </p:txBody>
        </p:sp>
        <p:sp>
          <p:nvSpPr>
            <p:cNvPr id="1071" name="菱形 1070"/>
            <p:cNvSpPr/>
            <p:nvPr/>
          </p:nvSpPr>
          <p:spPr>
            <a:xfrm>
              <a:off x="3432765" y="2963146"/>
              <a:ext cx="84842" cy="103695"/>
            </a:xfrm>
            <a:prstGeom prst="diamond">
              <a:avLst/>
            </a:prstGeom>
            <a:solidFill>
              <a:schemeClr val="tx1"/>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lang="zh-CN" altLang="en-US" dirty="0">
                <a:solidFill>
                  <a:schemeClr val="tx1"/>
                </a:solidFill>
              </a:endParaRPr>
            </a:p>
          </p:txBody>
        </p:sp>
        <p:sp>
          <p:nvSpPr>
            <p:cNvPr id="1072" name="菱形 1071"/>
            <p:cNvSpPr/>
            <p:nvPr/>
          </p:nvSpPr>
          <p:spPr>
            <a:xfrm>
              <a:off x="3588200" y="2881137"/>
              <a:ext cx="84842" cy="103695"/>
            </a:xfrm>
            <a:prstGeom prst="diamond">
              <a:avLst/>
            </a:prstGeom>
            <a:solidFill>
              <a:schemeClr val="tx1"/>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lang="zh-CN" altLang="en-US" dirty="0">
                <a:solidFill>
                  <a:schemeClr val="tx1"/>
                </a:solidFill>
              </a:endParaRPr>
            </a:p>
          </p:txBody>
        </p:sp>
        <p:sp>
          <p:nvSpPr>
            <p:cNvPr id="1073" name="菱形 1072"/>
            <p:cNvSpPr/>
            <p:nvPr/>
          </p:nvSpPr>
          <p:spPr>
            <a:xfrm>
              <a:off x="3755595" y="2797231"/>
              <a:ext cx="84842" cy="103695"/>
            </a:xfrm>
            <a:prstGeom prst="diamond">
              <a:avLst/>
            </a:prstGeom>
            <a:solidFill>
              <a:schemeClr val="tx1"/>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lang="zh-CN" altLang="en-US" dirty="0">
                <a:solidFill>
                  <a:schemeClr val="tx1"/>
                </a:solidFill>
              </a:endParaRPr>
            </a:p>
          </p:txBody>
        </p:sp>
        <p:sp>
          <p:nvSpPr>
            <p:cNvPr id="1074" name="菱形 1073"/>
            <p:cNvSpPr/>
            <p:nvPr/>
          </p:nvSpPr>
          <p:spPr>
            <a:xfrm>
              <a:off x="3913045" y="2696094"/>
              <a:ext cx="84842" cy="103695"/>
            </a:xfrm>
            <a:prstGeom prst="diamond">
              <a:avLst/>
            </a:prstGeom>
            <a:solidFill>
              <a:schemeClr val="tx1"/>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lang="zh-CN" altLang="en-US" dirty="0">
                <a:solidFill>
                  <a:schemeClr val="tx1"/>
                </a:solidFill>
              </a:endParaRPr>
            </a:p>
          </p:txBody>
        </p:sp>
        <p:sp>
          <p:nvSpPr>
            <p:cNvPr id="1075" name="任意多边形: 形状 1074"/>
            <p:cNvSpPr/>
            <p:nvPr/>
          </p:nvSpPr>
          <p:spPr>
            <a:xfrm>
              <a:off x="3012918" y="2736982"/>
              <a:ext cx="970960" cy="527901"/>
            </a:xfrm>
            <a:custGeom>
              <a:avLst/>
              <a:gdLst>
                <a:gd name="csX0" fmla="*/ 0 w 970960"/>
                <a:gd name="csY0" fmla="*/ 527901 h 527901"/>
                <a:gd name="csX1" fmla="*/ 480767 w 970960"/>
                <a:gd name="csY1" fmla="*/ 273377 h 527901"/>
                <a:gd name="csX2" fmla="*/ 716437 w 970960"/>
                <a:gd name="csY2" fmla="*/ 141402 h 527901"/>
                <a:gd name="csX3" fmla="*/ 970960 w 970960"/>
                <a:gd name="csY3" fmla="*/ 0 h 527901"/>
              </a:gdLst>
              <a:ahLst/>
              <a:cxnLst>
                <a:cxn ang="0">
                  <a:pos x="csX0" y="csY0"/>
                </a:cxn>
                <a:cxn ang="0">
                  <a:pos x="csX1" y="csY1"/>
                </a:cxn>
                <a:cxn ang="0">
                  <a:pos x="csX2" y="csY2"/>
                </a:cxn>
                <a:cxn ang="0">
                  <a:pos x="csX3" y="csY3"/>
                </a:cxn>
              </a:cxnLst>
              <a:rect l="l" t="t" r="r" b="b"/>
              <a:pathLst>
                <a:path w="970960" h="527901">
                  <a:moveTo>
                    <a:pt x="0" y="527901"/>
                  </a:moveTo>
                  <a:lnTo>
                    <a:pt x="480767" y="273377"/>
                  </a:lnTo>
                  <a:cubicBezTo>
                    <a:pt x="600173" y="208960"/>
                    <a:pt x="634738" y="186965"/>
                    <a:pt x="716437" y="141402"/>
                  </a:cubicBezTo>
                  <a:cubicBezTo>
                    <a:pt x="798136" y="95839"/>
                    <a:pt x="908115" y="29851"/>
                    <a:pt x="970960" y="0"/>
                  </a:cubicBezTo>
                </a:path>
              </a:pathLst>
            </a:custGeom>
            <a:no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zh-CN" altLang="en-US"/>
            </a:p>
          </p:txBody>
        </p:sp>
        <p:sp>
          <p:nvSpPr>
            <p:cNvPr id="1077" name="文本框 1076"/>
            <p:cNvSpPr txBox="1"/>
            <p:nvPr/>
          </p:nvSpPr>
          <p:spPr>
            <a:xfrm>
              <a:off x="2425739" y="3267630"/>
              <a:ext cx="1622865" cy="461665"/>
            </a:xfrm>
            <a:prstGeom prst="rect">
              <a:avLst/>
            </a:prstGeom>
            <a:noFill/>
            <a:effectLst/>
          </p:spPr>
          <p:txBody>
            <a:bodyPr wrap="square">
              <a:spAutoFit/>
            </a:bodyPr>
            <a:lstStyle/>
            <a:p>
              <a:pPr algn="ctr"/>
              <a:r>
                <a:rPr lang="en-US" altLang="zh-CN" sz="1200" dirty="0" err="1"/>
                <a:t>ssthresh</a:t>
              </a:r>
              <a:r>
                <a:rPr lang="en-US" altLang="zh-CN" sz="1200" dirty="0"/>
                <a:t> if handover detected</a:t>
              </a:r>
              <a:endParaRPr lang="zh-CN" altLang="en-US" sz="1200" dirty="0"/>
            </a:p>
          </p:txBody>
        </p:sp>
        <p:sp>
          <p:nvSpPr>
            <p:cNvPr id="1078" name="任意多边形: 形状 1077"/>
            <p:cNvSpPr/>
            <p:nvPr/>
          </p:nvSpPr>
          <p:spPr>
            <a:xfrm>
              <a:off x="2997836" y="3290888"/>
              <a:ext cx="345439" cy="795337"/>
            </a:xfrm>
            <a:custGeom>
              <a:avLst/>
              <a:gdLst>
                <a:gd name="csX0" fmla="*/ 0 w 352425"/>
                <a:gd name="csY0" fmla="*/ 0 h 795337"/>
                <a:gd name="csX1" fmla="*/ 352425 w 352425"/>
                <a:gd name="csY1" fmla="*/ 795337 h 795337"/>
              </a:gdLst>
              <a:ahLst/>
              <a:cxnLst>
                <a:cxn ang="0">
                  <a:pos x="csX0" y="csY0"/>
                </a:cxn>
                <a:cxn ang="0">
                  <a:pos x="csX1" y="csY1"/>
                </a:cxn>
              </a:cxnLst>
              <a:rect l="l" t="t" r="r" b="b"/>
              <a:pathLst>
                <a:path w="352425" h="795337">
                  <a:moveTo>
                    <a:pt x="0" y="0"/>
                  </a:moveTo>
                  <a:lnTo>
                    <a:pt x="352425" y="795337"/>
                  </a:lnTo>
                </a:path>
              </a:pathLst>
            </a:custGeom>
            <a:noFill/>
            <a:ln>
              <a:solidFill>
                <a:schemeClr val="bg1">
                  <a:lumMod val="7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zh-CN" altLang="en-US"/>
            </a:p>
          </p:txBody>
        </p:sp>
      </p:grpSp>
      <p:grpSp>
        <p:nvGrpSpPr>
          <p:cNvPr id="1083" name="组合 1082"/>
          <p:cNvGrpSpPr/>
          <p:nvPr/>
        </p:nvGrpSpPr>
        <p:grpSpPr>
          <a:xfrm>
            <a:off x="4377960" y="4963522"/>
            <a:ext cx="1245500" cy="279570"/>
            <a:chOff x="2056851" y="4984440"/>
            <a:chExt cx="2071223" cy="258651"/>
          </a:xfrm>
        </p:grpSpPr>
        <p:cxnSp>
          <p:nvCxnSpPr>
            <p:cNvPr id="1084" name="直接连接符 1083"/>
            <p:cNvCxnSpPr>
              <a:stCxn id="1085" idx="1"/>
              <a:endCxn id="1085" idx="3"/>
            </p:cNvCxnSpPr>
            <p:nvPr/>
          </p:nvCxnSpPr>
          <p:spPr>
            <a:xfrm>
              <a:off x="2056851" y="5113766"/>
              <a:ext cx="2071223" cy="0"/>
            </a:xfrm>
            <a:prstGeom prst="line">
              <a:avLst/>
            </a:prstGeom>
            <a:ln w="12700">
              <a:solidFill>
                <a:schemeClr val="bg1">
                  <a:lumMod val="50000"/>
                </a:schemeClr>
              </a:solidFill>
              <a:headEnd type="triangle" w="med" len="med"/>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85" name="双括号 1084"/>
            <p:cNvSpPr/>
            <p:nvPr/>
          </p:nvSpPr>
          <p:spPr>
            <a:xfrm>
              <a:off x="2056851" y="4984440"/>
              <a:ext cx="2071223" cy="258651"/>
            </a:xfrm>
            <a:prstGeom prst="bracketPair">
              <a:avLst>
                <a:gd name="adj" fmla="val 0"/>
              </a:avLst>
            </a:prstGeom>
            <a:ln w="12700">
              <a:solidFill>
                <a:schemeClr val="bg1">
                  <a:lumMod val="50000"/>
                </a:schemeClr>
              </a:solidFill>
            </a:ln>
            <a:effectLst/>
          </p:spPr>
          <p:style>
            <a:lnRef idx="2">
              <a:schemeClr val="accent1"/>
            </a:lnRef>
            <a:fillRef idx="0">
              <a:schemeClr val="accent1"/>
            </a:fillRef>
            <a:effectRef idx="1">
              <a:schemeClr val="accent1"/>
            </a:effectRef>
            <a:fontRef idx="minor">
              <a:schemeClr val="tx1"/>
            </a:fontRef>
          </p:style>
          <p:txBody>
            <a:bodyPr rtlCol="0" anchor="ctr"/>
            <a:lstStyle/>
            <a:p>
              <a:pPr algn="ctr"/>
              <a:endParaRPr lang="zh-CN" altLang="en-US"/>
            </a:p>
          </p:txBody>
        </p: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3" name="TextBox 2"/>
          <p:cNvSpPr txBox="1"/>
          <p:nvPr/>
        </p:nvSpPr>
        <p:spPr>
          <a:xfrm>
            <a:off x="2735770" y="2676239"/>
            <a:ext cx="6387655" cy="1253680"/>
          </a:xfrm>
          <a:prstGeom prst="rect">
            <a:avLst/>
          </a:prstGeom>
          <a:noFill/>
        </p:spPr>
        <p:txBody>
          <a:bodyPr wrap="none" lIns="0" tIns="0" rIns="0" bIns="0"/>
          <a:lstStyle/>
          <a:p>
            <a:pPr algn="ctr">
              <a:lnSpc>
                <a:spcPct val="103000"/>
              </a:lnSpc>
              <a:spcBef>
                <a:spcPts val="0"/>
              </a:spcBef>
              <a:spcAft>
                <a:spcPts val="0"/>
              </a:spcAft>
            </a:pPr>
            <a:r>
              <a:rPr sz="6600" i="0" dirty="0">
                <a:latin typeface="Arial" panose="020B0604020202020204" pitchFamily="34" charset="0"/>
                <a:ea typeface="Roboto"/>
                <a:cs typeface="Arial" panose="020B0604020202020204" pitchFamily="34" charset="0"/>
              </a:rPr>
              <a:t>Questions?</a:t>
            </a:r>
            <a:endParaRPr sz="6600" i="0" dirty="0">
              <a:latin typeface="Arial" panose="020B0604020202020204" pitchFamily="34" charset="0"/>
              <a:ea typeface="Roboto"/>
              <a:cs typeface="Arial" panose="020B0604020202020204" pitchFamily="34" charset="0"/>
            </a:endParaRPr>
          </a:p>
        </p:txBody>
      </p:sp>
      <p:sp>
        <p:nvSpPr>
          <p:cNvPr id="6" name="灯片编号占位符 12"/>
          <p:cNvSpPr>
            <a:spLocks noGrp="1"/>
          </p:cNvSpPr>
          <p:nvPr>
            <p:ph type="sldNum" sz="quarter" idx="12"/>
          </p:nvPr>
        </p:nvSpPr>
        <p:spPr>
          <a:xfrm>
            <a:off x="10058400" y="6492875"/>
            <a:ext cx="2133600" cy="365125"/>
          </a:xfrm>
        </p:spPr>
        <p:txBody>
          <a:bodyPr/>
          <a:lstStyle/>
          <a:p>
            <a:fld id="{C1FF6DA9-008F-8B48-92A6-B652298478BF}" type="slidenum">
              <a:rPr lang="en-US" smtClean="0"/>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a:solidFill>
            <a:schemeClr val="tx1"/>
          </a:solidFill>
        </a:ln>
      </a:spPr>
      <a:bodyPr lIns="0" tIns="0" rIns="0" bIns="0" rtlCol="0" anchor="ctr"/>
      <a:lstStyle>
        <a:defPPr algn="ctr">
          <a:defRPr dirty="0" smtClean="0">
            <a:solidFill>
              <a:schemeClr val="tx1"/>
            </a:solidFill>
          </a:defRPr>
        </a:defP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2576</Words>
  <Application>WPS 演示</Application>
  <PresentationFormat>宽屏</PresentationFormat>
  <Paragraphs>88</Paragraphs>
  <Slides>7</Slides>
  <Notes>1</Notes>
  <HiddenSlides>0</HiddenSlides>
  <MMClips>0</MMClips>
  <ScaleCrop>false</ScaleCrop>
  <HeadingPairs>
    <vt:vector size="6" baseType="variant">
      <vt:variant>
        <vt:lpstr>已用的字体</vt:lpstr>
      </vt:variant>
      <vt:variant>
        <vt:i4>16</vt:i4>
      </vt:variant>
      <vt:variant>
        <vt:lpstr>主题</vt:lpstr>
      </vt:variant>
      <vt:variant>
        <vt:i4>1</vt:i4>
      </vt:variant>
      <vt:variant>
        <vt:lpstr>幻灯片标题</vt:lpstr>
      </vt:variant>
      <vt:variant>
        <vt:i4>7</vt:i4>
      </vt:variant>
    </vt:vector>
  </HeadingPairs>
  <TitlesOfParts>
    <vt:vector size="24" baseType="lpstr">
      <vt:lpstr>Arial</vt:lpstr>
      <vt:lpstr>宋体</vt:lpstr>
      <vt:lpstr>Wingdings</vt:lpstr>
      <vt:lpstr>Arial</vt:lpstr>
      <vt:lpstr>Calibri</vt:lpstr>
      <vt:lpstr>Arial Unicode MS</vt:lpstr>
      <vt:lpstr>Noto Sans SC</vt:lpstr>
      <vt:lpstr>??</vt:lpstr>
      <vt:lpstr>Segoe Print</vt:lpstr>
      <vt:lpstr>CircularXXWeb</vt:lpstr>
      <vt:lpstr>Roboto</vt:lpstr>
      <vt:lpstr>Times New Roman</vt:lpstr>
      <vt:lpstr>微软雅黑</vt:lpstr>
      <vt:lpstr>Arial Unicode MS</vt:lpstr>
      <vt:lpstr>等线</vt:lpstr>
      <vt:lpstr>Calibri</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cmcc</dc:creator>
  <dc:description>generated using python-pptx</dc:description>
  <cp:lastModifiedBy>fy</cp:lastModifiedBy>
  <cp:revision>205</cp:revision>
  <dcterms:created xsi:type="dcterms:W3CDTF">2013-01-27T09:14:00Z</dcterms:created>
  <dcterms:modified xsi:type="dcterms:W3CDTF">2026-03-18T04:21:52Z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93552EED43C34795A4EC55FFAEDF776D_13</vt:lpwstr>
  </property>
  <property fmtid="{D5CDD505-2E9C-101B-9397-08002B2CF9AE}" pid="3" name="KSOProductBuildVer">
    <vt:lpwstr>2052-12.8.2.21555</vt:lpwstr>
  </property>
</Properties>
</file>