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47" r:id="rId2"/>
    <p:sldId id="440" r:id="rId3"/>
    <p:sldId id="446" r:id="rId4"/>
    <p:sldId id="441" r:id="rId5"/>
    <p:sldId id="439" r:id="rId6"/>
    <p:sldId id="428" r:id="rId7"/>
    <p:sldId id="37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06" userDrawn="1">
          <p15:clr>
            <a:srgbClr val="A4A3A4"/>
          </p15:clr>
        </p15:guide>
        <p15:guide id="2" pos="24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0217067" initials="1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B050"/>
    <a:srgbClr val="2A93FB"/>
    <a:srgbClr val="71B7FC"/>
    <a:srgbClr val="E7D3DD"/>
    <a:srgbClr val="ADB9CA"/>
    <a:srgbClr val="FFFFFF"/>
    <a:srgbClr val="D1E5F4"/>
    <a:srgbClr val="0070C0"/>
    <a:srgbClr val="096F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30" y="67"/>
      </p:cViewPr>
      <p:guideLst>
        <p:guide orient="horz" pos="2606"/>
        <p:guide pos="24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DBAF1-0B6D-473E-8A62-3340F220D1D1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22D35-BFAD-40E3-A96B-5A0388BA2D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north-south traffic</a:t>
            </a:r>
            <a:r>
              <a:rPr lang="zh-CN" altLang="en-US"/>
              <a:t>需要加入一个手机，表示用户发出的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north-south traffic</a:t>
            </a:r>
            <a:r>
              <a:rPr lang="zh-CN" altLang="en-US"/>
              <a:t>需要加入一个手机，表示用户发出的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6"/>
          <p:cNvSpPr/>
          <p:nvPr/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7" name="椭圆 7"/>
          <p:cNvSpPr/>
          <p:nvPr/>
        </p:nvSpPr>
        <p:spPr>
          <a:xfrm>
            <a:off x="8029575" y="458788"/>
            <a:ext cx="741363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8" name="任意多边形: 形状 8"/>
          <p:cNvSpPr/>
          <p:nvPr/>
        </p:nvSpPr>
        <p:spPr>
          <a:xfrm>
            <a:off x="3287713" y="-7938"/>
            <a:ext cx="1457325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9" name="任意多边形: 形状 9"/>
          <p:cNvSpPr/>
          <p:nvPr/>
        </p:nvSpPr>
        <p:spPr>
          <a:xfrm>
            <a:off x="5199063" y="5929313"/>
            <a:ext cx="18288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10" name="任意多边形: 形状 10"/>
          <p:cNvSpPr/>
          <p:nvPr/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11" name="任意多边形: 形状 11"/>
          <p:cNvSpPr/>
          <p:nvPr/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12" name="KSO_Shape"/>
          <p:cNvSpPr/>
          <p:nvPr/>
        </p:nvSpPr>
        <p:spPr>
          <a:xfrm rot="13141020">
            <a:off x="484188" y="113823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/>
        </p:nvSpPr>
        <p:spPr>
          <a:xfrm rot="17100000">
            <a:off x="822325" y="3236913"/>
            <a:ext cx="215900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/>
        </p:nvSpPr>
        <p:spPr>
          <a:xfrm rot="10154805">
            <a:off x="8432800" y="6116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/>
        </p:nvSpPr>
        <p:spPr>
          <a:xfrm rot="11738950">
            <a:off x="10777538" y="2560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6" name=" 184"/>
          <p:cNvSpPr/>
          <p:nvPr/>
        </p:nvSpPr>
        <p:spPr>
          <a:xfrm>
            <a:off x="727075" y="1936750"/>
            <a:ext cx="936625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749459" y="2343802"/>
            <a:ext cx="6676572" cy="902363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749459" y="3294698"/>
            <a:ext cx="6676572" cy="5905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21C4A0F-14F1-4898-8B13-D756F0CCE0C5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6648728"/>
            <a:ext cx="12192000" cy="900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0" y="6681576"/>
            <a:ext cx="12192000" cy="1753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 userDrawn="1"/>
        </p:nvSpPr>
        <p:spPr>
          <a:xfrm>
            <a:off x="10561309" y="6614126"/>
            <a:ext cx="2553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www.fiberhome.com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758224" y="6542530"/>
            <a:ext cx="10433776" cy="100800"/>
          </a:xfrm>
          <a:prstGeom prst="rect">
            <a:avLst/>
          </a:prstGeom>
          <a:solidFill>
            <a:srgbClr val="F15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3" y="6432489"/>
            <a:ext cx="1592194" cy="329213"/>
          </a:xfrm>
          <a:prstGeom prst="rect">
            <a:avLst/>
          </a:prstGeom>
        </p:spPr>
      </p:pic>
      <p:cxnSp>
        <p:nvCxnSpPr>
          <p:cNvPr id="24" name="直接连接符 23"/>
          <p:cNvCxnSpPr/>
          <p:nvPr userDrawn="1"/>
        </p:nvCxnSpPr>
        <p:spPr>
          <a:xfrm flipH="1">
            <a:off x="8109857" y="6761702"/>
            <a:ext cx="24514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 userDrawn="1"/>
        </p:nvSpPr>
        <p:spPr>
          <a:xfrm rot="5400000">
            <a:off x="-13909" y="6467220"/>
            <a:ext cx="201682" cy="173864"/>
          </a:xfrm>
          <a:prstGeom prst="triangle">
            <a:avLst/>
          </a:prstGeom>
          <a:solidFill>
            <a:srgbClr val="F15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878" y="308417"/>
            <a:ext cx="1559765" cy="747833"/>
          </a:xfrm>
          <a:prstGeom prst="rect">
            <a:avLst/>
          </a:prstGeom>
        </p:spPr>
      </p:pic>
      <p:sp>
        <p:nvSpPr>
          <p:cNvPr id="26" name="矩形 25"/>
          <p:cNvSpPr/>
          <p:nvPr userDrawn="1"/>
        </p:nvSpPr>
        <p:spPr>
          <a:xfrm>
            <a:off x="37542" y="0"/>
            <a:ext cx="131302" cy="551582"/>
          </a:xfrm>
          <a:prstGeom prst="rect">
            <a:avLst/>
          </a:prstGeom>
          <a:solidFill>
            <a:srgbClr val="0B4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 userDrawn="1"/>
        </p:nvSpPr>
        <p:spPr>
          <a:xfrm>
            <a:off x="161413" y="0"/>
            <a:ext cx="73997" cy="6251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10561309" y="6614126"/>
            <a:ext cx="2553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www.fiberhome.com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0" y="6648728"/>
            <a:ext cx="12192000" cy="900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 userDrawn="1"/>
        </p:nvSpPr>
        <p:spPr>
          <a:xfrm rot="19982002">
            <a:off x="10539659" y="-271289"/>
            <a:ext cx="1735430" cy="1261657"/>
          </a:xfrm>
          <a:custGeom>
            <a:avLst/>
            <a:gdLst>
              <a:gd name="connsiteX0" fmla="*/ 317500 w 1009650"/>
              <a:gd name="connsiteY0" fmla="*/ 0 h 635000"/>
              <a:gd name="connsiteX1" fmla="*/ 0 w 1009650"/>
              <a:gd name="connsiteY1" fmla="*/ 317500 h 635000"/>
              <a:gd name="connsiteX2" fmla="*/ 317500 w 1009650"/>
              <a:gd name="connsiteY2" fmla="*/ 635000 h 635000"/>
              <a:gd name="connsiteX3" fmla="*/ 1009650 w 1009650"/>
              <a:gd name="connsiteY3" fmla="*/ 635000 h 635000"/>
              <a:gd name="connsiteX4" fmla="*/ 1009650 w 1009650"/>
              <a:gd name="connsiteY4" fmla="*/ 0 h 635000"/>
              <a:gd name="connsiteX5" fmla="*/ 317500 w 1009650"/>
              <a:gd name="connsiteY5" fmla="*/ 0 h 635000"/>
              <a:gd name="connsiteX0-1" fmla="*/ 238574 w 1009650"/>
              <a:gd name="connsiteY0-2" fmla="*/ 77415 h 635000"/>
              <a:gd name="connsiteX1-3" fmla="*/ 0 w 1009650"/>
              <a:gd name="connsiteY1-4" fmla="*/ 317500 h 635000"/>
              <a:gd name="connsiteX2-5" fmla="*/ 317500 w 1009650"/>
              <a:gd name="connsiteY2-6" fmla="*/ 635000 h 635000"/>
              <a:gd name="connsiteX3-7" fmla="*/ 1009650 w 1009650"/>
              <a:gd name="connsiteY3-8" fmla="*/ 635000 h 635000"/>
              <a:gd name="connsiteX4-9" fmla="*/ 1009650 w 1009650"/>
              <a:gd name="connsiteY4-10" fmla="*/ 0 h 635000"/>
              <a:gd name="connsiteX5-11" fmla="*/ 238574 w 1009650"/>
              <a:gd name="connsiteY5-12" fmla="*/ 77415 h 635000"/>
              <a:gd name="connsiteX0-13" fmla="*/ 238574 w 1009650"/>
              <a:gd name="connsiteY0-14" fmla="*/ 0 h 557585"/>
              <a:gd name="connsiteX1-15" fmla="*/ 0 w 1009650"/>
              <a:gd name="connsiteY1-16" fmla="*/ 240085 h 557585"/>
              <a:gd name="connsiteX2-17" fmla="*/ 317500 w 1009650"/>
              <a:gd name="connsiteY2-18" fmla="*/ 557585 h 557585"/>
              <a:gd name="connsiteX3-19" fmla="*/ 1009650 w 1009650"/>
              <a:gd name="connsiteY3-20" fmla="*/ 557585 h 557585"/>
              <a:gd name="connsiteX4-21" fmla="*/ 951930 w 1009650"/>
              <a:gd name="connsiteY4-22" fmla="*/ 270478 h 557585"/>
              <a:gd name="connsiteX5-23" fmla="*/ 238574 w 1009650"/>
              <a:gd name="connsiteY5-24" fmla="*/ 0 h 557585"/>
              <a:gd name="connsiteX0-25" fmla="*/ 238574 w 1009650"/>
              <a:gd name="connsiteY0-26" fmla="*/ 0 h 557585"/>
              <a:gd name="connsiteX1-27" fmla="*/ 0 w 1009650"/>
              <a:gd name="connsiteY1-28" fmla="*/ 240085 h 557585"/>
              <a:gd name="connsiteX2-29" fmla="*/ 317500 w 1009650"/>
              <a:gd name="connsiteY2-30" fmla="*/ 557585 h 557585"/>
              <a:gd name="connsiteX3-31" fmla="*/ 1009650 w 1009650"/>
              <a:gd name="connsiteY3-32" fmla="*/ 557585 h 557585"/>
              <a:gd name="connsiteX4-33" fmla="*/ 943235 w 1009650"/>
              <a:gd name="connsiteY4-34" fmla="*/ 284119 h 557585"/>
              <a:gd name="connsiteX5-35" fmla="*/ 238574 w 1009650"/>
              <a:gd name="connsiteY5-36" fmla="*/ 0 h 557585"/>
              <a:gd name="connsiteX0-37" fmla="*/ 238574 w 1009650"/>
              <a:gd name="connsiteY0-38" fmla="*/ 0 h 557585"/>
              <a:gd name="connsiteX1-39" fmla="*/ 0 w 1009650"/>
              <a:gd name="connsiteY1-40" fmla="*/ 240085 h 557585"/>
              <a:gd name="connsiteX2-41" fmla="*/ 317500 w 1009650"/>
              <a:gd name="connsiteY2-42" fmla="*/ 557585 h 557585"/>
              <a:gd name="connsiteX3-43" fmla="*/ 1009650 w 1009650"/>
              <a:gd name="connsiteY3-44" fmla="*/ 557585 h 557585"/>
              <a:gd name="connsiteX4-45" fmla="*/ 968868 w 1009650"/>
              <a:gd name="connsiteY4-46" fmla="*/ 294529 h 557585"/>
              <a:gd name="connsiteX5-47" fmla="*/ 238574 w 1009650"/>
              <a:gd name="connsiteY5-48" fmla="*/ 0 h 557585"/>
              <a:gd name="connsiteX0-49" fmla="*/ 238574 w 968868"/>
              <a:gd name="connsiteY0-50" fmla="*/ 0 h 558988"/>
              <a:gd name="connsiteX1-51" fmla="*/ 0 w 968868"/>
              <a:gd name="connsiteY1-52" fmla="*/ 240085 h 558988"/>
              <a:gd name="connsiteX2-53" fmla="*/ 317500 w 968868"/>
              <a:gd name="connsiteY2-54" fmla="*/ 557585 h 558988"/>
              <a:gd name="connsiteX3-55" fmla="*/ 801696 w 968868"/>
              <a:gd name="connsiteY3-56" fmla="*/ 558988 h 558988"/>
              <a:gd name="connsiteX4-57" fmla="*/ 968868 w 968868"/>
              <a:gd name="connsiteY4-58" fmla="*/ 294529 h 558988"/>
              <a:gd name="connsiteX5-59" fmla="*/ 238574 w 968868"/>
              <a:gd name="connsiteY5-60" fmla="*/ 0 h 558988"/>
              <a:gd name="connsiteX0-61" fmla="*/ 240640 w 968868"/>
              <a:gd name="connsiteY0-62" fmla="*/ 0 h 562230"/>
              <a:gd name="connsiteX1-63" fmla="*/ 0 w 968868"/>
              <a:gd name="connsiteY1-64" fmla="*/ 243327 h 562230"/>
              <a:gd name="connsiteX2-65" fmla="*/ 317500 w 968868"/>
              <a:gd name="connsiteY2-66" fmla="*/ 560827 h 562230"/>
              <a:gd name="connsiteX3-67" fmla="*/ 801696 w 968868"/>
              <a:gd name="connsiteY3-68" fmla="*/ 562230 h 562230"/>
              <a:gd name="connsiteX4-69" fmla="*/ 968868 w 968868"/>
              <a:gd name="connsiteY4-70" fmla="*/ 297771 h 562230"/>
              <a:gd name="connsiteX5-71" fmla="*/ 240640 w 968868"/>
              <a:gd name="connsiteY5-72" fmla="*/ 0 h 5622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68868" h="562230">
                <a:moveTo>
                  <a:pt x="240640" y="0"/>
                </a:moveTo>
                <a:lnTo>
                  <a:pt x="0" y="243327"/>
                </a:lnTo>
                <a:lnTo>
                  <a:pt x="317500" y="560827"/>
                </a:lnTo>
                <a:lnTo>
                  <a:pt x="801696" y="562230"/>
                </a:lnTo>
                <a:lnTo>
                  <a:pt x="968868" y="297771"/>
                </a:lnTo>
                <a:lnTo>
                  <a:pt x="24064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1" name="矩形 30"/>
          <p:cNvSpPr/>
          <p:nvPr userDrawn="1"/>
        </p:nvSpPr>
        <p:spPr>
          <a:xfrm>
            <a:off x="0" y="6681576"/>
            <a:ext cx="12192000" cy="1753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 userDrawn="1"/>
        </p:nvSpPr>
        <p:spPr>
          <a:xfrm>
            <a:off x="10561309" y="6614126"/>
            <a:ext cx="2553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www.fiberhome.com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33" name="矩形 32"/>
          <p:cNvSpPr/>
          <p:nvPr userDrawn="1"/>
        </p:nvSpPr>
        <p:spPr>
          <a:xfrm>
            <a:off x="1758224" y="6542530"/>
            <a:ext cx="10433776" cy="100800"/>
          </a:xfrm>
          <a:prstGeom prst="rect">
            <a:avLst/>
          </a:prstGeom>
          <a:solidFill>
            <a:srgbClr val="F15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3" y="6432489"/>
            <a:ext cx="1592194" cy="329213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 flipH="1">
            <a:off x="8109857" y="6761702"/>
            <a:ext cx="24514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等腰三角形 35"/>
          <p:cNvSpPr/>
          <p:nvPr userDrawn="1"/>
        </p:nvSpPr>
        <p:spPr>
          <a:xfrm rot="5400000">
            <a:off x="-13909" y="6467220"/>
            <a:ext cx="201682" cy="173864"/>
          </a:xfrm>
          <a:prstGeom prst="triangle">
            <a:avLst/>
          </a:prstGeom>
          <a:solidFill>
            <a:srgbClr val="F159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 userDrawn="1"/>
        </p:nvSpPr>
        <p:spPr>
          <a:xfrm>
            <a:off x="37542" y="0"/>
            <a:ext cx="131302" cy="5515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 userDrawn="1"/>
        </p:nvSpPr>
        <p:spPr>
          <a:xfrm>
            <a:off x="161413" y="0"/>
            <a:ext cx="73997" cy="6251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 preferRelativeResize="0"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785" y="67638"/>
            <a:ext cx="1515715" cy="78120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5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8" name="内容占位符 17"/>
          <p:cNvSpPr>
            <a:spLocks noGrp="1"/>
          </p:cNvSpPr>
          <p:nvPr>
            <p:ph idx="1"/>
          </p:nvPr>
        </p:nvSpPr>
        <p:spPr>
          <a:xfrm>
            <a:off x="876880" y="1716563"/>
            <a:ext cx="10515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4EAB8DB-94E9-4BAC-AC0A-0BDED11D82F9}" type="datetimeFigureOut">
              <a:rPr lang="zh-CN" altLang="en-US"/>
              <a:t>2026/3/15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6B749-F398-4A0E-8FC8-7662562542D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779835" y="1685925"/>
            <a:ext cx="4513262" cy="3910013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5"/>
          </p:nvPr>
        </p:nvSpPr>
        <p:spPr>
          <a:xfrm>
            <a:off x="6327775" y="2717800"/>
            <a:ext cx="5026025" cy="2878138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6"/>
          </p:nvPr>
        </p:nvSpPr>
        <p:spPr>
          <a:xfrm>
            <a:off x="6327775" y="1685925"/>
            <a:ext cx="5026025" cy="515938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1295400" y="802640"/>
            <a:ext cx="5621338" cy="3540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3818900-26F5-49F5-9D46-8CDDC5A6EF3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408113" y="2114550"/>
            <a:ext cx="2681287" cy="2681288"/>
          </a:xfrm>
          <a:prstGeom prst="ellipse">
            <a:avLst/>
          </a:pr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7"/>
          <p:cNvSpPr/>
          <p:nvPr/>
        </p:nvSpPr>
        <p:spPr>
          <a:xfrm>
            <a:off x="1574800" y="2266950"/>
            <a:ext cx="2378075" cy="2376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762500" y="3602038"/>
            <a:ext cx="494823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9802813" y="3541713"/>
            <a:ext cx="115887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0299700" y="3541713"/>
            <a:ext cx="115888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967913" y="3541713"/>
            <a:ext cx="115887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0134600" y="3541713"/>
            <a:ext cx="115888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/>
        </p:nvSpPr>
        <p:spPr>
          <a:xfrm rot="237355">
            <a:off x="2771775" y="23082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/>
        </p:nvSpPr>
        <p:spPr>
          <a:xfrm rot="1275228">
            <a:off x="3003550" y="2360613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/>
        </p:nvSpPr>
        <p:spPr>
          <a:xfrm rot="2175228">
            <a:off x="3209925" y="2478088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/>
        </p:nvSpPr>
        <p:spPr>
          <a:xfrm rot="3075228">
            <a:off x="3363119" y="2640806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/>
        </p:nvSpPr>
        <p:spPr>
          <a:xfrm rot="298659" flipH="1" flipV="1">
            <a:off x="2470150" y="4416425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/>
        </p:nvSpPr>
        <p:spPr>
          <a:xfrm rot="1336532" flipH="1" flipV="1">
            <a:off x="2243138" y="43656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/>
        </p:nvSpPr>
        <p:spPr>
          <a:xfrm rot="2236532" flipH="1" flipV="1">
            <a:off x="2039938" y="424338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/>
        </p:nvSpPr>
        <p:spPr>
          <a:xfrm rot="3136532" flipH="1" flipV="1">
            <a:off x="1889919" y="4079081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0750" y="2895613"/>
            <a:ext cx="4979670" cy="564898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30750" y="3753579"/>
            <a:ext cx="4979670" cy="5811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1DC5E6B-4175-4FFB-B5AE-4E123AB7D8A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横排四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8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9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0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1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2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>
            <p:custDataLst>
              <p:tags r:id="rId7"/>
            </p:custDataLst>
          </p:nvPr>
        </p:nvSpPr>
        <p:spPr>
          <a:xfrm>
            <a:off x="9520238" y="3194050"/>
            <a:ext cx="415925" cy="4159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lt"/>
            </a:endParaRPr>
          </a:p>
        </p:txBody>
      </p:sp>
      <p:sp>
        <p:nvSpPr>
          <p:cNvPr id="24" name="椭圆 23"/>
          <p:cNvSpPr/>
          <p:nvPr>
            <p:custDataLst>
              <p:tags r:id="rId8"/>
            </p:custDataLst>
          </p:nvPr>
        </p:nvSpPr>
        <p:spPr>
          <a:xfrm>
            <a:off x="2160588" y="3157538"/>
            <a:ext cx="415925" cy="4159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lt"/>
            </a:endParaRPr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4"/>
          </p:nvPr>
        </p:nvSpPr>
        <p:spPr>
          <a:xfrm>
            <a:off x="1785938" y="1727200"/>
            <a:ext cx="8610600" cy="59213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48" name="图片占位符 47"/>
          <p:cNvSpPr>
            <a:spLocks noGrp="1"/>
          </p:cNvSpPr>
          <p:nvPr>
            <p:ph type="pic" sz="quarter" idx="15"/>
          </p:nvPr>
        </p:nvSpPr>
        <p:spPr>
          <a:xfrm>
            <a:off x="1373135" y="2541905"/>
            <a:ext cx="1985380" cy="2024380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49" name="图片占位符 47"/>
          <p:cNvSpPr>
            <a:spLocks noGrp="1"/>
          </p:cNvSpPr>
          <p:nvPr>
            <p:ph type="pic" sz="quarter" idx="16"/>
          </p:nvPr>
        </p:nvSpPr>
        <p:spPr>
          <a:xfrm>
            <a:off x="3796797" y="2541905"/>
            <a:ext cx="1985380" cy="2024380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50" name="图片占位符 47"/>
          <p:cNvSpPr>
            <a:spLocks noGrp="1"/>
          </p:cNvSpPr>
          <p:nvPr>
            <p:ph type="pic" sz="quarter" idx="17"/>
          </p:nvPr>
        </p:nvSpPr>
        <p:spPr>
          <a:xfrm>
            <a:off x="6215697" y="2541905"/>
            <a:ext cx="1985380" cy="2024380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51" name="图片占位符 47"/>
          <p:cNvSpPr>
            <a:spLocks noGrp="1"/>
          </p:cNvSpPr>
          <p:nvPr>
            <p:ph type="pic" sz="quarter" idx="18"/>
          </p:nvPr>
        </p:nvSpPr>
        <p:spPr>
          <a:xfrm>
            <a:off x="8634597" y="2541905"/>
            <a:ext cx="1985380" cy="2024380"/>
          </a:xfrm>
        </p:spPr>
        <p:txBody>
          <a:bodyPr/>
          <a:lstStyle/>
          <a:p>
            <a:pPr lvl="0"/>
            <a:endParaRPr lang="zh-CN" altLang="en-US" noProof="1"/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19"/>
          </p:nvPr>
        </p:nvSpPr>
        <p:spPr>
          <a:xfrm>
            <a:off x="1295082" y="4583112"/>
            <a:ext cx="2138363" cy="4619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54" name="文本占位符 52"/>
          <p:cNvSpPr>
            <a:spLocks noGrp="1"/>
          </p:cNvSpPr>
          <p:nvPr>
            <p:ph type="body" sz="quarter" idx="20"/>
          </p:nvPr>
        </p:nvSpPr>
        <p:spPr>
          <a:xfrm>
            <a:off x="3720305" y="4583112"/>
            <a:ext cx="2138363" cy="4619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55" name="文本占位符 52"/>
          <p:cNvSpPr>
            <a:spLocks noGrp="1"/>
          </p:cNvSpPr>
          <p:nvPr>
            <p:ph type="body" sz="quarter" idx="21"/>
          </p:nvPr>
        </p:nvSpPr>
        <p:spPr>
          <a:xfrm>
            <a:off x="6139205" y="4583112"/>
            <a:ext cx="2138363" cy="4619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56" name="文本占位符 52"/>
          <p:cNvSpPr>
            <a:spLocks noGrp="1"/>
          </p:cNvSpPr>
          <p:nvPr>
            <p:ph type="body" sz="quarter" idx="22"/>
          </p:nvPr>
        </p:nvSpPr>
        <p:spPr>
          <a:xfrm>
            <a:off x="8558105" y="4583112"/>
            <a:ext cx="2138363" cy="461963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23"/>
          </p:nvPr>
        </p:nvSpPr>
        <p:spPr>
          <a:xfrm>
            <a:off x="1295081" y="5062538"/>
            <a:ext cx="2138363" cy="1138237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59" name="文本占位符 57"/>
          <p:cNvSpPr>
            <a:spLocks noGrp="1"/>
          </p:cNvSpPr>
          <p:nvPr>
            <p:ph type="body" sz="quarter" idx="24"/>
          </p:nvPr>
        </p:nvSpPr>
        <p:spPr>
          <a:xfrm>
            <a:off x="3720305" y="5062538"/>
            <a:ext cx="2138363" cy="1138237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60" name="文本占位符 57"/>
          <p:cNvSpPr>
            <a:spLocks noGrp="1"/>
          </p:cNvSpPr>
          <p:nvPr>
            <p:ph type="body" sz="quarter" idx="25"/>
          </p:nvPr>
        </p:nvSpPr>
        <p:spPr>
          <a:xfrm>
            <a:off x="6139205" y="5062538"/>
            <a:ext cx="2138363" cy="1138237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61" name="文本占位符 57"/>
          <p:cNvSpPr>
            <a:spLocks noGrp="1"/>
          </p:cNvSpPr>
          <p:nvPr>
            <p:ph type="body" sz="quarter" idx="26"/>
          </p:nvPr>
        </p:nvSpPr>
        <p:spPr>
          <a:xfrm>
            <a:off x="8558105" y="5045075"/>
            <a:ext cx="2138363" cy="1138237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1295400" y="802640"/>
            <a:ext cx="5621338" cy="3540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25" name="日期占位符 3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" name="页脚占位符 4"/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F15CD5-A897-44BC-96B1-EA1DFA2014A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>
          <a:xfrm>
            <a:off x="1295400" y="802640"/>
            <a:ext cx="5621338" cy="3540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38A55B5-DAAD-4B42-B2A7-EC7A443BCF7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5"/>
          <p:cNvSpPr/>
          <p:nvPr/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4" name="椭圆 3"/>
          <p:cNvSpPr/>
          <p:nvPr/>
        </p:nvSpPr>
        <p:spPr>
          <a:xfrm>
            <a:off x="1357313" y="1363663"/>
            <a:ext cx="1497012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5" name="任意多边形: 形状 7"/>
          <p:cNvSpPr/>
          <p:nvPr/>
        </p:nvSpPr>
        <p:spPr>
          <a:xfrm>
            <a:off x="8089900" y="-7938"/>
            <a:ext cx="1047750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6" name="任意多边形: 形状 8"/>
          <p:cNvSpPr/>
          <p:nvPr/>
        </p:nvSpPr>
        <p:spPr>
          <a:xfrm>
            <a:off x="4592638" y="5781675"/>
            <a:ext cx="2116137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7" name="任意多边形: 形状 9"/>
          <p:cNvSpPr/>
          <p:nvPr/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8" name="任意多边形: 形状 10"/>
          <p:cNvSpPr/>
          <p:nvPr/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9" name="KSO_Shape"/>
          <p:cNvSpPr/>
          <p:nvPr/>
        </p:nvSpPr>
        <p:spPr>
          <a:xfrm rot="10154805">
            <a:off x="9918700" y="490378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/>
        </p:nvSpPr>
        <p:spPr>
          <a:xfrm rot="10154805">
            <a:off x="8661400" y="2400300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/>
        </p:nvSpPr>
        <p:spPr>
          <a:xfrm rot="13326744">
            <a:off x="1309688" y="4641850"/>
            <a:ext cx="628650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/>
        </p:nvSpPr>
        <p:spPr>
          <a:xfrm rot="6300000">
            <a:off x="5813425" y="893763"/>
            <a:ext cx="563563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47925" y="2592718"/>
            <a:ext cx="7296150" cy="1442383"/>
          </a:xfrm>
        </p:spPr>
        <p:txBody>
          <a:bodyPr>
            <a:normAutofit/>
          </a:bodyPr>
          <a:lstStyle>
            <a:lvl1pPr algn="ctr">
              <a:defRPr sz="8000" b="1">
                <a:solidFill>
                  <a:schemeClr val="accent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9D602DD-68A8-41A2-B35E-86A5C6EDDC1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1268730" y="276226"/>
            <a:ext cx="9774555" cy="518160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>
          <a:xfrm>
            <a:off x="1295400" y="802640"/>
            <a:ext cx="5621338" cy="3540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endParaRPr lang="zh-CN" altLang="en-US" noProof="1"/>
          </a:p>
        </p:txBody>
      </p:sp>
      <p:sp>
        <p:nvSpPr>
          <p:cNvPr id="14" name="日期占位符 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页脚占位符 7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8" name="灯片编号占位符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3B64651-DA25-460D-BF03-D6AB3999D7B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4EFE7A2-A409-40F1-B0DC-05379ABA812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5683DD-9769-49BF-AEB4-9453FFE637D3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28A51-3024-4AB4-87AE-80337BB74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45"/>
          <p:cNvSpPr/>
          <p:nvPr>
            <p:custDataLst>
              <p:tags r:id="rId1"/>
            </p:custDataLst>
          </p:nvPr>
        </p:nvSpPr>
        <p:spPr>
          <a:xfrm>
            <a:off x="0" y="-6350"/>
            <a:ext cx="1173163" cy="1162050"/>
          </a:xfrm>
          <a:custGeom>
            <a:avLst/>
            <a:gdLst>
              <a:gd name="connsiteX0" fmla="*/ 0 w 1172915"/>
              <a:gd name="connsiteY0" fmla="*/ 0 h 1162285"/>
              <a:gd name="connsiteX1" fmla="*/ 1172915 w 1172915"/>
              <a:gd name="connsiteY1" fmla="*/ 0 h 1162285"/>
              <a:gd name="connsiteX2" fmla="*/ 1167422 w 1172915"/>
              <a:gd name="connsiteY2" fmla="*/ 108787 h 1162285"/>
              <a:gd name="connsiteX3" fmla="*/ 0 w 1172915"/>
              <a:gd name="connsiteY3" fmla="*/ 1162285 h 116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915" h="1162285">
                <a:moveTo>
                  <a:pt x="0" y="0"/>
                </a:moveTo>
                <a:lnTo>
                  <a:pt x="1172915" y="0"/>
                </a:lnTo>
                <a:lnTo>
                  <a:pt x="1167422" y="108787"/>
                </a:lnTo>
                <a:cubicBezTo>
                  <a:pt x="1107328" y="700521"/>
                  <a:pt x="607589" y="1162285"/>
                  <a:pt x="0" y="1162285"/>
                </a:cubicBezTo>
                <a:close/>
              </a:path>
            </a:pathLst>
          </a:custGeom>
          <a:solidFill>
            <a:srgbClr val="F7F7F7"/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5" name="任意多边形: 形状 46"/>
          <p:cNvSpPr/>
          <p:nvPr>
            <p:custDataLst>
              <p:tags r:id="rId2"/>
            </p:custDataLst>
          </p:nvPr>
        </p:nvSpPr>
        <p:spPr>
          <a:xfrm>
            <a:off x="0" y="-6350"/>
            <a:ext cx="1036638" cy="1036638"/>
          </a:xfrm>
          <a:custGeom>
            <a:avLst/>
            <a:gdLst>
              <a:gd name="connsiteX0" fmla="*/ 0 w 1036320"/>
              <a:gd name="connsiteY0" fmla="*/ 0 h 1036320"/>
              <a:gd name="connsiteX1" fmla="*/ 1036320 w 1036320"/>
              <a:gd name="connsiteY1" fmla="*/ 0 h 1036320"/>
              <a:gd name="connsiteX2" fmla="*/ 0 w 1036320"/>
              <a:gd name="connsiteY2" fmla="*/ 103632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6320" h="1036320">
                <a:moveTo>
                  <a:pt x="0" y="0"/>
                </a:moveTo>
                <a:lnTo>
                  <a:pt x="1036320" y="0"/>
                </a:lnTo>
                <a:cubicBezTo>
                  <a:pt x="1036320" y="572344"/>
                  <a:pt x="572344" y="1036320"/>
                  <a:pt x="0" y="10363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KSO_Shape"/>
          <p:cNvSpPr/>
          <p:nvPr>
            <p:custDataLst>
              <p:tags r:id="rId3"/>
            </p:custDataLst>
          </p:nvPr>
        </p:nvSpPr>
        <p:spPr>
          <a:xfrm rot="6188927">
            <a:off x="784226" y="434975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" name="KSO_Shape"/>
          <p:cNvSpPr/>
          <p:nvPr>
            <p:custDataLst>
              <p:tags r:id="rId4"/>
            </p:custDataLst>
          </p:nvPr>
        </p:nvSpPr>
        <p:spPr>
          <a:xfrm rot="7226800">
            <a:off x="745332" y="535781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" name="KSO_Shape"/>
          <p:cNvSpPr/>
          <p:nvPr>
            <p:custDataLst>
              <p:tags r:id="rId5"/>
            </p:custDataLst>
          </p:nvPr>
        </p:nvSpPr>
        <p:spPr>
          <a:xfrm rot="8126800">
            <a:off x="676275" y="620713"/>
            <a:ext cx="88900" cy="777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9" name="KSO_Shape"/>
          <p:cNvSpPr/>
          <p:nvPr>
            <p:custDataLst>
              <p:tags r:id="rId6"/>
            </p:custDataLst>
          </p:nvPr>
        </p:nvSpPr>
        <p:spPr>
          <a:xfrm rot="9026800">
            <a:off x="590550" y="677863"/>
            <a:ext cx="88900" cy="7937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noProof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5683DD-9769-49BF-AEB4-9453FFE637D3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FAC28A51-3024-4AB4-87AE-80337BB74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B54FE-17D8-4201-A2BE-3C569D776F8B}" type="datetimeFigureOut">
              <a:rPr lang="zh-CN" altLang="en-US"/>
              <a:t>2026/3/15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190F85-A340-4407-97EC-3849D2553C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683DD-9769-49BF-AEB4-9453FFE637D3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A51-3024-4AB4-87AE-80337BB74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44500" y="1775012"/>
            <a:ext cx="11355917" cy="4424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6"/>
            </p:custDataLst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7"/>
            </p:custDataLst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lnSpc>
                <a:spcPct val="120000"/>
              </a:lnSpc>
              <a:buFontTx/>
              <a:buNone/>
              <a:defRPr sz="1200" noProof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fld id="{705683DD-9769-49BF-AEB4-9453FFE637D3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lnSpc>
                <a:spcPct val="120000"/>
              </a:lnSpc>
              <a:buFontTx/>
              <a:buNone/>
              <a:defRPr sz="1200" noProof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fontAlgn="auto">
              <a:lnSpc>
                <a:spcPct val="120000"/>
              </a:lnSpc>
              <a:buFontTx/>
              <a:buNone/>
              <a:defRPr sz="1200" noProof="1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</a:lstStyle>
          <a:p>
            <a:fld id="{FAC28A51-3024-4AB4-87AE-80337BB74DC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2" name="矩形 1"/>
          <p:cNvSpPr/>
          <p:nvPr userDrawn="1"/>
        </p:nvSpPr>
        <p:spPr>
          <a:xfrm>
            <a:off x="12304991" y="3563599"/>
            <a:ext cx="457015" cy="356501"/>
          </a:xfrm>
          <a:prstGeom prst="rect">
            <a:avLst/>
          </a:prstGeom>
          <a:solidFill>
            <a:srgbClr val="FF66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12303852" y="4548881"/>
            <a:ext cx="458314" cy="356501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2303237" y="4056240"/>
            <a:ext cx="459017" cy="356501"/>
          </a:xfrm>
          <a:prstGeom prst="rect">
            <a:avLst/>
          </a:prstGeom>
          <a:solidFill>
            <a:srgbClr val="8E499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303237" y="5041523"/>
            <a:ext cx="459017" cy="356501"/>
          </a:xfrm>
          <a:prstGeom prst="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2302989" y="5534164"/>
            <a:ext cx="459017" cy="356501"/>
          </a:xfrm>
          <a:prstGeom prst="rect">
            <a:avLst/>
          </a:prstGeom>
          <a:solidFill>
            <a:srgbClr val="40404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12302989" y="6026805"/>
            <a:ext cx="459017" cy="356501"/>
          </a:xfrm>
          <a:prstGeom prst="rect">
            <a:avLst/>
          </a:prstGeom>
          <a:solidFill>
            <a:srgbClr val="7F7F7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2288795" y="6519446"/>
            <a:ext cx="5207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参考色</a:t>
            </a:r>
            <a:endParaRPr lang="en-US" alt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12303083" y="3085246"/>
            <a:ext cx="457015" cy="356501"/>
          </a:xfrm>
          <a:prstGeom prst="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 kern="1200">
          <a:solidFill>
            <a:srgbClr val="595959"/>
          </a:solidFill>
          <a:latin typeface="黑体" panose="02010609060101010101" charset="-122"/>
          <a:ea typeface="黑体" panose="02010609060101010101" charset="-122"/>
          <a:cs typeface="+mj-cs"/>
        </a:defRPr>
      </a:lvl1pPr>
      <a:lvl2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2pPr>
      <a:lvl3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3pPr>
      <a:lvl4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4pPr>
      <a:lvl5pPr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5pPr>
      <a:lvl6pPr marL="457200"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6pPr>
      <a:lvl7pPr marL="914400"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7pPr>
      <a:lvl8pPr marL="1371600"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8pPr>
      <a:lvl9pPr marL="1828800" algn="l" rtl="0" fontAlgn="base">
        <a:lnSpc>
          <a:spcPct val="120000"/>
        </a:lnSpc>
        <a:spcBef>
          <a:spcPct val="0"/>
        </a:spcBef>
        <a:spcAft>
          <a:spcPct val="0"/>
        </a:spcAft>
        <a:defRPr sz="3200" b="1">
          <a:solidFill>
            <a:srgbClr val="595959"/>
          </a:solidFill>
          <a:latin typeface="黑体" panose="02010609060101010101" charset="-122"/>
          <a:ea typeface="黑体" panose="02010609060101010101" charset="-122"/>
        </a:defRPr>
      </a:lvl9pPr>
    </p:titleStyle>
    <p:bodyStyle>
      <a:lvl1pPr marL="228600" indent="-228600" algn="l" rtl="0" fontAlgn="base">
        <a:lnSpc>
          <a:spcPct val="12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665923" y="1748790"/>
            <a:ext cx="85585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latin typeface="Cambria" panose="02040503050406030204" charset="0"/>
                <a:cs typeface="Cambria" panose="02040503050406030204" charset="0"/>
                <a:sym typeface="+mn-ea"/>
              </a:rPr>
              <a:t>High Performance Transport Protocol Optimization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61910" y="3572510"/>
            <a:ext cx="37045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 algn="l"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>
                <a:latin typeface="Cambria" panose="02040503050406030204" charset="0"/>
                <a:cs typeface="Cambria" panose="02040503050406030204" charset="0"/>
                <a:sym typeface="+mn-ea"/>
              </a:rPr>
              <a:t>Daniel Huang, </a:t>
            </a:r>
          </a:p>
          <a:p>
            <a:pPr lvl="0" indent="0" algn="l"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>
                <a:latin typeface="Cambria" panose="02040503050406030204" charset="0"/>
                <a:cs typeface="Cambria" panose="02040503050406030204" charset="0"/>
                <a:sym typeface="+mn-ea"/>
              </a:rPr>
              <a:t>ZTE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77210" y="5211244"/>
            <a:ext cx="9144000" cy="1217748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US" altLang="zh-CN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IETF 125 @</a:t>
            </a:r>
            <a:r>
              <a:rPr lang="zh-CN" altLang="en-US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 </a:t>
            </a:r>
            <a:r>
              <a:rPr lang="en-US" altLang="zh-CN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Shenzhen</a:t>
            </a:r>
          </a:p>
          <a:p>
            <a:pPr marL="0" indent="0" algn="ctr">
              <a:buNone/>
            </a:pPr>
            <a:r>
              <a:rPr lang="en-US" altLang="zh-CN" sz="2000" dirty="0">
                <a:latin typeface="Calibri Light" panose="020F0302020204030204" charset="0"/>
                <a:ea typeface="思源黑体 CN Light" panose="020B0300000000000000" charset="-122"/>
                <a:cs typeface="Calibri Light" panose="020F0302020204030204" charset="0"/>
              </a:rPr>
              <a:t>March, 2026</a:t>
            </a:r>
            <a:endParaRPr lang="zh-CN" altLang="en-US" sz="2000" dirty="0">
              <a:latin typeface="Calibri Light" panose="020F0302020204030204" charset="0"/>
              <a:ea typeface="思源黑体 CN Light" panose="020B0300000000000000" charset="-122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3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High Performance </a:t>
            </a:r>
            <a:r>
              <a:rPr lang="en-US" altLang="en-GB" sz="3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Transport</a:t>
            </a:r>
            <a:r>
              <a:rPr lang="en-GB" altLang="zh-CN" sz="3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Network</a:t>
            </a:r>
            <a:r>
              <a:rPr lang="en-US" altLang="en-GB" sz="3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for satellite communication</a:t>
            </a:r>
            <a:endParaRPr kumimoji="0" lang="en-US" altLang="en-GB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anose="02040503050406030204" charset="0"/>
              <a:ea typeface="微软雅黑" panose="020B0503020204020204" pitchFamily="34" charset="-122"/>
              <a:cs typeface="Cambria" panose="02040503050406030204" charset="0"/>
              <a:sym typeface="+mn-ea"/>
            </a:endParaRPr>
          </a:p>
        </p:txBody>
      </p:sp>
      <p:sp>
        <p:nvSpPr>
          <p:cNvPr id="3" name="文本框 5"/>
          <p:cNvSpPr txBox="1"/>
          <p:nvPr/>
        </p:nvSpPr>
        <p:spPr>
          <a:xfrm>
            <a:off x="861695" y="1577975"/>
            <a:ext cx="1082548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Scope: </a:t>
            </a: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Space-based AI infrastructure is emerging from Europe(PhiSat-2), North America (SpaceX+xAI)and China (Zhijiang Lab), with applications of remote sensing, earth observation and AI training and inference on orbit.</a:t>
            </a:r>
          </a:p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Problem: </a:t>
            </a: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Large volume of data movement between satellite and earth station needs high bandwidth, low latency, high reliability, and secure end-to-end design from campus to backbone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Key components: </a:t>
            </a: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Distributed architectural elements, topology choices, bandwidth and latency engineering, localised data movement, forwarding optimisation, reliability/HA.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Data movement enablers</a:t>
            </a: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: </a:t>
            </a:r>
            <a:r>
              <a:rPr lang="en-US" altLang="zh-CN" sz="2400" dirty="0">
                <a:latin typeface="Cambria" panose="02040503050406030204" charset="0"/>
                <a:cs typeface="Cambria" panose="02040503050406030204" charset="0"/>
                <a:sym typeface="+mn-ea"/>
              </a:rPr>
              <a:t>Scheduled</a:t>
            </a:r>
            <a:r>
              <a:rPr lang="en-US" altLang="zh-CN" sz="24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low-latency </a:t>
            </a:r>
            <a:r>
              <a:rPr lang="en-US" altLang="zh-CN" sz="2400" dirty="0">
                <a:latin typeface="Cambria" panose="02040503050406030204" charset="0"/>
                <a:cs typeface="Cambria" panose="02040503050406030204" charset="0"/>
                <a:sym typeface="+mn-ea"/>
              </a:rPr>
              <a:t>hard guarantees, QoS, congestion control, performance monitoring, scalability. </a:t>
            </a:r>
          </a:p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17806" y="69215"/>
            <a:ext cx="107956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>
                <a:latin typeface="Cambria" panose="02040503050406030204" charset="0"/>
                <a:cs typeface="Cambria" panose="02040503050406030204" charset="0"/>
              </a:rPr>
              <a:t>What matters for High Performance Transport Network ?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7730" y="2522220"/>
            <a:ext cx="99396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 algn="l"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>
                <a:latin typeface="Cambria" panose="02040503050406030204" charset="0"/>
                <a:cs typeface="Cambria" panose="02040503050406030204" charset="0"/>
                <a:sym typeface="+mn-ea"/>
              </a:rPr>
              <a:t>Bottlenecks  in terms of IETF technologies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883285" y="3507105"/>
            <a:ext cx="2059305" cy="1266190"/>
            <a:chOff x="730" y="3410"/>
            <a:chExt cx="2540" cy="1815"/>
          </a:xfrm>
        </p:grpSpPr>
        <p:sp>
          <p:nvSpPr>
            <p:cNvPr id="3" name="矩形 2"/>
            <p:cNvSpPr/>
            <p:nvPr/>
          </p:nvSpPr>
          <p:spPr>
            <a:xfrm>
              <a:off x="730" y="3410"/>
              <a:ext cx="2540" cy="1815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027" y="3471"/>
              <a:ext cx="1923" cy="39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marL="0" marR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en-US" altLang="zh-CN" sz="12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Transport 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901700" y="5111115"/>
            <a:ext cx="2040890" cy="44958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ctr" anchorCtr="0" compatLnSpc="1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01700" y="6002020"/>
            <a:ext cx="2040890" cy="523875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ctr" anchorCtr="0" compatLnSpc="1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9494520" y="4775200"/>
            <a:ext cx="1946910" cy="878205"/>
            <a:chOff x="1147" y="1801"/>
            <a:chExt cx="2540" cy="1383"/>
          </a:xfrm>
        </p:grpSpPr>
        <p:sp>
          <p:nvSpPr>
            <p:cNvPr id="48" name="矩形 47"/>
            <p:cNvSpPr/>
            <p:nvPr/>
          </p:nvSpPr>
          <p:spPr>
            <a:xfrm>
              <a:off x="1147" y="1801"/>
              <a:ext cx="2540" cy="1383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50" name="肘形连接符 49"/>
            <p:cNvCxnSpPr>
              <a:stCxn id="49" idx="2"/>
            </p:cNvCxnSpPr>
            <p:nvPr/>
          </p:nvCxnSpPr>
          <p:spPr>
            <a:xfrm rot="5400000">
              <a:off x="1947" y="2074"/>
              <a:ext cx="278" cy="784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sp>
        <p:nvSpPr>
          <p:cNvPr id="54" name="矩形 53"/>
          <p:cNvSpPr/>
          <p:nvPr/>
        </p:nvSpPr>
        <p:spPr>
          <a:xfrm>
            <a:off x="3095625" y="4687570"/>
            <a:ext cx="1130300" cy="26416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ctr" anchorCtr="0" compatLnSpc="1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 flipH="1" flipV="1">
            <a:off x="3350260" y="4622165"/>
            <a:ext cx="6049010" cy="1143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63" name="文本框 62"/>
          <p:cNvSpPr txBox="1"/>
          <p:nvPr/>
        </p:nvSpPr>
        <p:spPr>
          <a:xfrm>
            <a:off x="9491345" y="5295265"/>
            <a:ext cx="23037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Congestion Notification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967740" y="3070225"/>
            <a:ext cx="188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HOST</a:t>
            </a:r>
          </a:p>
        </p:txBody>
      </p:sp>
      <p:sp>
        <p:nvSpPr>
          <p:cNvPr id="65" name="云形 64"/>
          <p:cNvSpPr/>
          <p:nvPr/>
        </p:nvSpPr>
        <p:spPr>
          <a:xfrm>
            <a:off x="4423410" y="4500880"/>
            <a:ext cx="4458970" cy="1727200"/>
          </a:xfrm>
          <a:prstGeom prst="cloud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5815965" y="4763135"/>
            <a:ext cx="358775" cy="27813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5812790" y="5143500"/>
            <a:ext cx="358775" cy="27813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5812790" y="5590540"/>
            <a:ext cx="358775" cy="27813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6833235" y="5132705"/>
            <a:ext cx="358775" cy="27813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70" name="直接箭头连接符 69"/>
          <p:cNvCxnSpPr>
            <a:stCxn id="66" idx="6"/>
            <a:endCxn id="69" idx="1"/>
          </p:cNvCxnSpPr>
          <p:nvPr/>
        </p:nvCxnSpPr>
        <p:spPr>
          <a:xfrm>
            <a:off x="6174740" y="4911090"/>
            <a:ext cx="711200" cy="2711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71" name="直接箭头连接符 70"/>
          <p:cNvCxnSpPr>
            <a:stCxn id="67" idx="6"/>
            <a:endCxn id="69" idx="2"/>
          </p:cNvCxnSpPr>
          <p:nvPr/>
        </p:nvCxnSpPr>
        <p:spPr>
          <a:xfrm flipV="1">
            <a:off x="6171565" y="5280660"/>
            <a:ext cx="661670" cy="10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72" name="直接箭头连接符 71"/>
          <p:cNvCxnSpPr>
            <a:stCxn id="68" idx="6"/>
            <a:endCxn id="69" idx="3"/>
          </p:cNvCxnSpPr>
          <p:nvPr/>
        </p:nvCxnSpPr>
        <p:spPr>
          <a:xfrm flipV="1">
            <a:off x="6171565" y="5379085"/>
            <a:ext cx="714375" cy="3594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73" name="矩形 72"/>
          <p:cNvSpPr/>
          <p:nvPr/>
        </p:nvSpPr>
        <p:spPr>
          <a:xfrm>
            <a:off x="7950200" y="4977130"/>
            <a:ext cx="1130300" cy="51054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ctr" anchorCtr="0" compatLnSpc="1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74" name="直接箭头连接符 73"/>
          <p:cNvCxnSpPr>
            <a:stCxn id="69" idx="6"/>
            <a:endCxn id="73" idx="1"/>
          </p:cNvCxnSpPr>
          <p:nvPr/>
        </p:nvCxnSpPr>
        <p:spPr>
          <a:xfrm flipV="1">
            <a:off x="7192010" y="5241290"/>
            <a:ext cx="758190" cy="393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75" name="文本框 74"/>
          <p:cNvSpPr txBox="1"/>
          <p:nvPr/>
        </p:nvSpPr>
        <p:spPr>
          <a:xfrm>
            <a:off x="7175500" y="4017010"/>
            <a:ext cx="23444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/>
              <a:t>Incast congestion</a:t>
            </a:r>
          </a:p>
        </p:txBody>
      </p:sp>
      <p:sp>
        <p:nvSpPr>
          <p:cNvPr id="76" name="乘号 75"/>
          <p:cNvSpPr/>
          <p:nvPr/>
        </p:nvSpPr>
        <p:spPr>
          <a:xfrm>
            <a:off x="7089775" y="5043805"/>
            <a:ext cx="285750" cy="278130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77" name="直接箭头连接符 76"/>
          <p:cNvCxnSpPr>
            <a:stCxn id="73" idx="3"/>
            <a:endCxn id="48" idx="1"/>
          </p:cNvCxnSpPr>
          <p:nvPr/>
        </p:nvCxnSpPr>
        <p:spPr>
          <a:xfrm flipV="1">
            <a:off x="9080500" y="5223510"/>
            <a:ext cx="414020" cy="177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81" name="任意多边形 80"/>
          <p:cNvSpPr/>
          <p:nvPr/>
        </p:nvSpPr>
        <p:spPr>
          <a:xfrm>
            <a:off x="2822575" y="3804285"/>
            <a:ext cx="6270625" cy="1344295"/>
          </a:xfrm>
          <a:custGeom>
            <a:avLst/>
            <a:gdLst>
              <a:gd name="connisteX0" fmla="*/ 0 w 5195570"/>
              <a:gd name="connsiteY0" fmla="*/ 0 h 1344111"/>
              <a:gd name="connisteX1" fmla="*/ 1019175 w 5195570"/>
              <a:gd name="connsiteY1" fmla="*/ 1217295 h 1344111"/>
              <a:gd name="connisteX2" fmla="*/ 5195570 w 5195570"/>
              <a:gd name="connsiteY2" fmla="*/ 1293495 h 1344111"/>
              <a:gd name="connisteX3" fmla="*/ 5294630 w 5195570"/>
              <a:gd name="connsiteY3" fmla="*/ 1423035 h 134411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195570" h="1344111">
                <a:moveTo>
                  <a:pt x="0" y="0"/>
                </a:moveTo>
                <a:cubicBezTo>
                  <a:pt x="120015" y="241935"/>
                  <a:pt x="-19685" y="958850"/>
                  <a:pt x="1019175" y="1217295"/>
                </a:cubicBezTo>
                <a:cubicBezTo>
                  <a:pt x="2058035" y="1475740"/>
                  <a:pt x="4340225" y="1252220"/>
                  <a:pt x="5195570" y="1293495"/>
                </a:cubicBezTo>
              </a:path>
            </a:pathLst>
          </a:custGeom>
          <a:noFill/>
          <a:ln w="28575" cap="flat" cmpd="dbl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2" name="任意多边形 81"/>
          <p:cNvSpPr/>
          <p:nvPr/>
        </p:nvSpPr>
        <p:spPr>
          <a:xfrm>
            <a:off x="2672080" y="5222240"/>
            <a:ext cx="6354445" cy="3810"/>
          </a:xfrm>
          <a:custGeom>
            <a:avLst/>
            <a:gdLst>
              <a:gd name="connisteX0" fmla="*/ 0 w 5264785"/>
              <a:gd name="connsiteY0" fmla="*/ 4096 h 4096"/>
              <a:gd name="connisteX1" fmla="*/ 5264785 w 5264785"/>
              <a:gd name="connsiteY1" fmla="*/ 4096 h 4096"/>
              <a:gd name="connisteX2" fmla="*/ 5280025 w 5264785"/>
              <a:gd name="connsiteY2" fmla="*/ 49816 h 40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5264785" h="4096">
                <a:moveTo>
                  <a:pt x="0" y="4096"/>
                </a:moveTo>
                <a:cubicBezTo>
                  <a:pt x="1052830" y="3461"/>
                  <a:pt x="4208780" y="-4794"/>
                  <a:pt x="5264785" y="4096"/>
                </a:cubicBezTo>
              </a:path>
            </a:pathLst>
          </a:custGeom>
          <a:noFill/>
          <a:ln w="28575" cap="flat" cmpd="dbl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>
              <a:buClrTx/>
              <a:buSzTx/>
            </a:pPr>
            <a:endParaRPr lang="zh-CN" altLang="en-US" sz="1800">
              <a:ln>
                <a:noFill/>
              </a:ln>
              <a:effectLst/>
              <a:cs typeface="Arial" panose="020B0604020202020204" pitchFamily="34" charset="0"/>
              <a:sym typeface="+mn-ea"/>
            </a:endParaRPr>
          </a:p>
        </p:txBody>
      </p:sp>
      <p:sp>
        <p:nvSpPr>
          <p:cNvPr id="83" name="任意多边形 82"/>
          <p:cNvSpPr/>
          <p:nvPr/>
        </p:nvSpPr>
        <p:spPr>
          <a:xfrm>
            <a:off x="2684145" y="5295265"/>
            <a:ext cx="6344920" cy="1017270"/>
          </a:xfrm>
          <a:custGeom>
            <a:avLst/>
            <a:gdLst>
              <a:gd name="connisteX0" fmla="*/ 0 w 5257165"/>
              <a:gd name="connsiteY0" fmla="*/ 1017344 h 1017344"/>
              <a:gd name="connisteX1" fmla="*/ 1240155 w 5257165"/>
              <a:gd name="connsiteY1" fmla="*/ 96594 h 1017344"/>
              <a:gd name="connisteX2" fmla="*/ 5257165 w 5257165"/>
              <a:gd name="connsiteY2" fmla="*/ 66114 h 101734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5257165" h="1017344">
                <a:moveTo>
                  <a:pt x="0" y="1017344"/>
                </a:moveTo>
                <a:cubicBezTo>
                  <a:pt x="167640" y="833829"/>
                  <a:pt x="188595" y="287094"/>
                  <a:pt x="1240155" y="96594"/>
                </a:cubicBezTo>
                <a:cubicBezTo>
                  <a:pt x="2291715" y="-93906"/>
                  <a:pt x="4478655" y="54049"/>
                  <a:pt x="5257165" y="66114"/>
                </a:cubicBezTo>
              </a:path>
            </a:pathLst>
          </a:custGeom>
          <a:noFill/>
          <a:ln w="28575" cap="flat" cmpd="dbl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>
              <a:buClrTx/>
              <a:buSzTx/>
            </a:pPr>
            <a:endParaRPr lang="zh-CN" altLang="en-US" sz="1800">
              <a:ln>
                <a:noFill/>
              </a:ln>
              <a:effectLst/>
              <a:cs typeface="Arial" panose="020B0604020202020204" pitchFamily="34" charset="0"/>
              <a:sym typeface="+mn-ea"/>
            </a:endParaRPr>
          </a:p>
        </p:txBody>
      </p:sp>
      <p:sp>
        <p:nvSpPr>
          <p:cNvPr id="85" name="乘号 84"/>
          <p:cNvSpPr/>
          <p:nvPr/>
        </p:nvSpPr>
        <p:spPr>
          <a:xfrm>
            <a:off x="9070340" y="5113020"/>
            <a:ext cx="285750" cy="278130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9561195" y="4239260"/>
            <a:ext cx="188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HOST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2839720" y="5805805"/>
            <a:ext cx="188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Ingress GW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7575550" y="6043930"/>
            <a:ext cx="188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Egress GW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630930" y="3254375"/>
            <a:ext cx="28111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/>
              <a:t>Slow Congestion feedback over long distance (e.g. 1000km) </a:t>
            </a:r>
          </a:p>
        </p:txBody>
      </p:sp>
      <p:cxnSp>
        <p:nvCxnSpPr>
          <p:cNvPr id="8" name="直接箭头连接符 7"/>
          <p:cNvCxnSpPr>
            <a:stCxn id="19" idx="2"/>
          </p:cNvCxnSpPr>
          <p:nvPr/>
        </p:nvCxnSpPr>
        <p:spPr>
          <a:xfrm flipH="1">
            <a:off x="3515995" y="3650615"/>
            <a:ext cx="8890" cy="953135"/>
          </a:xfrm>
          <a:prstGeom prst="straightConnector1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ysDot"/>
            <a:round/>
            <a:headEnd type="none" w="med" len="med"/>
            <a:tailEnd type="arrow" w="med" len="med"/>
          </a:ln>
        </p:spPr>
      </p:cxnSp>
      <p:sp>
        <p:nvSpPr>
          <p:cNvPr id="12" name="矩形 11"/>
          <p:cNvSpPr/>
          <p:nvPr/>
        </p:nvSpPr>
        <p:spPr>
          <a:xfrm>
            <a:off x="1128716" y="5154295"/>
            <a:ext cx="1473980" cy="25019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Transport </a:t>
            </a:r>
          </a:p>
        </p:txBody>
      </p:sp>
      <p:sp>
        <p:nvSpPr>
          <p:cNvPr id="13" name="矩形 12"/>
          <p:cNvSpPr/>
          <p:nvPr/>
        </p:nvSpPr>
        <p:spPr>
          <a:xfrm>
            <a:off x="1128716" y="6042660"/>
            <a:ext cx="1473980" cy="25019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Transport </a:t>
            </a:r>
          </a:p>
        </p:txBody>
      </p:sp>
      <p:sp>
        <p:nvSpPr>
          <p:cNvPr id="14" name="矩形 13"/>
          <p:cNvSpPr/>
          <p:nvPr/>
        </p:nvSpPr>
        <p:spPr>
          <a:xfrm>
            <a:off x="9730426" y="4815205"/>
            <a:ext cx="1473980" cy="25019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Transport 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7092950" y="4419600"/>
            <a:ext cx="11430" cy="695325"/>
          </a:xfrm>
          <a:prstGeom prst="straightConnector1">
            <a:avLst/>
          </a:prstGeom>
          <a:solidFill>
            <a:srgbClr val="FF0000"/>
          </a:solidFill>
          <a:ln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051425" y="3783965"/>
            <a:ext cx="200088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/>
              <a:t>Overwhelming elephant flows (e.g.10G~1Tbps)</a:t>
            </a: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4955540" y="4243705"/>
            <a:ext cx="24765" cy="852170"/>
          </a:xfrm>
          <a:prstGeom prst="straightConnector1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ysDot"/>
            <a:round/>
            <a:headEnd type="none" w="med" len="med"/>
            <a:tailEnd type="arrow" w="med" len="med"/>
          </a:ln>
        </p:spPr>
      </p:cxnSp>
      <p:sp>
        <p:nvSpPr>
          <p:cNvPr id="18" name="十字星 17"/>
          <p:cNvSpPr/>
          <p:nvPr/>
        </p:nvSpPr>
        <p:spPr>
          <a:xfrm>
            <a:off x="558800" y="3874770"/>
            <a:ext cx="342265" cy="271145"/>
          </a:xfrm>
          <a:prstGeom prst="star4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十字星 18"/>
          <p:cNvSpPr/>
          <p:nvPr/>
        </p:nvSpPr>
        <p:spPr>
          <a:xfrm>
            <a:off x="3353435" y="3379470"/>
            <a:ext cx="342265" cy="271145"/>
          </a:xfrm>
          <a:prstGeom prst="star4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十字星 19"/>
          <p:cNvSpPr/>
          <p:nvPr/>
        </p:nvSpPr>
        <p:spPr>
          <a:xfrm>
            <a:off x="4803775" y="3905885"/>
            <a:ext cx="342265" cy="271145"/>
          </a:xfrm>
          <a:prstGeom prst="star4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十字星 20"/>
          <p:cNvSpPr/>
          <p:nvPr/>
        </p:nvSpPr>
        <p:spPr>
          <a:xfrm>
            <a:off x="6927850" y="4132580"/>
            <a:ext cx="342265" cy="271145"/>
          </a:xfrm>
          <a:prstGeom prst="star4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71855" y="3899535"/>
            <a:ext cx="21545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Congestion control  inconsistent with network capacity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19785" y="800100"/>
            <a:ext cx="99396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 algn="l"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>
                <a:latin typeface="Cambria" panose="02040503050406030204" charset="0"/>
                <a:cs typeface="Cambria" panose="02040503050406030204" charset="0"/>
                <a:sym typeface="+mn-ea"/>
              </a:rPr>
              <a:t>Technical issues worthy being highlighted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87730" y="1261110"/>
            <a:ext cx="59613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1. Per-flow congestion control </a:t>
            </a:r>
            <a:r>
              <a:rPr lang="en-US" altLang="zh-CN" b="1">
                <a:solidFill>
                  <a:schemeClr val="tx1"/>
                </a:solidFill>
              </a:rPr>
              <a:t>VS</a:t>
            </a:r>
            <a:r>
              <a:rPr lang="en-US" altLang="zh-CN"/>
              <a:t> multi-flow coordination.</a:t>
            </a:r>
          </a:p>
          <a:p>
            <a:r>
              <a:rPr lang="en-US" altLang="zh-CN"/>
              <a:t>2. Reactive </a:t>
            </a:r>
            <a:r>
              <a:rPr lang="en-US" altLang="zh-CN" b="1"/>
              <a:t>VS</a:t>
            </a:r>
            <a:r>
              <a:rPr lang="en-US" altLang="zh-CN"/>
              <a:t> Preemptive interventions</a:t>
            </a:r>
          </a:p>
          <a:p>
            <a:r>
              <a:rPr lang="en-US" altLang="zh-CN"/>
              <a:t>3. Qualitive </a:t>
            </a:r>
            <a:r>
              <a:rPr lang="en-US" altLang="zh-CN" b="1"/>
              <a:t>VS </a:t>
            </a:r>
            <a:r>
              <a:rPr lang="en-US" altLang="zh-CN"/>
              <a:t>Quantitative feedback</a:t>
            </a:r>
          </a:p>
          <a:p>
            <a:r>
              <a:rPr lang="en-US" altLang="zh-CN"/>
              <a:t>4. Static </a:t>
            </a:r>
            <a:r>
              <a:rPr lang="en-US" altLang="zh-CN" b="1"/>
              <a:t>VS</a:t>
            </a:r>
            <a:r>
              <a:rPr lang="en-US" altLang="zh-CN"/>
              <a:t> Dynamic services scheduling</a:t>
            </a:r>
          </a:p>
        </p:txBody>
      </p:sp>
      <p:sp>
        <p:nvSpPr>
          <p:cNvPr id="11" name="右大括号 10"/>
          <p:cNvSpPr/>
          <p:nvPr/>
        </p:nvSpPr>
        <p:spPr>
          <a:xfrm>
            <a:off x="6898005" y="1438275"/>
            <a:ext cx="154305" cy="87947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219950" y="1537970"/>
            <a:ext cx="3732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/>
              <a:t>More sophisticated CC upon more ACTIVE network coordination</a:t>
            </a:r>
          </a:p>
        </p:txBody>
      </p:sp>
      <p:sp>
        <p:nvSpPr>
          <p:cNvPr id="23" name="矩形 22"/>
          <p:cNvSpPr/>
          <p:nvPr/>
        </p:nvSpPr>
        <p:spPr>
          <a:xfrm>
            <a:off x="3095625" y="5086985"/>
            <a:ext cx="1130300" cy="26416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ctr" anchorCtr="0" compatLnSpc="1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095625" y="5474335"/>
            <a:ext cx="1130300" cy="26416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ctr" anchorCtr="0" compatLnSpc="1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28A51-3024-4AB4-87AE-80337BB74DC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78994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3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Framework for HP-</a:t>
            </a:r>
            <a:r>
              <a:rPr lang="en-US" altLang="en-GB" sz="3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</a:t>
            </a:r>
            <a:r>
              <a:rPr lang="en-GB" altLang="zh-CN" sz="3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N</a:t>
            </a:r>
            <a:endParaRPr kumimoji="0" lang="en-GB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anose="02040503050406030204" charset="0"/>
              <a:ea typeface="微软雅黑" panose="020B0503020204020204" pitchFamily="34" charset="-122"/>
              <a:cs typeface="Cambria" panose="02040503050406030204" charset="0"/>
              <a:sym typeface="+mn-ea"/>
            </a:endParaRPr>
          </a:p>
        </p:txBody>
      </p:sp>
      <p:sp>
        <p:nvSpPr>
          <p:cNvPr id="3" name="文本框 5"/>
          <p:cNvSpPr txBox="1"/>
          <p:nvPr/>
        </p:nvSpPr>
        <p:spPr>
          <a:xfrm>
            <a:off x="601345" y="768350"/>
            <a:ext cx="10925810" cy="6739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Cambria" panose="02040503050406030204" charset="0"/>
                <a:cs typeface="Cambria" panose="02040503050406030204" charset="0"/>
                <a:sym typeface="+mn-ea"/>
              </a:rPr>
              <a:t>draft-xhy-hpwan-framework</a:t>
            </a:r>
            <a:endParaRPr lang="en-GB" altLang="zh-CN" sz="2000" dirty="0">
              <a:latin typeface="Cambria" panose="0204050305040603020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Cambria" panose="02040503050406030204" charset="0"/>
                <a:sym typeface="+mn-ea"/>
              </a:rPr>
              <a:t>This document defines a framework to enable the host-network</a:t>
            </a:r>
            <a:r>
              <a:rPr lang="en-US" altLang="en-GB" sz="2400" dirty="0">
                <a:latin typeface="Cambria" panose="02040503050406030204" charset="0"/>
                <a:sym typeface="+mn-ea"/>
              </a:rPr>
              <a:t> </a:t>
            </a:r>
            <a:r>
              <a:rPr lang="en-GB" altLang="zh-CN" sz="2400" dirty="0">
                <a:latin typeface="Cambria" panose="02040503050406030204" charset="0"/>
                <a:sym typeface="+mn-ea"/>
              </a:rPr>
              <a:t>collaboration for high-speed and high-throughput data transmission, </a:t>
            </a:r>
            <a:r>
              <a:rPr lang="en-US" altLang="en-GB" sz="2400" dirty="0">
                <a:latin typeface="Cambria" panose="02040503050406030204" charset="0"/>
                <a:sym typeface="+mn-ea"/>
              </a:rPr>
              <a:t> </a:t>
            </a:r>
            <a:r>
              <a:rPr lang="en-GB" altLang="zh-CN" sz="2400" dirty="0">
                <a:latin typeface="Cambria" panose="02040503050406030204" charset="0"/>
                <a:sym typeface="+mn-ea"/>
              </a:rPr>
              <a:t>coupled with fast completion time and low latency of High Performance Wide Area Networks (HP-WAN).  It focuses on key congestion control functions to facilitate host-to-network collaboration</a:t>
            </a:r>
            <a:r>
              <a:rPr lang="en-US" altLang="en-GB" sz="2400" dirty="0">
                <a:latin typeface="Cambria" panose="02040503050406030204" charset="0"/>
                <a:sym typeface="+mn-ea"/>
              </a:rPr>
              <a:t> such as: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en-GB" sz="2400" dirty="0">
                <a:latin typeface="Cambria" panose="02040503050406030204" charset="0"/>
                <a:sym typeface="+mn-ea"/>
              </a:rPr>
              <a:t>Rate Negotiation/Optimization of Congestion Control Algorithms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en-GB" sz="2400" dirty="0">
                <a:latin typeface="Cambria" panose="02040503050406030204" charset="0"/>
                <a:sym typeface="+mn-ea"/>
              </a:rPr>
              <a:t>Traffic Scheduling and Enforcement/Fast Feedback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en-GB" sz="2400" dirty="0">
                <a:latin typeface="Cambria" panose="02040503050406030204" charset="0"/>
                <a:sym typeface="+mn-ea"/>
              </a:rPr>
              <a:t>Admission Control/Negotiated Rate-based Traffic Engineering</a:t>
            </a:r>
          </a:p>
          <a:p>
            <a:pPr lvl="2" indent="0">
              <a:buFont typeface="Arial" panose="020B0604020202020204" pitchFamily="34" charset="0"/>
              <a:buNone/>
            </a:pPr>
            <a:endParaRPr lang="en-US" altLang="en-GB" sz="2400" dirty="0">
              <a:latin typeface="Cambria" panose="02040503050406030204" charset="0"/>
              <a:sym typeface="+mn-ea"/>
            </a:endParaRPr>
          </a:p>
          <a:p>
            <a:pPr marL="342900" lvl="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Cambria" panose="02040503050406030204" charset="0"/>
                <a:cs typeface="Cambria" panose="02040503050406030204" charset="0"/>
                <a:sym typeface="+mn-ea"/>
              </a:rPr>
              <a:t>IETF125:</a:t>
            </a:r>
            <a:endParaRPr lang="en-US" altLang="zh-CN" sz="2400" b="1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mbria" panose="02040503050406030204" charset="0"/>
                <a:cs typeface="Cambria" panose="02040503050406030204" charset="0"/>
                <a:sym typeface="+mn-ea"/>
              </a:rPr>
              <a:t>The mechanisms mentioned in this framework has been implemented and simulated in Hackathon in IETF125.</a:t>
            </a: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mbria" panose="02040503050406030204" charset="0"/>
                <a:cs typeface="Cambria" panose="02040503050406030204" charset="0"/>
                <a:sym typeface="+mn-ea"/>
              </a:rPr>
              <a:t>The framework is believed to be applicable and helpful for the satellite communication.</a:t>
            </a:r>
            <a:endParaRPr lang="en-US" altLang="zh-CN" sz="24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mbria" panose="02040503050406030204" charset="0"/>
                <a:cs typeface="Cambria" panose="02040503050406030204" charset="0"/>
                <a:sym typeface="+mn-ea"/>
              </a:rPr>
              <a:t>We appreciate more contributions and feedbacks.</a:t>
            </a:r>
            <a:endParaRPr lang="en-US" altLang="zh-CN" sz="24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800100" lvl="1" indent="-34290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altLang="zh-CN" sz="24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8105"/>
            <a:ext cx="10515600" cy="1325563"/>
          </a:xfrm>
        </p:spPr>
        <p:txBody>
          <a:bodyPr/>
          <a:lstStyle/>
          <a:p>
            <a:r>
              <a:rPr lang="en-US" altLang="zh-CN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Host-network Collaboration in Distributed Signaling</a:t>
            </a:r>
            <a:r>
              <a:rPr lang="en-US" altLang="zh-CN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838200" y="1238250"/>
            <a:ext cx="10925810" cy="5283835"/>
          </a:xfrm>
        </p:spPr>
        <p:txBody>
          <a:bodyPr>
            <a:normAutofit/>
          </a:bodyPr>
          <a:lstStyle/>
          <a:p>
            <a:pPr lvl="0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mbria" panose="02040503050406030204" charset="0"/>
                <a:cs typeface="Cambria" panose="02040503050406030204" charset="0"/>
              </a:rPr>
              <a:t>The host-network </a:t>
            </a:r>
            <a:r>
              <a:rPr lang="en-US" altLang="zh-CN" sz="240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  <a:t>collaboration signaling is enabled to enhance the congestion control</a:t>
            </a:r>
            <a:r>
              <a:rPr lang="en-US" altLang="zh-CN" sz="2400" dirty="0">
                <a:latin typeface="Cambria" panose="02040503050406030204" charset="0"/>
                <a:cs typeface="Cambria" panose="02040503050406030204" charset="0"/>
              </a:rPr>
              <a:t>.</a:t>
            </a:r>
            <a:r>
              <a:rPr lang="en-US" altLang="zh-CN" sz="2000" dirty="0">
                <a:latin typeface="Cambria" panose="02040503050406030204" charset="0"/>
                <a:cs typeface="Cambria" panose="02040503050406030204" charset="0"/>
              </a:rPr>
              <a:t>  </a:t>
            </a: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mbria" panose="02040503050406030204" charset="0"/>
                <a:cs typeface="Cambria" panose="02040503050406030204" charset="0"/>
              </a:rPr>
              <a:t>The client and server could send the traffic efficiently </a:t>
            </a:r>
            <a:r>
              <a:rPr lang="en-US" altLang="zh-CN" sz="2000" u="sng" dirty="0">
                <a:latin typeface="Cambria" panose="02040503050406030204" charset="0"/>
                <a:cs typeface="Cambria" panose="02040503050406030204" charset="0"/>
              </a:rPr>
              <a:t>with the negotiated rate- based congestion control</a:t>
            </a:r>
            <a:r>
              <a:rPr lang="en-US" altLang="zh-CN" sz="2000" dirty="0">
                <a:latin typeface="Cambria" panose="02040503050406030204" charset="0"/>
                <a:cs typeface="Cambria" panose="02040503050406030204" charset="0"/>
              </a:rPr>
              <a:t> in a fine-grained way. </a:t>
            </a: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mbria" panose="02040503050406030204" charset="0"/>
                <a:cs typeface="Cambria" panose="02040503050406030204" charset="0"/>
              </a:rPr>
              <a:t>The network could </a:t>
            </a:r>
            <a:r>
              <a:rPr lang="en-US" altLang="zh-CN" sz="2000" dirty="0">
                <a:latin typeface="Cambria" panose="02040503050406030204" charset="0"/>
                <a:cs typeface="Cambria" panose="02040503050406030204" charset="0"/>
                <a:sym typeface="+mn-ea"/>
              </a:rPr>
              <a:t>provide</a:t>
            </a:r>
            <a:r>
              <a:rPr lang="en-US" altLang="zh-CN" sz="2000" u="sng" dirty="0">
                <a:latin typeface="Cambria" panose="02040503050406030204" charset="0"/>
                <a:cs typeface="Cambria" panose="02040503050406030204" charset="0"/>
                <a:sym typeface="+mn-ea"/>
              </a:rPr>
              <a:t> rate-based quota reservation and admission control </a:t>
            </a:r>
            <a:r>
              <a:rPr lang="en-US" altLang="zh-CN" sz="2000" dirty="0">
                <a:latin typeface="Cambria" panose="02040503050406030204" charset="0"/>
                <a:cs typeface="Cambria" panose="02040503050406030204" charset="0"/>
                <a:sym typeface="+mn-ea"/>
              </a:rPr>
              <a:t>to achieve predictable network </a:t>
            </a:r>
            <a:r>
              <a:rPr lang="en-US" altLang="zh-CN" sz="2000" dirty="0" err="1">
                <a:latin typeface="Cambria" panose="02040503050406030204" charset="0"/>
                <a:cs typeface="Cambria" panose="02040503050406030204" charset="0"/>
                <a:sym typeface="+mn-ea"/>
              </a:rPr>
              <a:t>behaviour</a:t>
            </a:r>
            <a:r>
              <a:rPr lang="en-US" altLang="zh-CN" sz="2000" dirty="0">
                <a:latin typeface="Cambria" panose="02040503050406030204" charset="0"/>
                <a:cs typeface="Cambria" panose="02040503050406030204" charset="0"/>
                <a:sym typeface="+mn-ea"/>
              </a:rPr>
              <a:t>.</a:t>
            </a: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ambria" panose="02040503050406030204" charset="0"/>
                <a:cs typeface="Cambria" panose="02040503050406030204" charset="0"/>
                <a:sym typeface="+mn-ea"/>
              </a:rPr>
              <a:t>The edge node could enhance the capability to </a:t>
            </a:r>
            <a:r>
              <a:rPr lang="en-US" altLang="zh-CN" sz="2000" u="sng" dirty="0">
                <a:latin typeface="Cambria" panose="02040503050406030204" charset="0"/>
                <a:cs typeface="Cambria" panose="02040503050406030204" charset="0"/>
                <a:sym typeface="+mn-ea"/>
              </a:rPr>
              <a:t>provide traffic scheduling and enforcement</a:t>
            </a:r>
            <a:r>
              <a:rPr lang="en-US" altLang="zh-CN" sz="2000" dirty="0">
                <a:latin typeface="Cambria" panose="02040503050406030204" charset="0"/>
                <a:cs typeface="Cambria" panose="02040503050406030204" charset="0"/>
                <a:sym typeface="+mn-ea"/>
              </a:rPr>
              <a:t> to mitigate </a:t>
            </a:r>
            <a:r>
              <a:rPr lang="en-US" altLang="zh-CN" sz="2000" dirty="0" err="1">
                <a:latin typeface="Cambria" panose="02040503050406030204" charset="0"/>
                <a:cs typeface="Cambria" panose="02040503050406030204" charset="0"/>
                <a:sym typeface="+mn-ea"/>
              </a:rPr>
              <a:t>incast</a:t>
            </a:r>
            <a:r>
              <a:rPr lang="en-US" altLang="zh-CN" sz="2000" dirty="0">
                <a:latin typeface="Cambria" panose="02040503050406030204" charset="0"/>
                <a:cs typeface="Cambria" panose="02040503050406030204" charset="0"/>
                <a:sym typeface="+mn-ea"/>
              </a:rPr>
              <a:t> network congestion and minimize flow completion times. </a:t>
            </a:r>
            <a:endParaRPr lang="en-US" altLang="zh-CN" sz="2000" dirty="0">
              <a:latin typeface="Cambria" panose="02040503050406030204" charset="0"/>
              <a:cs typeface="Cambria" panose="02040503050406030204" charset="0"/>
            </a:endParaRPr>
          </a:p>
          <a:p>
            <a:pPr lvl="1" fontAlgn="auto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581150" y="3893820"/>
            <a:ext cx="8931275" cy="2582545"/>
            <a:chOff x="2490" y="6058"/>
            <a:chExt cx="12236" cy="4021"/>
          </a:xfrm>
        </p:grpSpPr>
        <p:grpSp>
          <p:nvGrpSpPr>
            <p:cNvPr id="7" name="组合 6"/>
            <p:cNvGrpSpPr/>
            <p:nvPr/>
          </p:nvGrpSpPr>
          <p:grpSpPr>
            <a:xfrm>
              <a:off x="2490" y="6103"/>
              <a:ext cx="12236" cy="3506"/>
              <a:chOff x="232" y="2791"/>
              <a:chExt cx="16314" cy="4674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232" y="2791"/>
                <a:ext cx="16314" cy="4674"/>
                <a:chOff x="232" y="2808"/>
                <a:chExt cx="16314" cy="4674"/>
              </a:xfrm>
            </p:grpSpPr>
            <p:sp>
              <p:nvSpPr>
                <p:cNvPr id="139" name="任意多边形 138"/>
                <p:cNvSpPr/>
                <p:nvPr/>
              </p:nvSpPr>
              <p:spPr>
                <a:xfrm>
                  <a:off x="2900" y="5631"/>
                  <a:ext cx="9372" cy="970"/>
                </a:xfrm>
                <a:custGeom>
                  <a:avLst/>
                  <a:gdLst>
                    <a:gd name="connisteX0" fmla="*/ 0 w 5257165"/>
                    <a:gd name="connsiteY0" fmla="*/ 1017344 h 1017344"/>
                    <a:gd name="connisteX1" fmla="*/ 1240155 w 5257165"/>
                    <a:gd name="connsiteY1" fmla="*/ 96594 h 1017344"/>
                    <a:gd name="connisteX2" fmla="*/ 5257165 w 5257165"/>
                    <a:gd name="connsiteY2" fmla="*/ 66114 h 1017344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</a:cxnLst>
                  <a:rect l="l" t="t" r="r" b="b"/>
                  <a:pathLst>
                    <a:path w="5257165" h="1017344">
                      <a:moveTo>
                        <a:pt x="0" y="1017344"/>
                      </a:moveTo>
                      <a:cubicBezTo>
                        <a:pt x="167640" y="833829"/>
                        <a:pt x="188595" y="287094"/>
                        <a:pt x="1240155" y="96594"/>
                      </a:cubicBezTo>
                      <a:cubicBezTo>
                        <a:pt x="2291715" y="-93906"/>
                        <a:pt x="4478655" y="54049"/>
                        <a:pt x="5257165" y="66114"/>
                      </a:cubicBezTo>
                    </a:path>
                  </a:pathLst>
                </a:custGeom>
                <a:noFill/>
                <a:ln w="28575" cap="flat" cmpd="dbl" algn="ctr">
                  <a:solidFill>
                    <a:schemeClr val="accent1">
                      <a:shade val="50000"/>
                    </a:schemeClr>
                  </a:solidFill>
                  <a:prstDash val="sysDash"/>
                  <a:round/>
                  <a:headEnd type="none" w="med" len="med"/>
                  <a:tailEnd type="arrow" w="med" len="med"/>
                </a:ln>
              </p:spPr>
              <p:txBody>
                <a:bodyPr vert="horz" wrap="square" lIns="68580" tIns="34290" rIns="68580" bIns="34290" numCol="1" anchor="t" anchorCtr="0" compatLnSpc="1">
                  <a:noAutofit/>
                </a:bodyPr>
                <a:lstStyle/>
                <a:p>
                  <a:pPr lvl="0" algn="l">
                    <a:buClrTx/>
                    <a:buSzTx/>
                  </a:pPr>
                  <a:endParaRPr lang="zh-CN" altLang="en-US" sz="1350">
                    <a:ln>
                      <a:noFill/>
                    </a:ln>
                    <a:effectLst/>
                    <a:cs typeface="Arial" panose="020B0604020202020204" pitchFamily="34" charset="0"/>
                    <a:sym typeface="+mn-ea"/>
                  </a:endParaRPr>
                </a:p>
              </p:txBody>
            </p:sp>
            <p:grpSp>
              <p:nvGrpSpPr>
                <p:cNvPr id="14" name="组合 13"/>
                <p:cNvGrpSpPr/>
                <p:nvPr/>
              </p:nvGrpSpPr>
              <p:grpSpPr>
                <a:xfrm>
                  <a:off x="408" y="2808"/>
                  <a:ext cx="16138" cy="4310"/>
                  <a:chOff x="1294" y="5477"/>
                  <a:chExt cx="17433" cy="4819"/>
                </a:xfrm>
              </p:grpSpPr>
              <p:sp>
                <p:nvSpPr>
                  <p:cNvPr id="35" name="矩形 34"/>
                  <p:cNvSpPr/>
                  <p:nvPr/>
                </p:nvSpPr>
                <p:spPr>
                  <a:xfrm>
                    <a:off x="1308" y="7878"/>
                    <a:ext cx="3066" cy="1040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0" tIns="0" rIns="0" bIns="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9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" name="矩形 47"/>
                  <p:cNvSpPr/>
                  <p:nvPr/>
                </p:nvSpPr>
                <p:spPr>
                  <a:xfrm>
                    <a:off x="14337" y="7860"/>
                    <a:ext cx="3066" cy="1198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0" tIns="0" rIns="0" bIns="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675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3" name="文本框 62"/>
                  <p:cNvSpPr txBox="1"/>
                  <p:nvPr/>
                </p:nvSpPr>
                <p:spPr>
                  <a:xfrm>
                    <a:off x="15099" y="8518"/>
                    <a:ext cx="3628" cy="5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b="1"/>
                      <a:t>CC </a:t>
                    </a:r>
                    <a:r>
                      <a:rPr lang="en-US" altLang="zh-CN" sz="1050" b="1">
                        <a:sym typeface="+mn-ea"/>
                      </a:rPr>
                      <a:t>algrithm</a:t>
                    </a:r>
                    <a:endParaRPr lang="zh-CN" altLang="en-US" sz="1050" b="1"/>
                  </a:p>
                </p:txBody>
              </p:sp>
              <p:sp>
                <p:nvSpPr>
                  <p:cNvPr id="65" name="云形 64"/>
                  <p:cNvSpPr/>
                  <p:nvPr/>
                </p:nvSpPr>
                <p:spPr>
                  <a:xfrm>
                    <a:off x="6413" y="7056"/>
                    <a:ext cx="6087" cy="3084"/>
                  </a:xfrm>
                  <a:prstGeom prst="cloud">
                    <a:avLst/>
                  </a:prstGeom>
                  <a:noFill/>
                  <a:ln>
                    <a:solidFill>
                      <a:srgbClr val="00B050"/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vert="horz" wrap="square" lIns="68580" tIns="34290" rIns="68580" bIns="34290" numCol="1" anchor="t" anchorCtr="0" compatLnSpc="1"/>
                  <a:lstStyle/>
                  <a:p>
                    <a:pPr marL="0" marR="0" indent="0" algn="l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135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1" name="任意多边形 80"/>
                  <p:cNvSpPr/>
                  <p:nvPr/>
                </p:nvSpPr>
                <p:spPr>
                  <a:xfrm>
                    <a:off x="4077" y="6415"/>
                    <a:ext cx="10131" cy="1986"/>
                  </a:xfrm>
                  <a:custGeom>
                    <a:avLst/>
                    <a:gdLst>
                      <a:gd name="connisteX0" fmla="*/ 0 w 5195570"/>
                      <a:gd name="connsiteY0" fmla="*/ 0 h 1344111"/>
                      <a:gd name="connisteX1" fmla="*/ 1019175 w 5195570"/>
                      <a:gd name="connsiteY1" fmla="*/ 1217295 h 1344111"/>
                      <a:gd name="connisteX2" fmla="*/ 5195570 w 5195570"/>
                      <a:gd name="connsiteY2" fmla="*/ 1293495 h 1344111"/>
                      <a:gd name="connisteX3" fmla="*/ 5294630 w 5195570"/>
                      <a:gd name="connsiteY3" fmla="*/ 1423035 h 1344111"/>
                    </a:gdLst>
                    <a:ahLst/>
                    <a:cxnLst>
                      <a:cxn ang="0">
                        <a:pos x="connisteX0" y="connsiteY0"/>
                      </a:cxn>
                      <a:cxn ang="0">
                        <a:pos x="connisteX1" y="connsiteY1"/>
                      </a:cxn>
                      <a:cxn ang="0">
                        <a:pos x="connisteX2" y="connsiteY2"/>
                      </a:cxn>
                      <a:cxn ang="0">
                        <a:pos x="connisteX3" y="connsiteY3"/>
                      </a:cxn>
                    </a:cxnLst>
                    <a:rect l="l" t="t" r="r" b="b"/>
                    <a:pathLst>
                      <a:path w="5195570" h="1344111">
                        <a:moveTo>
                          <a:pt x="0" y="0"/>
                        </a:moveTo>
                        <a:cubicBezTo>
                          <a:pt x="120015" y="241935"/>
                          <a:pt x="-19685" y="958850"/>
                          <a:pt x="1019175" y="1217295"/>
                        </a:cubicBezTo>
                        <a:cubicBezTo>
                          <a:pt x="2058035" y="1475740"/>
                          <a:pt x="4340225" y="1252220"/>
                          <a:pt x="5195570" y="1293495"/>
                        </a:cubicBezTo>
                      </a:path>
                    </a:pathLst>
                  </a:custGeom>
                  <a:noFill/>
                  <a:ln w="28575" cap="flat" cmpd="dbl" algn="ctr">
                    <a:solidFill>
                      <a:schemeClr val="accent1">
                        <a:shade val="50000"/>
                      </a:schemeClr>
                    </a:solidFill>
                    <a:prstDash val="sysDash"/>
                    <a:round/>
                    <a:headEnd type="none" w="med" len="med"/>
                    <a:tailEnd type="arrow" w="med" len="med"/>
                  </a:ln>
                </p:spPr>
                <p:txBody>
                  <a:bodyPr vert="horz" wrap="square" lIns="68580" tIns="34290" rIns="68580" bIns="34290" numCol="1" anchor="t" anchorCtr="0" compatLnSpc="1"/>
                  <a:lstStyle/>
                  <a:p>
                    <a:pPr marL="0" marR="0" indent="0" algn="l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135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2" name="任意多边形 81"/>
                  <p:cNvSpPr/>
                  <p:nvPr/>
                </p:nvSpPr>
                <p:spPr>
                  <a:xfrm flipV="1">
                    <a:off x="4185" y="8399"/>
                    <a:ext cx="9918" cy="120"/>
                  </a:xfrm>
                  <a:custGeom>
                    <a:avLst/>
                    <a:gdLst>
                      <a:gd name="connisteX0" fmla="*/ 0 w 5264785"/>
                      <a:gd name="connsiteY0" fmla="*/ 4096 h 4096"/>
                      <a:gd name="connisteX1" fmla="*/ 5264785 w 5264785"/>
                      <a:gd name="connsiteY1" fmla="*/ 4096 h 4096"/>
                      <a:gd name="connisteX2" fmla="*/ 5280025 w 5264785"/>
                      <a:gd name="connsiteY2" fmla="*/ 49816 h 4096"/>
                    </a:gdLst>
                    <a:ahLst/>
                    <a:cxnLst>
                      <a:cxn ang="0">
                        <a:pos x="connisteX0" y="connsiteY0"/>
                      </a:cxn>
                      <a:cxn ang="0">
                        <a:pos x="connisteX1" y="connsiteY1"/>
                      </a:cxn>
                      <a:cxn ang="0">
                        <a:pos x="connisteX2" y="connsiteY2"/>
                      </a:cxn>
                    </a:cxnLst>
                    <a:rect l="l" t="t" r="r" b="b"/>
                    <a:pathLst>
                      <a:path w="5264785" h="4096">
                        <a:moveTo>
                          <a:pt x="0" y="4096"/>
                        </a:moveTo>
                        <a:cubicBezTo>
                          <a:pt x="1052830" y="3461"/>
                          <a:pt x="4208780" y="-4794"/>
                          <a:pt x="5264785" y="4096"/>
                        </a:cubicBezTo>
                      </a:path>
                    </a:pathLst>
                  </a:custGeom>
                  <a:noFill/>
                  <a:ln w="28575" cap="flat" cmpd="dbl" algn="ctr">
                    <a:solidFill>
                      <a:schemeClr val="accent1">
                        <a:shade val="50000"/>
                      </a:schemeClr>
                    </a:solidFill>
                    <a:prstDash val="sysDash"/>
                    <a:round/>
                    <a:headEnd type="none" w="med" len="med"/>
                    <a:tailEnd type="arrow" w="med" len="med"/>
                  </a:ln>
                </p:spPr>
                <p:txBody>
                  <a:bodyPr vert="horz" wrap="square" lIns="68580" tIns="34290" rIns="68580" bIns="34290" numCol="1" anchor="t" anchorCtr="0" compatLnSpc="1">
                    <a:noAutofit/>
                  </a:bodyPr>
                  <a:lstStyle/>
                  <a:p>
                    <a:pPr lvl="0" algn="l">
                      <a:buClrTx/>
                      <a:buSzTx/>
                    </a:pPr>
                    <a:endParaRPr lang="zh-CN" altLang="en-US" sz="1350">
                      <a:ln>
                        <a:noFill/>
                      </a:ln>
                      <a:effectLst/>
                      <a:cs typeface="Arial" panose="020B0604020202020204" pitchFamily="34" charset="0"/>
                      <a:sym typeface="+mn-ea"/>
                    </a:endParaRPr>
                  </a:p>
                </p:txBody>
              </p:sp>
              <p:sp>
                <p:nvSpPr>
                  <p:cNvPr id="90" name="文本框 89"/>
                  <p:cNvSpPr txBox="1"/>
                  <p:nvPr/>
                </p:nvSpPr>
                <p:spPr>
                  <a:xfrm>
                    <a:off x="14443" y="5477"/>
                    <a:ext cx="2961" cy="5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050" b="1"/>
                      <a:t>Server</a:t>
                    </a:r>
                  </a:p>
                </p:txBody>
              </p:sp>
              <p:sp>
                <p:nvSpPr>
                  <p:cNvPr id="24" name="矩形 23"/>
                  <p:cNvSpPr/>
                  <p:nvPr/>
                </p:nvSpPr>
                <p:spPr>
                  <a:xfrm>
                    <a:off x="1666" y="7946"/>
                    <a:ext cx="2321" cy="394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68580" tIns="34290" rIns="68580" bIns="3429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r>
                      <a:rPr kumimoji="0" lang="en-US" altLang="zh-CN" sz="90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Transport </a:t>
                    </a:r>
                  </a:p>
                </p:txBody>
              </p:sp>
              <p:sp>
                <p:nvSpPr>
                  <p:cNvPr id="25" name="矩形 24"/>
                  <p:cNvSpPr/>
                  <p:nvPr/>
                </p:nvSpPr>
                <p:spPr>
                  <a:xfrm>
                    <a:off x="14624" y="8063"/>
                    <a:ext cx="2321" cy="394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68580" tIns="34290" rIns="68580" bIns="3429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r>
                      <a:rPr kumimoji="0" lang="en-US" altLang="zh-CN" sz="90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Transport </a:t>
                    </a:r>
                  </a:p>
                </p:txBody>
              </p:sp>
              <p:sp>
                <p:nvSpPr>
                  <p:cNvPr id="31" name="矩形 30"/>
                  <p:cNvSpPr/>
                  <p:nvPr/>
                </p:nvSpPr>
                <p:spPr>
                  <a:xfrm>
                    <a:off x="1294" y="9256"/>
                    <a:ext cx="3066" cy="1040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0" tIns="0" rIns="0" bIns="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9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" name="矩形 32"/>
                  <p:cNvSpPr/>
                  <p:nvPr/>
                </p:nvSpPr>
                <p:spPr>
                  <a:xfrm>
                    <a:off x="1652" y="9323"/>
                    <a:ext cx="2321" cy="394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68580" tIns="34290" rIns="68580" bIns="3429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r>
                      <a:rPr kumimoji="0" lang="en-US" altLang="zh-CN" sz="90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Transport </a:t>
                    </a:r>
                  </a:p>
                </p:txBody>
              </p:sp>
              <p:sp>
                <p:nvSpPr>
                  <p:cNvPr id="34" name="矩形 33"/>
                  <p:cNvSpPr/>
                  <p:nvPr/>
                </p:nvSpPr>
                <p:spPr>
                  <a:xfrm>
                    <a:off x="1294" y="6434"/>
                    <a:ext cx="3066" cy="1048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0" tIns="0" rIns="0" bIns="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9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7" name="矩形 36"/>
                  <p:cNvSpPr/>
                  <p:nvPr/>
                </p:nvSpPr>
                <p:spPr>
                  <a:xfrm>
                    <a:off x="1652" y="6502"/>
                    <a:ext cx="2321" cy="394"/>
                  </a:xfrm>
                  <a:prstGeom prst="rect">
                    <a:avLst/>
                  </a:prstGeom>
                  <a:noFill/>
                  <a:ln w="254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68580" tIns="34290" rIns="68580" bIns="34290" numCol="1" anchor="ctr" anchorCtr="0" compatLnSpc="1"/>
                  <a:lstStyle/>
                  <a:p>
                    <a:pPr marL="0" marR="0" indent="0" algn="ctr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r>
                      <a:rPr kumimoji="0" lang="en-US" altLang="zh-CN" sz="90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a:t>Transport </a:t>
                    </a:r>
                  </a:p>
                </p:txBody>
              </p:sp>
              <p:cxnSp>
                <p:nvCxnSpPr>
                  <p:cNvPr id="45" name="直接箭头连接符 44"/>
                  <p:cNvCxnSpPr/>
                  <p:nvPr/>
                </p:nvCxnSpPr>
                <p:spPr>
                  <a:xfrm flipH="1">
                    <a:off x="4620" y="6242"/>
                    <a:ext cx="9589" cy="0"/>
                  </a:xfrm>
                  <a:prstGeom prst="straightConnector1">
                    <a:avLst/>
                  </a:prstGeom>
                  <a:ln w="12700" cmpd="sng">
                    <a:solidFill>
                      <a:schemeClr val="tx1"/>
                    </a:solidFill>
                    <a:prstDash val="sysDash"/>
                    <a:headEnd type="arrow" w="med" len="med"/>
                    <a:tailEnd type="arrow" w="med" len="med"/>
                  </a:ln>
                </p:spPr>
                <p:style>
                  <a:lnRef idx="3">
                    <a:schemeClr val="accent5"/>
                  </a:lnRef>
                  <a:fillRef idx="0">
                    <a:schemeClr val="accent5"/>
                  </a:fillRef>
                  <a:effectRef idx="2">
                    <a:schemeClr val="accent5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2" name="组合 51"/>
                <p:cNvGrpSpPr/>
                <p:nvPr/>
              </p:nvGrpSpPr>
              <p:grpSpPr>
                <a:xfrm>
                  <a:off x="6252" y="5314"/>
                  <a:ext cx="4219" cy="1402"/>
                  <a:chOff x="6915" y="5671"/>
                  <a:chExt cx="4219" cy="1402"/>
                </a:xfrm>
              </p:grpSpPr>
              <p:sp>
                <p:nvSpPr>
                  <p:cNvPr id="126" name="矩形 125"/>
                  <p:cNvSpPr/>
                  <p:nvPr/>
                </p:nvSpPr>
                <p:spPr>
                  <a:xfrm>
                    <a:off x="7668" y="5746"/>
                    <a:ext cx="78" cy="386"/>
                  </a:xfrm>
                  <a:prstGeom prst="rect">
                    <a:avLst/>
                  </a:prstGeom>
                  <a:solidFill>
                    <a:srgbClr val="F9B485"/>
                  </a:solidFill>
                  <a:ln w="9525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51435" tIns="25717" rIns="51435" bIns="25717" numCol="1" anchor="t" anchorCtr="0" compatLnSpc="1"/>
                  <a:lstStyle/>
                  <a:p>
                    <a:pPr marL="0" marR="0" indent="0" algn="l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1015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7" name="矩形 126"/>
                  <p:cNvSpPr/>
                  <p:nvPr/>
                </p:nvSpPr>
                <p:spPr>
                  <a:xfrm>
                    <a:off x="7747" y="5746"/>
                    <a:ext cx="78" cy="386"/>
                  </a:xfrm>
                  <a:prstGeom prst="rect">
                    <a:avLst/>
                  </a:prstGeom>
                  <a:solidFill>
                    <a:srgbClr val="F9B485"/>
                  </a:solidFill>
                  <a:ln w="9525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51435" tIns="25717" rIns="51435" bIns="25717" numCol="1" anchor="t" anchorCtr="0" compatLnSpc="1"/>
                  <a:lstStyle/>
                  <a:p>
                    <a:pPr marL="0" marR="0" indent="0" algn="l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1015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8" name="矩形 127"/>
                  <p:cNvSpPr/>
                  <p:nvPr/>
                </p:nvSpPr>
                <p:spPr>
                  <a:xfrm>
                    <a:off x="7815" y="5746"/>
                    <a:ext cx="78" cy="386"/>
                  </a:xfrm>
                  <a:prstGeom prst="rect">
                    <a:avLst/>
                  </a:prstGeom>
                  <a:solidFill>
                    <a:srgbClr val="F9B485"/>
                  </a:solidFill>
                  <a:ln w="9525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51435" tIns="25717" rIns="51435" bIns="25717" numCol="1" anchor="t" anchorCtr="0" compatLnSpc="1"/>
                  <a:lstStyle/>
                  <a:p>
                    <a:pPr marL="0" marR="0" indent="0" algn="l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1015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3" name="椭圆 52"/>
                  <p:cNvSpPr/>
                  <p:nvPr/>
                </p:nvSpPr>
                <p:spPr>
                  <a:xfrm>
                    <a:off x="6915" y="5689"/>
                    <a:ext cx="210" cy="533"/>
                  </a:xfrm>
                  <a:prstGeom prst="ellipse">
                    <a:avLst/>
                  </a:prstGeom>
                  <a:noFill/>
                  <a:ln w="15875" cap="flat" cmpd="sng" algn="ctr">
                    <a:solidFill>
                      <a:srgbClr val="FF000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51435" tIns="25717" rIns="51435" bIns="25717" numCol="1" anchor="t" anchorCtr="0" compatLnSpc="1">
                    <a:noAutofit/>
                  </a:bodyPr>
                  <a:lstStyle/>
                  <a:p>
                    <a:pPr lvl="0" algn="l" defTabSz="457200" fontAlgn="base">
                      <a:buClrTx/>
                      <a:buSzTx/>
                      <a:buFont typeface="Arial" panose="020B0604020202020204" pitchFamily="34" charset="0"/>
                    </a:pPr>
                    <a:endParaRPr lang="zh-CN" altLang="en-US" sz="1015">
                      <a:ln>
                        <a:noFill/>
                      </a:ln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  <a:sym typeface="微软雅黑" panose="020B0503020204020204" pitchFamily="34" charset="-122"/>
                    </a:endParaRPr>
                  </a:p>
                </p:txBody>
              </p:sp>
              <p:cxnSp>
                <p:nvCxnSpPr>
                  <p:cNvPr id="54" name="直接连接符 53"/>
                  <p:cNvCxnSpPr>
                    <a:endCxn id="57" idx="2"/>
                  </p:cNvCxnSpPr>
                  <p:nvPr/>
                </p:nvCxnSpPr>
                <p:spPr>
                  <a:xfrm flipV="1">
                    <a:off x="7066" y="6190"/>
                    <a:ext cx="3467" cy="13"/>
                  </a:xfrm>
                  <a:prstGeom prst="line">
                    <a:avLst/>
                  </a:prstGeom>
                  <a:solidFill>
                    <a:srgbClr val="00A651"/>
                  </a:solidFill>
                  <a:ln w="15875" cap="flat" cmpd="sng" algn="ctr">
                    <a:solidFill>
                      <a:srgbClr val="FF000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" name="直接连接符 54"/>
                  <p:cNvCxnSpPr/>
                  <p:nvPr/>
                </p:nvCxnSpPr>
                <p:spPr>
                  <a:xfrm>
                    <a:off x="7067" y="5671"/>
                    <a:ext cx="3482" cy="11"/>
                  </a:xfrm>
                  <a:prstGeom prst="line">
                    <a:avLst/>
                  </a:prstGeom>
                  <a:solidFill>
                    <a:srgbClr val="00A651"/>
                  </a:solidFill>
                  <a:ln w="15875" cap="flat" cmpd="sng" algn="ctr">
                    <a:solidFill>
                      <a:srgbClr val="FF000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57" name="弧形 56"/>
                  <p:cNvSpPr/>
                  <p:nvPr/>
                </p:nvSpPr>
                <p:spPr>
                  <a:xfrm>
                    <a:off x="10407" y="5700"/>
                    <a:ext cx="284" cy="492"/>
                  </a:xfrm>
                  <a:prstGeom prst="arc">
                    <a:avLst>
                      <a:gd name="adj1" fmla="val 16200000"/>
                      <a:gd name="adj2" fmla="val 5621483"/>
                    </a:avLst>
                  </a:prstGeom>
                  <a:noFill/>
                  <a:ln w="15875" cap="flat" cmpd="sng" algn="ctr">
                    <a:solidFill>
                      <a:srgbClr val="FF000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51435" tIns="25717" rIns="51435" bIns="25717" numCol="1" anchor="t" anchorCtr="0" compatLnSpc="1"/>
                  <a:lstStyle/>
                  <a:p>
                    <a:pPr marL="0" marR="0" indent="0" algn="l" defTabSz="4572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 typeface="Arial" panose="020B0604020202020204" pitchFamily="34" charset="0"/>
                      <a:buNone/>
                    </a:pPr>
                    <a:endParaRPr kumimoji="0" lang="zh-CN" altLang="en-US" sz="1015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alibri" panose="020F050202020403020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8" name="文本框 57"/>
                  <p:cNvSpPr txBox="1"/>
                  <p:nvPr/>
                </p:nvSpPr>
                <p:spPr>
                  <a:xfrm>
                    <a:off x="6915" y="6245"/>
                    <a:ext cx="4219" cy="82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altLang="zh-CN" sz="1000">
                        <a:latin typeface="Cambria" panose="02040503050406030204" charset="0"/>
                        <a:cs typeface="Cambria" panose="02040503050406030204" charset="0"/>
                      </a:rPr>
                      <a:t>Rate-based quato reservation and admission control</a:t>
                    </a:r>
                  </a:p>
                </p:txBody>
              </p:sp>
            </p:grpSp>
            <p:sp>
              <p:nvSpPr>
                <p:cNvPr id="59" name="文本框 58"/>
                <p:cNvSpPr txBox="1"/>
                <p:nvPr/>
              </p:nvSpPr>
              <p:spPr>
                <a:xfrm>
                  <a:off x="1086" y="4121"/>
                  <a:ext cx="3359" cy="5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b="1"/>
                    <a:t>CC algrithm</a:t>
                  </a:r>
                  <a:endParaRPr lang="zh-CN" altLang="en-US" sz="1050" b="1"/>
                </a:p>
              </p:txBody>
            </p:sp>
            <p:sp>
              <p:nvSpPr>
                <p:cNvPr id="60" name="文本框 59"/>
                <p:cNvSpPr txBox="1"/>
                <p:nvPr/>
              </p:nvSpPr>
              <p:spPr>
                <a:xfrm>
                  <a:off x="985" y="5421"/>
                  <a:ext cx="3359" cy="5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b="1"/>
                    <a:t>CC </a:t>
                  </a:r>
                  <a:r>
                    <a:rPr lang="en-US" altLang="zh-CN" sz="1050" b="1">
                      <a:sym typeface="+mn-ea"/>
                    </a:rPr>
                    <a:t>algrithm</a:t>
                  </a:r>
                  <a:endParaRPr lang="zh-CN" altLang="en-US" sz="1050" b="1"/>
                </a:p>
              </p:txBody>
            </p:sp>
            <p:sp>
              <p:nvSpPr>
                <p:cNvPr id="61" name="文本框 60"/>
                <p:cNvSpPr txBox="1"/>
                <p:nvPr/>
              </p:nvSpPr>
              <p:spPr>
                <a:xfrm>
                  <a:off x="984" y="6620"/>
                  <a:ext cx="3359" cy="5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50" b="1"/>
                    <a:t>CC </a:t>
                  </a:r>
                  <a:r>
                    <a:rPr lang="en-US" altLang="zh-CN" sz="1050" b="1">
                      <a:sym typeface="+mn-ea"/>
                    </a:rPr>
                    <a:t>algrithm</a:t>
                  </a:r>
                  <a:endParaRPr lang="zh-CN" altLang="en-US" sz="1050" b="1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232" y="3279"/>
                  <a:ext cx="3209" cy="4142"/>
                </a:xfrm>
                <a:prstGeom prst="rect">
                  <a:avLst/>
                </a:prstGeom>
                <a:noFill/>
                <a:ln w="12700" cmpd="sng">
                  <a:solidFill>
                    <a:schemeClr val="accent1">
                      <a:shade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"/>
                </a:p>
              </p:txBody>
            </p:sp>
            <p:sp>
              <p:nvSpPr>
                <p:cNvPr id="64" name="矩形 63"/>
                <p:cNvSpPr/>
                <p:nvPr/>
              </p:nvSpPr>
              <p:spPr>
                <a:xfrm>
                  <a:off x="12391" y="3351"/>
                  <a:ext cx="3209" cy="4131"/>
                </a:xfrm>
                <a:prstGeom prst="rect">
                  <a:avLst/>
                </a:prstGeom>
                <a:noFill/>
                <a:ln w="12700" cmpd="sng">
                  <a:solidFill>
                    <a:schemeClr val="accent1">
                      <a:shade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0"/>
                </a:p>
              </p:txBody>
            </p:sp>
          </p:grpSp>
          <p:sp>
            <p:nvSpPr>
              <p:cNvPr id="66" name="文本框 65"/>
              <p:cNvSpPr txBox="1"/>
              <p:nvPr/>
            </p:nvSpPr>
            <p:spPr>
              <a:xfrm>
                <a:off x="3266" y="4319"/>
                <a:ext cx="4219" cy="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zh-CN" sz="1000">
                    <a:latin typeface="Cambria" panose="02040503050406030204" charset="0"/>
                    <a:cs typeface="Cambria" panose="02040503050406030204" charset="0"/>
                    <a:sym typeface="+mn-ea"/>
                  </a:rPr>
                  <a:t>Rate negotiation</a:t>
                </a:r>
                <a:endParaRPr lang="en-US" altLang="zh-CN" sz="1000" i="1">
                  <a:latin typeface="Cambria" panose="02040503050406030204" charset="0"/>
                  <a:cs typeface="Cambria" panose="02040503050406030204" charset="0"/>
                  <a:sym typeface="+mn-ea"/>
                </a:endParaRPr>
              </a:p>
            </p:txBody>
          </p:sp>
          <p:cxnSp>
            <p:nvCxnSpPr>
              <p:cNvPr id="67" name="直接箭头连接符 66"/>
              <p:cNvCxnSpPr/>
              <p:nvPr/>
            </p:nvCxnSpPr>
            <p:spPr>
              <a:xfrm>
                <a:off x="3728" y="5230"/>
                <a:ext cx="1313" cy="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67"/>
              <p:cNvCxnSpPr/>
              <p:nvPr/>
            </p:nvCxnSpPr>
            <p:spPr>
              <a:xfrm>
                <a:off x="3710" y="5463"/>
                <a:ext cx="1351" cy="1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六边形 68"/>
              <p:cNvSpPr/>
              <p:nvPr/>
            </p:nvSpPr>
            <p:spPr>
              <a:xfrm>
                <a:off x="5020" y="5229"/>
                <a:ext cx="1125" cy="578"/>
              </a:xfrm>
              <a:prstGeom prst="hexagon">
                <a:avLst/>
              </a:prstGeom>
              <a:solidFill>
                <a:srgbClr val="92D05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anchor="ctr" anchorCtr="0" compatLnSpc="1"/>
              <a:lstStyle/>
              <a:p>
                <a:pPr marL="0" marR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kumimoji="0" lang="en-US" altLang="zh-CN" sz="675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Ingress</a:t>
                </a:r>
              </a:p>
              <a:p>
                <a:pPr marL="0" marR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kumimoji="0" lang="en-US" altLang="zh-CN" sz="675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Edge</a:t>
                </a:r>
              </a:p>
            </p:txBody>
          </p:sp>
          <p:sp>
            <p:nvSpPr>
              <p:cNvPr id="70" name="六边形 69"/>
              <p:cNvSpPr/>
              <p:nvPr/>
            </p:nvSpPr>
            <p:spPr>
              <a:xfrm>
                <a:off x="10145" y="5292"/>
                <a:ext cx="1125" cy="578"/>
              </a:xfrm>
              <a:prstGeom prst="hexagon">
                <a:avLst/>
              </a:prstGeom>
              <a:solidFill>
                <a:srgbClr val="92D05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anchor="ctr" anchorCtr="0" compatLnSpc="1"/>
              <a:lstStyle/>
              <a:p>
                <a:pPr marL="0" marR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kumimoji="0" lang="en-US" altLang="zh-CN" sz="675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Egress</a:t>
                </a:r>
              </a:p>
              <a:p>
                <a:pPr marL="0" marR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kumimoji="0" lang="en-US" altLang="zh-CN" sz="675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Edge</a:t>
                </a:r>
              </a:p>
            </p:txBody>
          </p:sp>
          <p:sp>
            <p:nvSpPr>
              <p:cNvPr id="71" name="六边形 70"/>
              <p:cNvSpPr/>
              <p:nvPr/>
            </p:nvSpPr>
            <p:spPr>
              <a:xfrm>
                <a:off x="7441" y="5293"/>
                <a:ext cx="1125" cy="578"/>
              </a:xfrm>
              <a:prstGeom prst="hexagon">
                <a:avLst/>
              </a:prstGeom>
              <a:solidFill>
                <a:srgbClr val="92D05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0" tIns="0" rIns="0" bIns="0" numCol="1" anchor="ctr" anchorCtr="0" compatLnSpc="1"/>
              <a:lstStyle/>
              <a:p>
                <a:pPr marL="0" marR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kumimoji="0" lang="en-US" altLang="zh-CN" sz="675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Transit Node</a:t>
                </a:r>
              </a:p>
            </p:txBody>
          </p:sp>
          <p:cxnSp>
            <p:nvCxnSpPr>
              <p:cNvPr id="72" name="直接箭头连接符 71"/>
              <p:cNvCxnSpPr/>
              <p:nvPr/>
            </p:nvCxnSpPr>
            <p:spPr>
              <a:xfrm>
                <a:off x="3748" y="5699"/>
                <a:ext cx="1313" cy="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2704" y="6058"/>
              <a:ext cx="2056" cy="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/>
                <a:t>Client</a:t>
              </a:r>
            </a:p>
          </p:txBody>
        </p:sp>
        <p:sp>
          <p:nvSpPr>
            <p:cNvPr id="15" name="左右箭头 14"/>
            <p:cNvSpPr/>
            <p:nvPr/>
          </p:nvSpPr>
          <p:spPr>
            <a:xfrm>
              <a:off x="4909" y="9231"/>
              <a:ext cx="6680" cy="848"/>
            </a:xfrm>
            <a:prstGeom prst="leftRightArrow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b="1">
                  <a:latin typeface="Calibri Light" panose="020F0302020204030204" charset="0"/>
                  <a:cs typeface="Calibri Light" panose="020F0302020204030204" charset="0"/>
                  <a:sym typeface="+mn-ea"/>
                </a:rPr>
                <a:t>Host-network Collaboration Signalling</a:t>
              </a:r>
              <a:endParaRPr kumimoji="0" lang="zh-CN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charset="0"/>
                <a:ea typeface="微软雅黑" panose="020B0503020204020204" pitchFamily="34" charset="-122"/>
                <a:cs typeface="Calibri Light" panose="020F030202020403020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567" y="7546"/>
              <a:ext cx="4595" cy="3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zh-CN" sz="1000">
                  <a:latin typeface="Cambria" panose="02040503050406030204" charset="0"/>
                  <a:cs typeface="Cambria" panose="02040503050406030204" charset="0"/>
                  <a:sym typeface="+mn-ea"/>
                </a:rPr>
                <a:t>Traffic scheduling and enforcement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57518" y="273685"/>
            <a:ext cx="1093597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>
                <a:latin typeface="Cambria" panose="02040503050406030204" charset="0"/>
                <a:cs typeface="Cambria" panose="02040503050406030204" charset="0"/>
                <a:sym typeface="+mn-ea"/>
              </a:rPr>
              <a:t> Host-network Collaboration in Centralized Configuration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57555" y="819150"/>
            <a:ext cx="10909935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lvl="0" indent="-342900" algn="l" fontAlgn="auto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Host-and-network collaboration could also be performed using configuration in centralized model where </a:t>
            </a:r>
            <a:r>
              <a:rPr lang="en-US" altLang="zh-CN" sz="2000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a controller or an orchestrator orchestrates data processing and resource allocation </a:t>
            </a:r>
            <a:r>
              <a:rPr lang="en-US" altLang="zh-CN" sz="20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across hosts and network infrastructure.</a:t>
            </a:r>
          </a:p>
          <a:p>
            <a:pPr marL="800100" lvl="1" indent="-342900" algn="l" fontAlgn="auto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The </a:t>
            </a:r>
            <a:r>
              <a:rPr lang="en-US" altLang="zh-CN" sz="1600" u="sng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request of scheduled traffic will be initiated </a:t>
            </a: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to the Orchestrator.</a:t>
            </a:r>
          </a:p>
          <a:p>
            <a:pPr marL="800100" lvl="1" indent="-342900" algn="l" fontAlgn="auto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The Orchestrator will </a:t>
            </a:r>
            <a:r>
              <a:rPr lang="en-US" altLang="zh-CN" sz="1600" u="sng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perform rate negotiation</a:t>
            </a: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among hosts and networks.  </a:t>
            </a:r>
          </a:p>
          <a:p>
            <a:pPr marL="800100" lvl="1" indent="-342900" algn="l" fontAlgn="auto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The controller of the network  will </a:t>
            </a:r>
            <a:r>
              <a:rPr lang="en-US" altLang="zh-CN" sz="1600" u="sng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perform admission control and acknowledge the traffic</a:t>
            </a: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.</a:t>
            </a:r>
          </a:p>
          <a:p>
            <a:pPr marL="800100" lvl="1" indent="-342900" algn="l" fontAlgn="auto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The Acknowledgement will be configured to the client, including the </a:t>
            </a:r>
            <a:r>
              <a:rPr lang="en-US" altLang="zh-CN" sz="1600" u="sng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response with the negotiated rate and QoS policy </a:t>
            </a: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for the client to send traffic.</a:t>
            </a:r>
          </a:p>
          <a:p>
            <a:pPr marL="800100" lvl="1" indent="-342900" algn="l" fontAlgn="auto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The Controller of the network will </a:t>
            </a:r>
            <a:r>
              <a:rPr lang="en-US" altLang="zh-CN" sz="1600" u="sng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reserve resource quota</a:t>
            </a:r>
            <a:r>
              <a:rPr lang="en-US" altLang="zh-CN" sz="16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to guarantee the job's completion time.</a:t>
            </a:r>
          </a:p>
        </p:txBody>
      </p:sp>
      <p:grpSp>
        <p:nvGrpSpPr>
          <p:cNvPr id="94" name="组合 93"/>
          <p:cNvGrpSpPr/>
          <p:nvPr/>
        </p:nvGrpSpPr>
        <p:grpSpPr>
          <a:xfrm>
            <a:off x="1663065" y="3288030"/>
            <a:ext cx="8931275" cy="3511550"/>
            <a:chOff x="2068" y="4817"/>
            <a:chExt cx="14065" cy="5530"/>
          </a:xfrm>
        </p:grpSpPr>
        <p:cxnSp>
          <p:nvCxnSpPr>
            <p:cNvPr id="89" name="直接箭头连接符 88"/>
            <p:cNvCxnSpPr/>
            <p:nvPr/>
          </p:nvCxnSpPr>
          <p:spPr>
            <a:xfrm>
              <a:off x="5064" y="8699"/>
              <a:ext cx="1132" cy="6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组合 3"/>
            <p:cNvGrpSpPr/>
            <p:nvPr/>
          </p:nvGrpSpPr>
          <p:grpSpPr>
            <a:xfrm>
              <a:off x="2068" y="6755"/>
              <a:ext cx="14065" cy="3592"/>
              <a:chOff x="2490" y="6058"/>
              <a:chExt cx="12236" cy="3551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2490" y="6103"/>
                <a:ext cx="12236" cy="3506"/>
                <a:chOff x="232" y="2791"/>
                <a:chExt cx="16314" cy="4674"/>
              </a:xfrm>
            </p:grpSpPr>
            <p:grpSp>
              <p:nvGrpSpPr>
                <p:cNvPr id="19" name="组合 18"/>
                <p:cNvGrpSpPr/>
                <p:nvPr/>
              </p:nvGrpSpPr>
              <p:grpSpPr>
                <a:xfrm>
                  <a:off x="232" y="2791"/>
                  <a:ext cx="16314" cy="4674"/>
                  <a:chOff x="232" y="2808"/>
                  <a:chExt cx="16314" cy="4674"/>
                </a:xfrm>
              </p:grpSpPr>
              <p:sp>
                <p:nvSpPr>
                  <p:cNvPr id="20" name="任意多边形 19"/>
                  <p:cNvSpPr/>
                  <p:nvPr/>
                </p:nvSpPr>
                <p:spPr>
                  <a:xfrm>
                    <a:off x="2900" y="5631"/>
                    <a:ext cx="9372" cy="970"/>
                  </a:xfrm>
                  <a:custGeom>
                    <a:avLst/>
                    <a:gdLst>
                      <a:gd name="connisteX0" fmla="*/ 0 w 5257165"/>
                      <a:gd name="connsiteY0" fmla="*/ 1017344 h 1017344"/>
                      <a:gd name="connisteX1" fmla="*/ 1240155 w 5257165"/>
                      <a:gd name="connsiteY1" fmla="*/ 96594 h 1017344"/>
                      <a:gd name="connisteX2" fmla="*/ 5257165 w 5257165"/>
                      <a:gd name="connsiteY2" fmla="*/ 66114 h 1017344"/>
                    </a:gdLst>
                    <a:ahLst/>
                    <a:cxnLst>
                      <a:cxn ang="0">
                        <a:pos x="connisteX0" y="connsiteY0"/>
                      </a:cxn>
                      <a:cxn ang="0">
                        <a:pos x="connisteX1" y="connsiteY1"/>
                      </a:cxn>
                      <a:cxn ang="0">
                        <a:pos x="connisteX2" y="connsiteY2"/>
                      </a:cxn>
                    </a:cxnLst>
                    <a:rect l="l" t="t" r="r" b="b"/>
                    <a:pathLst>
                      <a:path w="5257165" h="1017344">
                        <a:moveTo>
                          <a:pt x="0" y="1017344"/>
                        </a:moveTo>
                        <a:cubicBezTo>
                          <a:pt x="167640" y="833829"/>
                          <a:pt x="188595" y="287094"/>
                          <a:pt x="1240155" y="96594"/>
                        </a:cubicBezTo>
                        <a:cubicBezTo>
                          <a:pt x="2291715" y="-93906"/>
                          <a:pt x="4478655" y="54049"/>
                          <a:pt x="5257165" y="66114"/>
                        </a:cubicBezTo>
                      </a:path>
                    </a:pathLst>
                  </a:custGeom>
                  <a:noFill/>
                  <a:ln w="28575" cap="flat" cmpd="dbl" algn="ctr">
                    <a:solidFill>
                      <a:schemeClr val="accent1">
                        <a:shade val="50000"/>
                      </a:schemeClr>
                    </a:solidFill>
                    <a:prstDash val="sysDash"/>
                    <a:round/>
                    <a:headEnd type="none" w="med" len="med"/>
                    <a:tailEnd type="arrow" w="med" len="med"/>
                  </a:ln>
                </p:spPr>
                <p:txBody>
                  <a:bodyPr vert="horz" wrap="square" lIns="68580" tIns="34290" rIns="68580" bIns="34290" numCol="1" anchor="t" anchorCtr="0" compatLnSpc="1">
                    <a:noAutofit/>
                  </a:bodyPr>
                  <a:lstStyle/>
                  <a:p>
                    <a:pPr lvl="0" algn="l">
                      <a:buClrTx/>
                      <a:buSzTx/>
                    </a:pPr>
                    <a:endParaRPr lang="zh-CN" altLang="en-US" sz="1350">
                      <a:ln>
                        <a:noFill/>
                      </a:ln>
                      <a:effectLst/>
                      <a:cs typeface="Arial" panose="020B0604020202020204" pitchFamily="34" charset="0"/>
                      <a:sym typeface="+mn-ea"/>
                    </a:endParaRPr>
                  </a:p>
                </p:txBody>
              </p:sp>
              <p:grpSp>
                <p:nvGrpSpPr>
                  <p:cNvPr id="21" name="组合 20"/>
                  <p:cNvGrpSpPr/>
                  <p:nvPr/>
                </p:nvGrpSpPr>
                <p:grpSpPr>
                  <a:xfrm>
                    <a:off x="408" y="2808"/>
                    <a:ext cx="16138" cy="4310"/>
                    <a:chOff x="1294" y="5477"/>
                    <a:chExt cx="17433" cy="4819"/>
                  </a:xfrm>
                </p:grpSpPr>
                <p:sp>
                  <p:nvSpPr>
                    <p:cNvPr id="22" name="矩形 21"/>
                    <p:cNvSpPr/>
                    <p:nvPr/>
                  </p:nvSpPr>
                  <p:spPr>
                    <a:xfrm>
                      <a:off x="1308" y="7878"/>
                      <a:ext cx="3066" cy="1040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0" tIns="0" rIns="0" bIns="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5" name="矩形 24"/>
                    <p:cNvSpPr/>
                    <p:nvPr/>
                  </p:nvSpPr>
                  <p:spPr>
                    <a:xfrm>
                      <a:off x="14337" y="7860"/>
                      <a:ext cx="3066" cy="1198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0" tIns="0" rIns="0" bIns="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675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3" name="文本框 62"/>
                    <p:cNvSpPr txBox="1"/>
                    <p:nvPr/>
                  </p:nvSpPr>
                  <p:spPr>
                    <a:xfrm>
                      <a:off x="15099" y="8518"/>
                      <a:ext cx="3628" cy="5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050" b="1"/>
                        <a:t>CC </a:t>
                      </a:r>
                      <a:r>
                        <a:rPr lang="en-US" altLang="zh-CN" sz="1050" b="1">
                          <a:sym typeface="+mn-ea"/>
                        </a:rPr>
                        <a:t>algrithm</a:t>
                      </a:r>
                      <a:endParaRPr lang="zh-CN" altLang="en-US" sz="1050" b="1"/>
                    </a:p>
                  </p:txBody>
                </p:sp>
                <p:sp>
                  <p:nvSpPr>
                    <p:cNvPr id="26" name="云形 25"/>
                    <p:cNvSpPr/>
                    <p:nvPr/>
                  </p:nvSpPr>
                  <p:spPr>
                    <a:xfrm>
                      <a:off x="6413" y="7056"/>
                      <a:ext cx="6087" cy="3084"/>
                    </a:xfrm>
                    <a:prstGeom prst="cloud">
                      <a:avLst/>
                    </a:prstGeom>
                    <a:noFill/>
                    <a:ln>
                      <a:solidFill>
                        <a:srgbClr val="00B050"/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vert="horz" wrap="square" lIns="68580" tIns="34290" rIns="68580" bIns="34290" numCol="1" anchor="t" anchorCtr="0" compatLnSpc="1"/>
                    <a:lstStyle/>
                    <a:p>
                      <a:pPr marL="0" marR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3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" name="任意多边形 26"/>
                    <p:cNvSpPr/>
                    <p:nvPr/>
                  </p:nvSpPr>
                  <p:spPr>
                    <a:xfrm>
                      <a:off x="4077" y="6415"/>
                      <a:ext cx="10131" cy="1986"/>
                    </a:xfrm>
                    <a:custGeom>
                      <a:avLst/>
                      <a:gdLst>
                        <a:gd name="connisteX0" fmla="*/ 0 w 5195570"/>
                        <a:gd name="connsiteY0" fmla="*/ 0 h 1344111"/>
                        <a:gd name="connisteX1" fmla="*/ 1019175 w 5195570"/>
                        <a:gd name="connsiteY1" fmla="*/ 1217295 h 1344111"/>
                        <a:gd name="connisteX2" fmla="*/ 5195570 w 5195570"/>
                        <a:gd name="connsiteY2" fmla="*/ 1293495 h 1344111"/>
                        <a:gd name="connisteX3" fmla="*/ 5294630 w 5195570"/>
                        <a:gd name="connsiteY3" fmla="*/ 1423035 h 1344111"/>
                      </a:gdLst>
                      <a:ahLst/>
                      <a:cxnLst>
                        <a:cxn ang="0">
                          <a:pos x="connisteX0" y="connsiteY0"/>
                        </a:cxn>
                        <a:cxn ang="0">
                          <a:pos x="connisteX1" y="connsiteY1"/>
                        </a:cxn>
                        <a:cxn ang="0">
                          <a:pos x="connisteX2" y="connsiteY2"/>
                        </a:cxn>
                        <a:cxn ang="0">
                          <a:pos x="connisteX3" y="connsiteY3"/>
                        </a:cxn>
                      </a:cxnLst>
                      <a:rect l="l" t="t" r="r" b="b"/>
                      <a:pathLst>
                        <a:path w="5195570" h="1344111">
                          <a:moveTo>
                            <a:pt x="0" y="0"/>
                          </a:moveTo>
                          <a:cubicBezTo>
                            <a:pt x="120015" y="241935"/>
                            <a:pt x="-19685" y="958850"/>
                            <a:pt x="1019175" y="1217295"/>
                          </a:cubicBezTo>
                          <a:cubicBezTo>
                            <a:pt x="2058035" y="1475740"/>
                            <a:pt x="4340225" y="1252220"/>
                            <a:pt x="5195570" y="1293495"/>
                          </a:cubicBezTo>
                        </a:path>
                      </a:pathLst>
                    </a:custGeom>
                    <a:noFill/>
                    <a:ln w="28575" cap="flat" cmpd="dbl" algn="ctr">
                      <a:solidFill>
                        <a:schemeClr val="accent1">
                          <a:shade val="50000"/>
                        </a:schemeClr>
                      </a:solidFill>
                      <a:prstDash val="sysDash"/>
                      <a:round/>
                      <a:headEnd type="none" w="med" len="med"/>
                      <a:tailEnd type="arrow" w="med" len="med"/>
                    </a:ln>
                  </p:spPr>
                  <p:txBody>
                    <a:bodyPr vert="horz" wrap="square" lIns="68580" tIns="34290" rIns="68580" bIns="34290" numCol="1" anchor="t" anchorCtr="0" compatLnSpc="1"/>
                    <a:lstStyle/>
                    <a:p>
                      <a:pPr marL="0" marR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3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8" name="任意多边形 27"/>
                    <p:cNvSpPr/>
                    <p:nvPr/>
                  </p:nvSpPr>
                  <p:spPr>
                    <a:xfrm flipV="1">
                      <a:off x="4185" y="8399"/>
                      <a:ext cx="9918" cy="120"/>
                    </a:xfrm>
                    <a:custGeom>
                      <a:avLst/>
                      <a:gdLst>
                        <a:gd name="connisteX0" fmla="*/ 0 w 5264785"/>
                        <a:gd name="connsiteY0" fmla="*/ 4096 h 4096"/>
                        <a:gd name="connisteX1" fmla="*/ 5264785 w 5264785"/>
                        <a:gd name="connsiteY1" fmla="*/ 4096 h 4096"/>
                        <a:gd name="connisteX2" fmla="*/ 5280025 w 5264785"/>
                        <a:gd name="connsiteY2" fmla="*/ 49816 h 4096"/>
                      </a:gdLst>
                      <a:ahLst/>
                      <a:cxnLst>
                        <a:cxn ang="0">
                          <a:pos x="connisteX0" y="connsiteY0"/>
                        </a:cxn>
                        <a:cxn ang="0">
                          <a:pos x="connisteX1" y="connsiteY1"/>
                        </a:cxn>
                        <a:cxn ang="0">
                          <a:pos x="connisteX2" y="connsiteY2"/>
                        </a:cxn>
                      </a:cxnLst>
                      <a:rect l="l" t="t" r="r" b="b"/>
                      <a:pathLst>
                        <a:path w="5264785" h="4096">
                          <a:moveTo>
                            <a:pt x="0" y="4096"/>
                          </a:moveTo>
                          <a:cubicBezTo>
                            <a:pt x="1052830" y="3461"/>
                            <a:pt x="4208780" y="-4794"/>
                            <a:pt x="5264785" y="4096"/>
                          </a:cubicBezTo>
                        </a:path>
                      </a:pathLst>
                    </a:custGeom>
                    <a:noFill/>
                    <a:ln w="28575" cap="flat" cmpd="dbl" algn="ctr">
                      <a:solidFill>
                        <a:schemeClr val="accent1">
                          <a:shade val="50000"/>
                        </a:schemeClr>
                      </a:solidFill>
                      <a:prstDash val="sysDash"/>
                      <a:round/>
                      <a:headEnd type="none" w="med" len="med"/>
                      <a:tailEnd type="arrow" w="med" len="med"/>
                    </a:ln>
                  </p:spPr>
                  <p:txBody>
                    <a:bodyPr vert="horz" wrap="square" lIns="68580" tIns="34290" rIns="68580" bIns="34290" numCol="1" anchor="t" anchorCtr="0" compatLnSpc="1">
                      <a:noAutofit/>
                    </a:bodyPr>
                    <a:lstStyle/>
                    <a:p>
                      <a:pPr lvl="0" algn="l">
                        <a:buClrTx/>
                        <a:buSzTx/>
                      </a:pPr>
                      <a:endParaRPr lang="zh-CN" altLang="en-US" sz="1350">
                        <a:ln>
                          <a:noFill/>
                        </a:ln>
                        <a:effectLst/>
                        <a:cs typeface="Arial" panose="020B0604020202020204" pitchFamily="34" charset="0"/>
                        <a:sym typeface="+mn-ea"/>
                      </a:endParaRPr>
                    </a:p>
                  </p:txBody>
                </p:sp>
                <p:sp>
                  <p:nvSpPr>
                    <p:cNvPr id="29" name="文本框 28"/>
                    <p:cNvSpPr txBox="1"/>
                    <p:nvPr/>
                  </p:nvSpPr>
                  <p:spPr>
                    <a:xfrm>
                      <a:off x="14443" y="5477"/>
                      <a:ext cx="2961" cy="5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050" b="1"/>
                        <a:t>Server</a:t>
                      </a:r>
                    </a:p>
                  </p:txBody>
                </p:sp>
                <p:sp>
                  <p:nvSpPr>
                    <p:cNvPr id="31" name="矩形 30"/>
                    <p:cNvSpPr/>
                    <p:nvPr/>
                  </p:nvSpPr>
                  <p:spPr>
                    <a:xfrm>
                      <a:off x="1666" y="7946"/>
                      <a:ext cx="2321" cy="394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68580" tIns="34290" rIns="68580" bIns="3429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90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Transport </a:t>
                      </a:r>
                    </a:p>
                  </p:txBody>
                </p:sp>
                <p:sp>
                  <p:nvSpPr>
                    <p:cNvPr id="32" name="矩形 31"/>
                    <p:cNvSpPr/>
                    <p:nvPr/>
                  </p:nvSpPr>
                  <p:spPr>
                    <a:xfrm>
                      <a:off x="14624" y="8063"/>
                      <a:ext cx="2321" cy="394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68580" tIns="34290" rIns="68580" bIns="3429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90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Transport </a:t>
                      </a:r>
                    </a:p>
                  </p:txBody>
                </p:sp>
                <p:sp>
                  <p:nvSpPr>
                    <p:cNvPr id="33" name="矩形 32"/>
                    <p:cNvSpPr/>
                    <p:nvPr/>
                  </p:nvSpPr>
                  <p:spPr>
                    <a:xfrm>
                      <a:off x="1294" y="9256"/>
                      <a:ext cx="3066" cy="1040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0" tIns="0" rIns="0" bIns="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4" name="矩形 33"/>
                    <p:cNvSpPr/>
                    <p:nvPr/>
                  </p:nvSpPr>
                  <p:spPr>
                    <a:xfrm>
                      <a:off x="1652" y="9323"/>
                      <a:ext cx="2321" cy="394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68580" tIns="34290" rIns="68580" bIns="3429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90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Transport </a:t>
                      </a:r>
                    </a:p>
                  </p:txBody>
                </p:sp>
                <p:sp>
                  <p:nvSpPr>
                    <p:cNvPr id="36" name="矩形 35"/>
                    <p:cNvSpPr/>
                    <p:nvPr/>
                  </p:nvSpPr>
                  <p:spPr>
                    <a:xfrm>
                      <a:off x="1294" y="6434"/>
                      <a:ext cx="3066" cy="1048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0" tIns="0" rIns="0" bIns="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7" name="矩形 36"/>
                    <p:cNvSpPr/>
                    <p:nvPr/>
                  </p:nvSpPr>
                  <p:spPr>
                    <a:xfrm>
                      <a:off x="1652" y="6502"/>
                      <a:ext cx="2321" cy="394"/>
                    </a:xfrm>
                    <a:prstGeom prst="rect">
                      <a:avLst/>
                    </a:prstGeom>
                    <a:noFill/>
                    <a:ln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68580" tIns="34290" rIns="68580" bIns="34290" numCol="1" anchor="ctr" anchorCtr="0" compatLnSpc="1"/>
                    <a:lstStyle/>
                    <a:p>
                      <a:pPr marL="0" marR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90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Transport </a:t>
                      </a:r>
                    </a:p>
                  </p:txBody>
                </p:sp>
              </p:grpSp>
              <p:grpSp>
                <p:nvGrpSpPr>
                  <p:cNvPr id="52" name="组合 51"/>
                  <p:cNvGrpSpPr/>
                  <p:nvPr/>
                </p:nvGrpSpPr>
                <p:grpSpPr>
                  <a:xfrm>
                    <a:off x="6099" y="3711"/>
                    <a:ext cx="4219" cy="2154"/>
                    <a:chOff x="6762" y="4068"/>
                    <a:chExt cx="4219" cy="2154"/>
                  </a:xfrm>
                </p:grpSpPr>
                <p:sp>
                  <p:nvSpPr>
                    <p:cNvPr id="126" name="矩形 125"/>
                    <p:cNvSpPr/>
                    <p:nvPr/>
                  </p:nvSpPr>
                  <p:spPr>
                    <a:xfrm>
                      <a:off x="7668" y="5746"/>
                      <a:ext cx="78" cy="386"/>
                    </a:xfrm>
                    <a:prstGeom prst="rect">
                      <a:avLst/>
                    </a:prstGeom>
                    <a:solidFill>
                      <a:srgbClr val="F9B485"/>
                    </a:solidFill>
                    <a:ln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51435" tIns="25717" rIns="51435" bIns="25717" numCol="1" anchor="t" anchorCtr="0" compatLnSpc="1"/>
                    <a:lstStyle/>
                    <a:p>
                      <a:pPr marL="0" marR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015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7" name="矩形 126"/>
                    <p:cNvSpPr/>
                    <p:nvPr/>
                  </p:nvSpPr>
                  <p:spPr>
                    <a:xfrm>
                      <a:off x="7747" y="5746"/>
                      <a:ext cx="78" cy="386"/>
                    </a:xfrm>
                    <a:prstGeom prst="rect">
                      <a:avLst/>
                    </a:prstGeom>
                    <a:solidFill>
                      <a:srgbClr val="F9B485"/>
                    </a:solidFill>
                    <a:ln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51435" tIns="25717" rIns="51435" bIns="25717" numCol="1" anchor="t" anchorCtr="0" compatLnSpc="1"/>
                    <a:lstStyle/>
                    <a:p>
                      <a:pPr marL="0" marR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015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8" name="矩形 127"/>
                    <p:cNvSpPr/>
                    <p:nvPr/>
                  </p:nvSpPr>
                  <p:spPr>
                    <a:xfrm>
                      <a:off x="7815" y="5746"/>
                      <a:ext cx="78" cy="386"/>
                    </a:xfrm>
                    <a:prstGeom prst="rect">
                      <a:avLst/>
                    </a:prstGeom>
                    <a:solidFill>
                      <a:srgbClr val="F9B485"/>
                    </a:solidFill>
                    <a:ln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51435" tIns="25717" rIns="51435" bIns="25717" numCol="1" anchor="t" anchorCtr="0" compatLnSpc="1"/>
                    <a:lstStyle/>
                    <a:p>
                      <a:pPr marL="0" marR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015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" name="椭圆 52"/>
                    <p:cNvSpPr/>
                    <p:nvPr/>
                  </p:nvSpPr>
                  <p:spPr>
                    <a:xfrm>
                      <a:off x="6915" y="5689"/>
                      <a:ext cx="210" cy="533"/>
                    </a:xfrm>
                    <a:prstGeom prst="ellipse">
                      <a:avLst/>
                    </a:prstGeom>
                    <a:noFill/>
                    <a:ln w="158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51435" tIns="25717" rIns="51435" bIns="25717" numCol="1" anchor="t" anchorCtr="0" compatLnSpc="1">
                      <a:noAutofit/>
                    </a:bodyPr>
                    <a:lstStyle/>
                    <a:p>
                      <a:pPr lvl="0" algn="l" defTabSz="457200" fontAlgn="base">
                        <a:buClrTx/>
                        <a:buSzTx/>
                        <a:buFont typeface="Arial" panose="020B0604020202020204" pitchFamily="34" charset="0"/>
                      </a:pPr>
                      <a:endParaRPr lang="zh-CN" altLang="en-US" sz="1015">
                        <a:ln>
                          <a:noFill/>
                        </a:ln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  <a:sym typeface="微软雅黑" panose="020B0503020204020204" pitchFamily="34" charset="-122"/>
                      </a:endParaRPr>
                    </a:p>
                  </p:txBody>
                </p:sp>
                <p:cxnSp>
                  <p:nvCxnSpPr>
                    <p:cNvPr id="54" name="直接连接符 53"/>
                    <p:cNvCxnSpPr>
                      <a:endCxn id="57" idx="2"/>
                    </p:cNvCxnSpPr>
                    <p:nvPr/>
                  </p:nvCxnSpPr>
                  <p:spPr>
                    <a:xfrm flipV="1">
                      <a:off x="7066" y="6190"/>
                      <a:ext cx="3467" cy="13"/>
                    </a:xfrm>
                    <a:prstGeom prst="line">
                      <a:avLst/>
                    </a:prstGeom>
                    <a:solidFill>
                      <a:srgbClr val="00A651"/>
                    </a:solidFill>
                    <a:ln w="158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55" name="直接连接符 54"/>
                    <p:cNvCxnSpPr/>
                    <p:nvPr/>
                  </p:nvCxnSpPr>
                  <p:spPr>
                    <a:xfrm>
                      <a:off x="7067" y="5671"/>
                      <a:ext cx="3482" cy="11"/>
                    </a:xfrm>
                    <a:prstGeom prst="line">
                      <a:avLst/>
                    </a:prstGeom>
                    <a:solidFill>
                      <a:srgbClr val="00A651"/>
                    </a:solidFill>
                    <a:ln w="158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</p:spPr>
                </p:cxnSp>
                <p:sp>
                  <p:nvSpPr>
                    <p:cNvPr id="57" name="弧形 56"/>
                    <p:cNvSpPr/>
                    <p:nvPr/>
                  </p:nvSpPr>
                  <p:spPr>
                    <a:xfrm>
                      <a:off x="10407" y="5700"/>
                      <a:ext cx="284" cy="492"/>
                    </a:xfrm>
                    <a:prstGeom prst="arc">
                      <a:avLst>
                        <a:gd name="adj1" fmla="val 16200000"/>
                        <a:gd name="adj2" fmla="val 5621483"/>
                      </a:avLst>
                    </a:prstGeom>
                    <a:noFill/>
                    <a:ln w="15875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51435" tIns="25717" rIns="51435" bIns="25717" numCol="1" anchor="t" anchorCtr="0" compatLnSpc="1"/>
                    <a:lstStyle/>
                    <a:p>
                      <a:pPr marL="0" marR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015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8" name="文本框 57"/>
                    <p:cNvSpPr txBox="1"/>
                    <p:nvPr/>
                  </p:nvSpPr>
                  <p:spPr>
                    <a:xfrm>
                      <a:off x="6762" y="4068"/>
                      <a:ext cx="4219" cy="5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000">
                          <a:latin typeface="Cambria" panose="02040503050406030204" charset="0"/>
                          <a:cs typeface="Cambria" panose="02040503050406030204" charset="0"/>
                        </a:rPr>
                        <a:t>Rate-based quato reservation </a:t>
                      </a:r>
                    </a:p>
                  </p:txBody>
                </p:sp>
              </p:grpSp>
              <p:sp>
                <p:nvSpPr>
                  <p:cNvPr id="59" name="文本框 58"/>
                  <p:cNvSpPr txBox="1"/>
                  <p:nvPr/>
                </p:nvSpPr>
                <p:spPr>
                  <a:xfrm>
                    <a:off x="1086" y="4121"/>
                    <a:ext cx="3359" cy="5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b="1"/>
                      <a:t>CC algrithm</a:t>
                    </a:r>
                    <a:endParaRPr lang="zh-CN" altLang="en-US" sz="1050" b="1"/>
                  </a:p>
                </p:txBody>
              </p:sp>
              <p:sp>
                <p:nvSpPr>
                  <p:cNvPr id="60" name="文本框 59"/>
                  <p:cNvSpPr txBox="1"/>
                  <p:nvPr/>
                </p:nvSpPr>
                <p:spPr>
                  <a:xfrm>
                    <a:off x="985" y="5421"/>
                    <a:ext cx="3359" cy="5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b="1"/>
                      <a:t>CC </a:t>
                    </a:r>
                    <a:r>
                      <a:rPr lang="en-US" altLang="zh-CN" sz="1050" b="1">
                        <a:sym typeface="+mn-ea"/>
                      </a:rPr>
                      <a:t>algrithm</a:t>
                    </a:r>
                    <a:endParaRPr lang="zh-CN" altLang="en-US" sz="1050" b="1"/>
                  </a:p>
                </p:txBody>
              </p:sp>
              <p:sp>
                <p:nvSpPr>
                  <p:cNvPr id="38" name="文本框 37"/>
                  <p:cNvSpPr txBox="1"/>
                  <p:nvPr/>
                </p:nvSpPr>
                <p:spPr>
                  <a:xfrm>
                    <a:off x="984" y="6620"/>
                    <a:ext cx="3359" cy="5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50" b="1"/>
                      <a:t>CC </a:t>
                    </a:r>
                    <a:r>
                      <a:rPr lang="en-US" altLang="zh-CN" sz="1050" b="1">
                        <a:sym typeface="+mn-ea"/>
                      </a:rPr>
                      <a:t>algrithm</a:t>
                    </a:r>
                    <a:endParaRPr lang="zh-CN" altLang="en-US" sz="1050" b="1"/>
                  </a:p>
                </p:txBody>
              </p:sp>
              <p:sp>
                <p:nvSpPr>
                  <p:cNvPr id="62" name="矩形 61"/>
                  <p:cNvSpPr/>
                  <p:nvPr/>
                </p:nvSpPr>
                <p:spPr>
                  <a:xfrm>
                    <a:off x="232" y="3279"/>
                    <a:ext cx="3209" cy="4142"/>
                  </a:xfrm>
                  <a:prstGeom prst="rect">
                    <a:avLst/>
                  </a:prstGeom>
                  <a:noFill/>
                  <a:ln w="12700" cmpd="sng">
                    <a:solidFill>
                      <a:schemeClr val="accent1">
                        <a:shade val="5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"/>
                  </a:p>
                </p:txBody>
              </p:sp>
              <p:sp>
                <p:nvSpPr>
                  <p:cNvPr id="39" name="矩形 38"/>
                  <p:cNvSpPr/>
                  <p:nvPr/>
                </p:nvSpPr>
                <p:spPr>
                  <a:xfrm>
                    <a:off x="12391" y="3351"/>
                    <a:ext cx="3209" cy="4131"/>
                  </a:xfrm>
                  <a:prstGeom prst="rect">
                    <a:avLst/>
                  </a:prstGeom>
                  <a:noFill/>
                  <a:ln w="12700" cmpd="sng">
                    <a:solidFill>
                      <a:schemeClr val="accent1">
                        <a:shade val="5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00"/>
                  </a:p>
                </p:txBody>
              </p:sp>
            </p:grpSp>
            <p:sp>
              <p:nvSpPr>
                <p:cNvPr id="66" name="文本框 65"/>
                <p:cNvSpPr txBox="1"/>
                <p:nvPr/>
              </p:nvSpPr>
              <p:spPr>
                <a:xfrm>
                  <a:off x="3266" y="4319"/>
                  <a:ext cx="4219" cy="5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altLang="zh-CN" sz="1000" i="1">
                      <a:latin typeface="Calibri Light" panose="020F0302020204030204" charset="0"/>
                      <a:cs typeface="Calibri Light" panose="020F0302020204030204" charset="0"/>
                      <a:sym typeface="+mn-ea"/>
                    </a:rPr>
                    <a:t>Negotiated Rate</a:t>
                  </a:r>
                </a:p>
              </p:txBody>
            </p:sp>
            <p:sp>
              <p:nvSpPr>
                <p:cNvPr id="69" name="六边形 68"/>
                <p:cNvSpPr/>
                <p:nvPr/>
              </p:nvSpPr>
              <p:spPr>
                <a:xfrm>
                  <a:off x="5020" y="5229"/>
                  <a:ext cx="1125" cy="578"/>
                </a:xfrm>
                <a:prstGeom prst="hexagon">
                  <a:avLst/>
                </a:prstGeom>
                <a:solidFill>
                  <a:srgbClr val="92D050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anchor="ctr" anchorCtr="0" compatLnSpc="1"/>
                <a:lstStyle/>
                <a:p>
                  <a:pPr marL="0" marR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kumimoji="0" lang="en-US" altLang="zh-CN" sz="675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Ingress</a:t>
                  </a:r>
                </a:p>
                <a:p>
                  <a:pPr marL="0" marR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kumimoji="0" lang="en-US" altLang="zh-CN" sz="675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Edge</a:t>
                  </a:r>
                </a:p>
              </p:txBody>
            </p:sp>
            <p:sp>
              <p:nvSpPr>
                <p:cNvPr id="70" name="六边形 69"/>
                <p:cNvSpPr/>
                <p:nvPr/>
              </p:nvSpPr>
              <p:spPr>
                <a:xfrm>
                  <a:off x="10145" y="5292"/>
                  <a:ext cx="1125" cy="578"/>
                </a:xfrm>
                <a:prstGeom prst="hexagon">
                  <a:avLst/>
                </a:prstGeom>
                <a:solidFill>
                  <a:srgbClr val="92D050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anchor="ctr" anchorCtr="0" compatLnSpc="1"/>
                <a:lstStyle/>
                <a:p>
                  <a:pPr marL="0" marR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kumimoji="0" lang="en-US" altLang="zh-CN" sz="675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Egress</a:t>
                  </a:r>
                </a:p>
                <a:p>
                  <a:pPr marL="0" marR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kumimoji="0" lang="en-US" altLang="zh-CN" sz="675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Edge</a:t>
                  </a:r>
                </a:p>
              </p:txBody>
            </p:sp>
            <p:sp>
              <p:nvSpPr>
                <p:cNvPr id="71" name="六边形 70"/>
                <p:cNvSpPr/>
                <p:nvPr/>
              </p:nvSpPr>
              <p:spPr>
                <a:xfrm>
                  <a:off x="7441" y="5293"/>
                  <a:ext cx="1125" cy="578"/>
                </a:xfrm>
                <a:prstGeom prst="hexagon">
                  <a:avLst/>
                </a:prstGeom>
                <a:solidFill>
                  <a:srgbClr val="92D050"/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0" tIns="0" rIns="0" bIns="0" numCol="1" anchor="ctr" anchorCtr="0" compatLnSpc="1"/>
                <a:lstStyle/>
                <a:p>
                  <a:pPr marL="0" marR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</a:pPr>
                  <a:r>
                    <a:rPr kumimoji="0" lang="en-US" altLang="zh-CN" sz="675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Transit Node</a:t>
                  </a:r>
                </a:p>
              </p:txBody>
            </p:sp>
          </p:grpSp>
          <p:sp>
            <p:nvSpPr>
              <p:cNvPr id="40" name="文本框 39"/>
              <p:cNvSpPr txBox="1"/>
              <p:nvPr/>
            </p:nvSpPr>
            <p:spPr>
              <a:xfrm>
                <a:off x="2704" y="6058"/>
                <a:ext cx="2056" cy="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b="1"/>
                  <a:t>Client</a:t>
                </a: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6921" y="6511"/>
                <a:ext cx="4595" cy="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zh-CN" sz="1000">
                    <a:latin typeface="Cambria" panose="02040503050406030204" charset="0"/>
                    <a:cs typeface="Cambria" panose="02040503050406030204" charset="0"/>
                    <a:sym typeface="+mn-ea"/>
                  </a:rPr>
                  <a:t>Traffic scheduling and enforcement</a:t>
                </a:r>
              </a:p>
            </p:txBody>
          </p:sp>
        </p:grpSp>
        <p:sp>
          <p:nvSpPr>
            <p:cNvPr id="44" name="圆角矩形 43"/>
            <p:cNvSpPr/>
            <p:nvPr/>
          </p:nvSpPr>
          <p:spPr>
            <a:xfrm>
              <a:off x="7690" y="6249"/>
              <a:ext cx="2441" cy="552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Controller</a:t>
              </a:r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2234" y="6195"/>
              <a:ext cx="2441" cy="552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Controller</a:t>
              </a:r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12603" y="6249"/>
              <a:ext cx="2441" cy="552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Controller</a:t>
              </a:r>
            </a:p>
          </p:txBody>
        </p:sp>
        <p:cxnSp>
          <p:nvCxnSpPr>
            <p:cNvPr id="56" name="直接箭头连接符 55"/>
            <p:cNvCxnSpPr>
              <a:stCxn id="44" idx="2"/>
            </p:cNvCxnSpPr>
            <p:nvPr/>
          </p:nvCxnSpPr>
          <p:spPr>
            <a:xfrm flipH="1">
              <a:off x="6678" y="6801"/>
              <a:ext cx="2233" cy="1799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/>
            <p:nvPr/>
          </p:nvCxnSpPr>
          <p:spPr>
            <a:xfrm flipH="1">
              <a:off x="8846" y="6868"/>
              <a:ext cx="115" cy="1764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/>
            <p:nvPr/>
          </p:nvCxnSpPr>
          <p:spPr>
            <a:xfrm>
              <a:off x="9134" y="6849"/>
              <a:ext cx="1879" cy="1745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圆角矩形 74"/>
            <p:cNvSpPr/>
            <p:nvPr/>
          </p:nvSpPr>
          <p:spPr>
            <a:xfrm>
              <a:off x="7657" y="4817"/>
              <a:ext cx="2441" cy="552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mbria" panose="02040503050406030204" charset="0"/>
                  <a:cs typeface="Cambria" panose="02040503050406030204" charset="0"/>
                  <a:sym typeface="+mn-ea"/>
                </a:rPr>
                <a:t>Orchestrator </a:t>
              </a:r>
            </a:p>
          </p:txBody>
        </p:sp>
        <p:cxnSp>
          <p:nvCxnSpPr>
            <p:cNvPr id="76" name="直接箭头连接符 75"/>
            <p:cNvCxnSpPr>
              <a:stCxn id="75" idx="2"/>
              <a:endCxn id="47" idx="0"/>
            </p:cNvCxnSpPr>
            <p:nvPr/>
          </p:nvCxnSpPr>
          <p:spPr>
            <a:xfrm flipH="1">
              <a:off x="3455" y="5369"/>
              <a:ext cx="5423" cy="826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>
              <a:endCxn id="51" idx="0"/>
            </p:cNvCxnSpPr>
            <p:nvPr/>
          </p:nvCxnSpPr>
          <p:spPr>
            <a:xfrm>
              <a:off x="8865" y="5391"/>
              <a:ext cx="4959" cy="858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>
              <a:endCxn id="44" idx="0"/>
            </p:cNvCxnSpPr>
            <p:nvPr/>
          </p:nvCxnSpPr>
          <p:spPr>
            <a:xfrm>
              <a:off x="8884" y="5429"/>
              <a:ext cx="27" cy="820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/>
            <p:cNvSpPr txBox="1"/>
            <p:nvPr/>
          </p:nvSpPr>
          <p:spPr>
            <a:xfrm>
              <a:off x="5304" y="5083"/>
              <a:ext cx="2581" cy="33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r>
                <a:rPr lang="zh-CN" altLang="en-US" sz="1000">
                  <a:latin typeface="Cambria" panose="02040503050406030204" charset="0"/>
                  <a:cs typeface="Cambria" panose="02040503050406030204" charset="0"/>
                </a:rPr>
                <a:t>Requests(traffic pattern)</a:t>
              </a:r>
            </a:p>
          </p:txBody>
        </p:sp>
        <p:cxnSp>
          <p:nvCxnSpPr>
            <p:cNvPr id="83" name="直接箭头连接符 82"/>
            <p:cNvCxnSpPr>
              <a:endCxn id="75" idx="1"/>
            </p:cNvCxnSpPr>
            <p:nvPr/>
          </p:nvCxnSpPr>
          <p:spPr>
            <a:xfrm flipV="1">
              <a:off x="6007" y="5093"/>
              <a:ext cx="1650" cy="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/>
            <p:cNvSpPr txBox="1"/>
            <p:nvPr/>
          </p:nvSpPr>
          <p:spPr>
            <a:xfrm>
              <a:off x="3083" y="5589"/>
              <a:ext cx="2924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000">
                  <a:latin typeface="Cambria" panose="02040503050406030204" charset="0"/>
                  <a:cs typeface="Cambria" panose="02040503050406030204" charset="0"/>
                </a:rPr>
                <a:t>Acknowledgement </a:t>
              </a: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8846" y="5646"/>
              <a:ext cx="2924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000">
                  <a:latin typeface="Cambria" panose="02040503050406030204" charset="0"/>
                  <a:cs typeface="Cambria" panose="02040503050406030204" charset="0"/>
                </a:rPr>
                <a:t>Rate Negotiation</a:t>
              </a:r>
              <a:r>
                <a:rPr lang="zh-CN" altLang="en-US" sz="1000">
                  <a:latin typeface="Cambria" panose="02040503050406030204" charset="0"/>
                  <a:cs typeface="Cambria" panose="02040503050406030204" charset="0"/>
                </a:rPr>
                <a:t> </a:t>
              </a: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7021" y="5646"/>
              <a:ext cx="2924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000">
                  <a:latin typeface="Cambria" panose="02040503050406030204" charset="0"/>
                  <a:cs typeface="Cambria" panose="02040503050406030204" charset="0"/>
                </a:rPr>
                <a:t>Admission Control</a:t>
              </a:r>
              <a:r>
                <a:rPr lang="zh-CN" altLang="en-US" sz="1000">
                  <a:latin typeface="Cambria" panose="02040503050406030204" charset="0"/>
                  <a:cs typeface="Cambria" panose="02040503050406030204" charset="0"/>
                </a:rPr>
                <a:t> </a:t>
              </a: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11163" y="5429"/>
              <a:ext cx="2924" cy="3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000">
                  <a:latin typeface="Cambria" panose="02040503050406030204" charset="0"/>
                  <a:cs typeface="Cambria" panose="02040503050406030204" charset="0"/>
                </a:rPr>
                <a:t>Acknowledgement </a:t>
              </a:r>
            </a:p>
          </p:txBody>
        </p:sp>
        <p:cxnSp>
          <p:nvCxnSpPr>
            <p:cNvPr id="91" name="直接箭头连接符 90"/>
            <p:cNvCxnSpPr/>
            <p:nvPr/>
          </p:nvCxnSpPr>
          <p:spPr>
            <a:xfrm>
              <a:off x="5064" y="8916"/>
              <a:ext cx="1132" cy="6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/>
            <p:cNvCxnSpPr/>
            <p:nvPr/>
          </p:nvCxnSpPr>
          <p:spPr>
            <a:xfrm>
              <a:off x="5064" y="9052"/>
              <a:ext cx="1132" cy="6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07415" y="1743075"/>
            <a:ext cx="103771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3200" b="1">
                <a:latin typeface="Cambria" panose="02040503050406030204" charset="0"/>
                <a:cs typeface="Cambria" panose="02040503050406030204" charset="0"/>
              </a:rPr>
              <a:t>Thanks !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3200" b="1">
                <a:latin typeface="Cambria" panose="02040503050406030204" charset="0"/>
                <a:cs typeface="Cambria" panose="02040503050406030204" charset="0"/>
              </a:rPr>
              <a:t>Comments and suggestions are welcome.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"/>
  <p:tag name="KSO_WM_TAG_VERSION" val="1.0"/>
  <p:tag name="KSO_WM_BEAUTIFY_FLAG" val="#wm#"/>
  <p:tag name="KSO_WM_TEMPLATE_THUMBS_INDEX" val="1、3、4、5、7、9、11、12、15、19、21、24、25、"/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"/>
  <p:tag name="KSO_WM_UNIT_TYPE" val="m_h_i"/>
  <p:tag name="KSO_WM_UNIT_INDEX" val="1_4_2"/>
  <p:tag name="KSO_WM_UNIT_ID" val="custom1_5*m_h_i*1_4_2"/>
  <p:tag name="KSO_WM_UNIT_LAYERLEVEL" val="1_1_1"/>
  <p:tag name="KSO_WM_DIAGRAM_GROUP_CODE" val="m1-2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"/>
  <p:tag name="KSO_WM_UNIT_TYPE" val="m_h_i"/>
  <p:tag name="KSO_WM_UNIT_INDEX" val="1_1_2"/>
  <p:tag name="KSO_WM_UNIT_ID" val="custom1_5*m_h_i*1_1_2"/>
  <p:tag name="KSO_WM_UNIT_LAYERLEVEL" val="1_1_1"/>
  <p:tag name="KSO_WM_DIAGRAM_GROUP_CODE" val="m1-2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2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3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4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5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6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custom1_3*i*7"/>
  <p:tag name="KSO_WM_TEMPLATE_CATEGORY" val="custom"/>
  <p:tag name="KSO_WM_TEMPLATE_INDEX" val="1"/>
  <p:tag name="KSO_WM_UNIT_HIGHLIGHT" val="0"/>
  <p:tag name="KSO_WM_UNIT_COMPATIBLE" val="0"/>
  <p:tag name="KSO_WM_UNIT_LAYERLEVEL" val="1"/>
  <p:tag name="KSO_WM_DIAGRAM_GROUP_CODE" val="p1-1"/>
  <p:tag name="KSO_WM_UNIT_TYPE" val="i"/>
  <p:tag name="KSO_WM_UNIT_INDEX" val="7"/>
</p:tagLst>
</file>

<file path=ppt/theme/theme1.xml><?xml version="1.0" encoding="utf-8"?>
<a:theme xmlns:a="http://schemas.openxmlformats.org/drawingml/2006/main" name="1_team report">
  <a:themeElements>
    <a:clrScheme name="自定义 1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659</Words>
  <Application>Microsoft Office PowerPoint</Application>
  <PresentationFormat>宽屏</PresentationFormat>
  <Paragraphs>105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黑体</vt:lpstr>
      <vt:lpstr>微软雅黑</vt:lpstr>
      <vt:lpstr>Arial</vt:lpstr>
      <vt:lpstr>Calibri</vt:lpstr>
      <vt:lpstr>Calibri Light</vt:lpstr>
      <vt:lpstr>Cambria</vt:lpstr>
      <vt:lpstr>1_team report</vt:lpstr>
      <vt:lpstr>PowerPoint 演示文稿</vt:lpstr>
      <vt:lpstr>High Performance Transport Network for satellite communication</vt:lpstr>
      <vt:lpstr>PowerPoint 演示文稿</vt:lpstr>
      <vt:lpstr>Framework for HP-TN</vt:lpstr>
      <vt:lpstr>Host-network Collaboration in Distributed Signaling 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李庆芳</dc:creator>
  <cp:lastModifiedBy>Feng Yang</cp:lastModifiedBy>
  <cp:revision>1335</cp:revision>
  <dcterms:created xsi:type="dcterms:W3CDTF">2024-03-17T11:33:00Z</dcterms:created>
  <dcterms:modified xsi:type="dcterms:W3CDTF">2026-03-15T03:41:27Z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2052-12.8.2.19830</vt:lpwstr>
  </property>
  <property fmtid="{D5CDD505-2E9C-101B-9397-08002B2CF9AE}" pid="3" name="ICV">
    <vt:lpwstr>CC21C10FDF814000BA9DC3629D636F9B</vt:lpwstr>
  </property>
</Properties>
</file>